
<file path=[Content_Types].xml><?xml version="1.0" encoding="utf-8"?>
<Types xmlns="http://schemas.openxmlformats.org/package/2006/content-types">
  <Default Extension="vml" ContentType="application/vnd.openxmlformats-officedocument.vmlDrawing"/>
  <Default Extension="doc" ContentType="application/msword"/>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958" r:id="rId3"/>
    <p:sldId id="959" r:id="rId4"/>
    <p:sldId id="960" r:id="rId5"/>
    <p:sldId id="961" r:id="rId6"/>
    <p:sldId id="962" r:id="rId7"/>
    <p:sldId id="963" r:id="rId8"/>
    <p:sldId id="964" r:id="rId9"/>
    <p:sldId id="965" r:id="rId10"/>
    <p:sldId id="970" r:id="rId11"/>
    <p:sldId id="971" r:id="rId12"/>
    <p:sldId id="972" r:id="rId13"/>
    <p:sldId id="973" r:id="rId14"/>
    <p:sldId id="977" r:id="rId15"/>
    <p:sldId id="978" r:id="rId16"/>
    <p:sldId id="979" r:id="rId17"/>
    <p:sldId id="980" r:id="rId18"/>
    <p:sldId id="982" r:id="rId19"/>
    <p:sldId id="981" r:id="rId21"/>
    <p:sldId id="983" r:id="rId22"/>
    <p:sldId id="985" r:id="rId23"/>
    <p:sldId id="986" r:id="rId24"/>
    <p:sldId id="987" r:id="rId25"/>
    <p:sldId id="988" r:id="rId26"/>
    <p:sldId id="647" r:id="rId27"/>
    <p:sldId id="991" r:id="rId28"/>
    <p:sldId id="992" r:id="rId29"/>
    <p:sldId id="993" r:id="rId30"/>
    <p:sldId id="994" r:id="rId31"/>
    <p:sldId id="995" r:id="rId32"/>
    <p:sldId id="996" r:id="rId33"/>
    <p:sldId id="997" r:id="rId34"/>
    <p:sldId id="998" r:id="rId35"/>
    <p:sldId id="989" r:id="rId36"/>
    <p:sldId id="896" r:id="rId37"/>
    <p:sldId id="1019" r:id="rId38"/>
    <p:sldId id="1020" r:id="rId39"/>
    <p:sldId id="1021" r:id="rId40"/>
    <p:sldId id="916" r:id="rId41"/>
    <p:sldId id="917" r:id="rId42"/>
    <p:sldId id="935" r:id="rId43"/>
    <p:sldId id="950" r:id="rId44"/>
    <p:sldId id="1015" r:id="rId45"/>
    <p:sldId id="1016" r:id="rId46"/>
    <p:sldId id="1017" r:id="rId47"/>
    <p:sldId id="1018" r:id="rId48"/>
    <p:sldId id="951" r:id="rId49"/>
    <p:sldId id="952" r:id="rId50"/>
    <p:sldId id="953" r:id="rId51"/>
    <p:sldId id="954" r:id="rId52"/>
    <p:sldId id="1022" r:id="rId53"/>
    <p:sldId id="1023" r:id="rId54"/>
    <p:sldId id="1024" r:id="rId55"/>
    <p:sldId id="1012" r:id="rId56"/>
    <p:sldId id="1013" r:id="rId57"/>
    <p:sldId id="1014" r:id="rId58"/>
    <p:sldId id="679" r:id="rId59"/>
    <p:sldId id="898" r:id="rId60"/>
    <p:sldId id="1043" r:id="rId61"/>
    <p:sldId id="1044" r:id="rId62"/>
    <p:sldId id="1045" r:id="rId63"/>
    <p:sldId id="1046" r:id="rId64"/>
    <p:sldId id="620" r:id="rId6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yy" initials="y" lastIdx="1" clrIdx="0"/>
  <p:cmAuthor id="3" name="梦在想你" initials="梦" lastIdx="4"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87A0"/>
    <a:srgbClr val="F4D1CF"/>
    <a:srgbClr val="A0B0BF"/>
    <a:srgbClr val="C9D2E1"/>
    <a:srgbClr val="CACEC8"/>
    <a:srgbClr val="E7E9E6"/>
    <a:srgbClr val="E8CDC8"/>
    <a:srgbClr val="F7E9E0"/>
    <a:srgbClr val="FFFFFF"/>
    <a:srgbClr val="EFB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12" autoAdjust="0"/>
    <p:restoredTop sz="93992" autoAdjust="0"/>
  </p:normalViewPr>
  <p:slideViewPr>
    <p:cSldViewPr snapToGrid="0" showGuides="1">
      <p:cViewPr>
        <p:scale>
          <a:sx n="66" d="100"/>
          <a:sy n="66" d="100"/>
        </p:scale>
        <p:origin x="-378" y="-1728"/>
      </p:cViewPr>
      <p:guideLst>
        <p:guide orient="horz" pos="3196"/>
        <p:guide pos="1958"/>
      </p:guideLst>
    </p:cSldViewPr>
  </p:slideViewPr>
  <p:notesTextViewPr>
    <p:cViewPr>
      <p:scale>
        <a:sx n="1" d="1"/>
        <a:sy n="1" d="1"/>
      </p:scale>
      <p:origin x="0" y="0"/>
    </p:cViewPr>
  </p:notesTextViewPr>
  <p:sorterViewPr>
    <p:cViewPr>
      <p:scale>
        <a:sx n="186" d="100"/>
        <a:sy n="18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9" Type="http://schemas.openxmlformats.org/officeDocument/2006/relationships/commentAuthors" Target="commentAuthors.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0DFCB8-7EF4-48C1-8984-7222E239D7E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A3BA41-6BA2-47AC-9C1D-5ECEA0A6E28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43A3BA41-6BA2-47AC-9C1D-5ECEA0A6E28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10" name="椭圆 9"/>
          <p:cNvSpPr/>
          <p:nvPr userDrawn="1"/>
        </p:nvSpPr>
        <p:spPr>
          <a:xfrm>
            <a:off x="8304710" y="-357181"/>
            <a:ext cx="1678580" cy="1678580"/>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a:off x="7912656" y="4169092"/>
            <a:ext cx="1493964" cy="14939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7447494" y="4482353"/>
            <a:ext cx="271986" cy="27198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10" name="椭圆 9"/>
          <p:cNvSpPr/>
          <p:nvPr userDrawn="1"/>
        </p:nvSpPr>
        <p:spPr>
          <a:xfrm>
            <a:off x="8304710" y="-357181"/>
            <a:ext cx="1678580" cy="1678580"/>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a:off x="7912656" y="4169092"/>
            <a:ext cx="1493964" cy="14939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7465500" y="4500359"/>
            <a:ext cx="253980" cy="253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Picture Placeholder 7"/>
          <p:cNvSpPr>
            <a:spLocks noGrp="1"/>
          </p:cNvSpPr>
          <p:nvPr>
            <p:ph type="pic" sz="quarter" idx="14"/>
          </p:nvPr>
        </p:nvSpPr>
        <p:spPr>
          <a:xfrm>
            <a:off x="1009863" y="1344453"/>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9" name="Picture Placeholder 7"/>
          <p:cNvSpPr>
            <a:spLocks noGrp="1"/>
          </p:cNvSpPr>
          <p:nvPr>
            <p:ph type="pic" sz="quarter" idx="15"/>
          </p:nvPr>
        </p:nvSpPr>
        <p:spPr>
          <a:xfrm>
            <a:off x="2831630" y="3106775"/>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6" name="Picture Placeholder 7"/>
          <p:cNvSpPr>
            <a:spLocks noGrp="1"/>
          </p:cNvSpPr>
          <p:nvPr>
            <p:ph type="pic" sz="quarter" idx="16"/>
          </p:nvPr>
        </p:nvSpPr>
        <p:spPr>
          <a:xfrm>
            <a:off x="4656657" y="1344453"/>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7" name="Picture Placeholder 7"/>
          <p:cNvSpPr>
            <a:spLocks noGrp="1"/>
          </p:cNvSpPr>
          <p:nvPr>
            <p:ph type="pic" sz="quarter" idx="17"/>
          </p:nvPr>
        </p:nvSpPr>
        <p:spPr>
          <a:xfrm>
            <a:off x="6475165" y="3106774"/>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 name="矩形 1"/>
          <p:cNvSpPr/>
          <p:nvPr userDrawn="1"/>
        </p:nvSpPr>
        <p:spPr>
          <a:xfrm>
            <a:off x="1009863" y="3107235"/>
            <a:ext cx="1678581" cy="1685051"/>
          </a:xfrm>
          <a:prstGeom prst="rect">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2833260" y="1341448"/>
            <a:ext cx="1678581" cy="16850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4653397" y="3107235"/>
            <a:ext cx="1678581" cy="16850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6480055" y="1337983"/>
            <a:ext cx="1678581" cy="16850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3" name="Footer Placeholder 2"/>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
        <p:nvSpPr>
          <p:cNvPr id="9" name="矩形 8"/>
          <p:cNvSpPr/>
          <p:nvPr userDrawn="1"/>
        </p:nvSpPr>
        <p:spPr>
          <a:xfrm>
            <a:off x="7033456" y="4774682"/>
            <a:ext cx="775136" cy="230832"/>
          </a:xfrm>
          <a:prstGeom prst="rect">
            <a:avLst/>
          </a:prstGeom>
        </p:spPr>
        <p:txBody>
          <a:bodyPr wrap="square">
            <a:spAutoFit/>
          </a:bodyPr>
          <a:lstStyle/>
          <a:p>
            <a:pPr defTabSz="9144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pPr defTabSz="9144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精美</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pPr defTabSz="9144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课件：</a:t>
            </a:r>
            <a:r>
              <a:rPr lang="en-US" altLang="zh-CN" sz="100" dirty="0">
                <a:solidFill>
                  <a:prstClr val="white"/>
                </a:solidFill>
                <a:latin typeface="Calibri" panose="020F0502020204030204"/>
                <a:ea typeface="宋体" panose="02010600030101010101" pitchFamily="2" charset="-122"/>
              </a:rPr>
              <a:t>www.1ppt.com/kejian/             </a:t>
            </a: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工作总结</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www.1ppt.com/xiazai/zongjie/ </a:t>
            </a:r>
            <a:r>
              <a:rPr lang="zh-CN" altLang="en-US" sz="100" dirty="0">
                <a:solidFill>
                  <a:prstClr val="white"/>
                </a:solidFill>
                <a:latin typeface="Calibri" panose="020F0502020204030204"/>
                <a:ea typeface="宋体" panose="02010600030101010101" pitchFamily="2" charset="-122"/>
              </a:rPr>
              <a:t>工作计划：</a:t>
            </a:r>
            <a:r>
              <a:rPr lang="en-US" altLang="zh-CN" sz="100" dirty="0">
                <a:solidFill>
                  <a:prstClr val="white"/>
                </a:solidFill>
                <a:latin typeface="Calibri" panose="020F0502020204030204"/>
                <a:ea typeface="宋体" panose="02010600030101010101" pitchFamily="2" charset="-122"/>
              </a:rPr>
              <a:t>www.1ppt.com/xiazai/jihua/</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商务</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www.1ppt.com/moban/shangwu/  </a:t>
            </a:r>
            <a:r>
              <a:rPr lang="zh-CN" altLang="en-US" sz="100" dirty="0">
                <a:solidFill>
                  <a:prstClr val="white"/>
                </a:solidFill>
                <a:latin typeface="Calibri" panose="020F0502020204030204"/>
                <a:ea typeface="宋体" panose="02010600030101010101" pitchFamily="2" charset="-122"/>
              </a:rPr>
              <a:t>个人简历</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www.1ppt.com/xiazai/jianli/  </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毕业答辩</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www.1ppt.com/xiazai/dabian/  </a:t>
            </a:r>
            <a:r>
              <a:rPr lang="zh-CN" altLang="en-US" sz="100" dirty="0">
                <a:solidFill>
                  <a:prstClr val="white"/>
                </a:solidFill>
                <a:latin typeface="Calibri" panose="020F0502020204030204"/>
                <a:ea typeface="宋体" panose="02010600030101010101" pitchFamily="2" charset="-122"/>
              </a:rPr>
              <a:t>工作汇报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www.1ppt.com/xiazai/huibao/    </a:t>
            </a:r>
            <a:endParaRPr lang="en-US" altLang="zh-CN" sz="100" dirty="0">
              <a:solidFill>
                <a:prstClr val="white"/>
              </a:solidFill>
              <a:latin typeface="Calibri" panose="020F0502020204030204"/>
              <a:ea typeface="宋体" panose="02010600030101010101" pitchFamily="2" charset="-122"/>
            </a:endParaRPr>
          </a:p>
          <a:p>
            <a:pPr defTabSz="914400"/>
            <a:r>
              <a:rPr lang="en-US" altLang="zh-CN" sz="100" dirty="0">
                <a:solidFill>
                  <a:prstClr val="white"/>
                </a:solidFill>
                <a:latin typeface="Calibri" panose="020F0502020204030204"/>
                <a:ea typeface="宋体" panose="02010600030101010101" pitchFamily="2" charset="-122"/>
              </a:rPr>
              <a:t> </a:t>
            </a:r>
            <a:endParaRPr lang="en-US" altLang="zh-CN" sz="100" dirty="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1369219"/>
            <a:ext cx="7886700" cy="3263504"/>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1048618" name="Picture Placeholder 1"/>
          <p:cNvSpPr>
            <a:spLocks noGrp="1"/>
          </p:cNvSpPr>
          <p:nvPr>
            <p:ph type="pic" sz="quarter" idx="13" hasCustomPrompt="1"/>
          </p:nvPr>
        </p:nvSpPr>
        <p:spPr>
          <a:xfrm>
            <a:off x="108000" y="108000"/>
            <a:ext cx="8928900" cy="4545116"/>
          </a:xfrm>
          <a:solidFill>
            <a:schemeClr val="bg1">
              <a:lumMod val="95000"/>
            </a:schemeClr>
          </a:solidFill>
        </p:spPr>
        <p:txBody>
          <a:bodyPr lIns="0" tIns="180000" rIns="0" anchor="t"/>
          <a:lstStyle>
            <a:lvl1pPr marL="0" indent="0" algn="ctr">
              <a:buNone/>
              <a:defRPr sz="900" i="1">
                <a:latin typeface="Times New Roman" panose="02020603050405020304" pitchFamily="18" charset="0"/>
                <a:cs typeface="Times New Roman" panose="02020603050405020304" pitchFamily="18" charset="0"/>
              </a:defRPr>
            </a:lvl1pPr>
          </a:lstStyle>
          <a:p>
            <a:r>
              <a:rPr lang="en-US" noProof="0" dirty="0"/>
              <a:t>Insert or Drag &amp; Drop your photo</a:t>
            </a:r>
            <a:endParaRPr lang="en-US" noProof="0" dirty="0"/>
          </a:p>
        </p:txBody>
      </p:sp>
      <p:sp>
        <p:nvSpPr>
          <p:cNvPr id="1048619" name="Title 1"/>
          <p:cNvSpPr>
            <a:spLocks noGrp="1"/>
          </p:cNvSpPr>
          <p:nvPr>
            <p:ph type="ctrTitle" hasCustomPrompt="1"/>
          </p:nvPr>
        </p:nvSpPr>
        <p:spPr>
          <a:xfrm>
            <a:off x="4457700" y="1828799"/>
            <a:ext cx="4039200" cy="2283299"/>
          </a:xfrm>
          <a:gradFill>
            <a:gsLst>
              <a:gs pos="0">
                <a:schemeClr val="accent1">
                  <a:lumMod val="20000"/>
                  <a:lumOff val="80000"/>
                  <a:alpha val="50000"/>
                </a:schemeClr>
              </a:gs>
              <a:gs pos="46000">
                <a:schemeClr val="bg1">
                  <a:alpha val="90000"/>
                </a:schemeClr>
              </a:gs>
              <a:gs pos="83186">
                <a:schemeClr val="bg1"/>
              </a:gs>
            </a:gsLst>
            <a:lin ang="3600000" scaled="0"/>
          </a:gradFill>
        </p:spPr>
        <p:txBody>
          <a:bodyPr lIns="72000" tIns="180000" rIns="180000" bIns="0" anchor="t"/>
          <a:lstStyle>
            <a:lvl1pPr algn="r">
              <a:lnSpc>
                <a:spcPts val="4700"/>
              </a:lnSpc>
              <a:defRPr sz="3375">
                <a:solidFill>
                  <a:schemeClr val="tx1"/>
                </a:solidFill>
              </a:defRPr>
            </a:lvl1pPr>
          </a:lstStyle>
          <a:p>
            <a:r>
              <a:rPr lang="en-US" noProof="0"/>
              <a:t>Click to edit presentation title</a:t>
            </a:r>
            <a:endParaRPr lang="en-US" noProof="0"/>
          </a:p>
        </p:txBody>
      </p:sp>
      <p:sp>
        <p:nvSpPr>
          <p:cNvPr id="1048620" name="Subtitle 2"/>
          <p:cNvSpPr>
            <a:spLocks noGrp="1"/>
          </p:cNvSpPr>
          <p:nvPr>
            <p:ph type="subTitle" idx="1"/>
          </p:nvPr>
        </p:nvSpPr>
        <p:spPr>
          <a:xfrm>
            <a:off x="6186728" y="3359448"/>
            <a:ext cx="2138722" cy="562151"/>
          </a:xfrm>
          <a:solidFill>
            <a:schemeClr val="bg1">
              <a:alpha val="80000"/>
            </a:schemeClr>
          </a:solidFill>
          <a:ln w="3175">
            <a:gradFill>
              <a:gsLst>
                <a:gs pos="0">
                  <a:schemeClr val="bg1">
                    <a:lumMod val="95000"/>
                  </a:schemeClr>
                </a:gs>
                <a:gs pos="100000">
                  <a:schemeClr val="accent1"/>
                </a:gs>
              </a:gsLst>
              <a:lin ang="10800000" scaled="0"/>
            </a:gradFill>
          </a:ln>
        </p:spPr>
        <p:txBody>
          <a:bodyPr tIns="144000" rIns="180000"/>
          <a:lstStyle>
            <a:lvl1pPr marL="0" indent="0" algn="r">
              <a:buNone/>
              <a:defRPr sz="135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0"/>
              <a:t>单击此处编辑母版副标题样式</a:t>
            </a:r>
            <a:endParaRPr lang="en-US" noProof="0"/>
          </a:p>
        </p:txBody>
      </p:sp>
      <p:sp>
        <p:nvSpPr>
          <p:cNvPr id="1048621" name="Footer Placeholder 4"/>
          <p:cNvSpPr>
            <a:spLocks noGrp="1"/>
          </p:cNvSpPr>
          <p:nvPr>
            <p:ph type="ftr" sz="quarter" idx="12"/>
          </p:nvPr>
        </p:nvSpPr>
        <p:spPr>
          <a:xfrm>
            <a:off x="108000" y="4741799"/>
            <a:ext cx="3086100" cy="273844"/>
          </a:xfrm>
        </p:spPr>
        <p:txBody>
          <a:bodyPr/>
          <a:lstStyle/>
          <a:p>
            <a:r>
              <a:rPr lang="en-US" noProof="0" dirty="0"/>
              <a:t>Add a footer</a:t>
            </a:r>
            <a:endParaRPr lang="en-US" noProof="0" dirty="0"/>
          </a:p>
        </p:txBody>
      </p:sp>
      <p:sp>
        <p:nvSpPr>
          <p:cNvPr id="1048622" name="Slide Number Placeholder 9"/>
          <p:cNvSpPr>
            <a:spLocks noGrp="1"/>
          </p:cNvSpPr>
          <p:nvPr>
            <p:ph type="sldNum" sz="quarter" idx="14"/>
          </p:nvPr>
        </p:nvSpPr>
        <p:spPr>
          <a:xfrm>
            <a:off x="8758069" y="4741799"/>
            <a:ext cx="277931" cy="273844"/>
          </a:xfrm>
        </p:spPr>
        <p:txBody>
          <a:bodyPr/>
          <a:lstStyle/>
          <a:p>
            <a:fld id="{19B51A1E-902D-48AF-9020-955120F399B6}" type="slidenum">
              <a:rPr lang="en-US" noProof="0" smtClean="0"/>
            </a:fld>
            <a:endParaRPr lang="en-US" noProof="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tags" Target="../tags/tag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tags" Target="../tags/tag10.xml"/><Relationship Id="rId1" Type="http://schemas.openxmlformats.org/officeDocument/2006/relationships/tags" Target="../tags/tag9.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13.xml"/><Relationship Id="rId3" Type="http://schemas.openxmlformats.org/officeDocument/2006/relationships/image" Target="../media/image13.png"/><Relationship Id="rId2" Type="http://schemas.openxmlformats.org/officeDocument/2006/relationships/tags" Target="../tags/tag12.xml"/><Relationship Id="rId1" Type="http://schemas.openxmlformats.org/officeDocument/2006/relationships/tags" Target="../tags/tag11.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14.wmf"/><Relationship Id="rId2" Type="http://schemas.openxmlformats.org/officeDocument/2006/relationships/oleObject" Target="../embeddings/Document1.doc"/><Relationship Id="rId1" Type="http://schemas.openxmlformats.org/officeDocument/2006/relationships/tags" Target="../tags/tag14.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tags" Target="../tags/tag17.xml"/><Relationship Id="rId2" Type="http://schemas.openxmlformats.org/officeDocument/2006/relationships/image" Target="../media/image16.png"/><Relationship Id="rId1" Type="http://schemas.openxmlformats.org/officeDocument/2006/relationships/tags" Target="../tags/tag1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2.xml"/><Relationship Id="rId2" Type="http://schemas.openxmlformats.org/officeDocument/2006/relationships/image" Target="../media/image30.png"/><Relationship Id="rId1" Type="http://schemas.openxmlformats.org/officeDocument/2006/relationships/tags" Target="../tags/tag21.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1.xml"/></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2.xml"/></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3.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PA_矩形 7"/>
          <p:cNvSpPr/>
          <p:nvPr>
            <p:custDataLst>
              <p:tags r:id="rId1"/>
            </p:custDataLst>
          </p:nvPr>
        </p:nvSpPr>
        <p:spPr>
          <a:xfrm>
            <a:off x="1449070" y="829945"/>
            <a:ext cx="5961380" cy="1260475"/>
          </a:xfrm>
          <a:prstGeom prst="rect">
            <a:avLst/>
          </a:prstGeom>
        </p:spPr>
        <p:txBody>
          <a:bodyPr wrap="square">
            <a:spAutoFit/>
          </a:bodyPr>
          <a:lstStyle/>
          <a:p>
            <a:pPr lvl="0" algn="l" defTabSz="685800">
              <a:defRPr/>
            </a:pPr>
            <a:r>
              <a:rPr kumimoji="1" lang="en-US" sz="3600" b="1" kern="0">
                <a:solidFill>
                  <a:schemeClr val="accent3"/>
                </a:solidFill>
                <a:cs typeface="+mn-ea"/>
                <a:sym typeface="+mn-lt"/>
              </a:rPr>
              <a:t>SE2020-G19-</a:t>
            </a:r>
            <a:r>
              <a:rPr sz="3600" b="1" kern="0">
                <a:solidFill>
                  <a:srgbClr val="7787A0"/>
                </a:solidFill>
                <a:effectLst/>
                <a:cs typeface="+mn-ea"/>
                <a:sym typeface="+mn-lt"/>
              </a:rPr>
              <a:t>总结评审</a:t>
            </a:r>
            <a:r>
              <a:rPr lang="en-US" altLang="zh-CN" sz="3600">
                <a:solidFill>
                  <a:srgbClr val="7787A0"/>
                </a:solidFill>
                <a:effectLst/>
                <a:cs typeface="+mn-ea"/>
                <a:sym typeface="+mn-lt"/>
              </a:rPr>
              <a:t>  </a:t>
            </a:r>
            <a:r>
              <a:rPr lang="en-US" altLang="zh-CN" sz="2000">
                <a:solidFill>
                  <a:schemeClr val="tx1">
                    <a:lumMod val="50000"/>
                    <a:lumOff val="50000"/>
                  </a:schemeClr>
                </a:solidFill>
                <a:cs typeface="+mn-ea"/>
                <a:sym typeface="+mn-lt"/>
              </a:rPr>
              <a:t> </a:t>
            </a:r>
            <a:endParaRPr lang="en-US" altLang="zh-CN" sz="2000">
              <a:solidFill>
                <a:schemeClr val="tx1">
                  <a:lumMod val="50000"/>
                  <a:lumOff val="50000"/>
                </a:schemeClr>
              </a:solidFill>
              <a:cs typeface="+mn-ea"/>
              <a:sym typeface="+mn-lt"/>
            </a:endParaRPr>
          </a:p>
          <a:p>
            <a:pPr lvl="0" algn="l" defTabSz="685800">
              <a:defRPr/>
            </a:pPr>
            <a:r>
              <a:rPr lang="en-US" altLang="zh-CN" sz="2000">
                <a:solidFill>
                  <a:schemeClr val="tx1">
                    <a:lumMod val="50000"/>
                    <a:lumOff val="50000"/>
                  </a:schemeClr>
                </a:solidFill>
                <a:cs typeface="+mn-ea"/>
                <a:sym typeface="+mn-lt"/>
              </a:rPr>
              <a:t>                    </a:t>
            </a:r>
            <a:endParaRPr lang="en-US" altLang="zh-CN" sz="2000">
              <a:solidFill>
                <a:schemeClr val="tx1">
                  <a:lumMod val="50000"/>
                  <a:lumOff val="50000"/>
                </a:schemeClr>
              </a:solidFill>
              <a:cs typeface="+mn-ea"/>
              <a:sym typeface="+mn-lt"/>
            </a:endParaRPr>
          </a:p>
          <a:p>
            <a:pPr lvl="0" algn="l" defTabSz="685800">
              <a:defRPr/>
            </a:pPr>
            <a:endParaRPr lang="zh-CN" altLang="en-US" sz="2000" kern="0" dirty="0">
              <a:solidFill>
                <a:schemeClr val="accent3"/>
              </a:solidFill>
              <a:latin typeface="方正细谭黑简体" panose="02000000000000000000" pitchFamily="2" charset="-122"/>
              <a:ea typeface="方正细谭黑简体" panose="02000000000000000000" pitchFamily="2" charset="-122"/>
              <a:cs typeface="+mn-ea"/>
              <a:sym typeface="+mn-lt"/>
            </a:endParaRPr>
          </a:p>
        </p:txBody>
      </p:sp>
      <p:sp>
        <p:nvSpPr>
          <p:cNvPr id="33" name="矩形: 圆角 32"/>
          <p:cNvSpPr/>
          <p:nvPr/>
        </p:nvSpPr>
        <p:spPr>
          <a:xfrm>
            <a:off x="2624455" y="3194685"/>
            <a:ext cx="2385060" cy="113665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ym typeface="+mn-ea"/>
              </a:rPr>
              <a:t>SSE2020</a:t>
            </a:r>
            <a:r>
              <a:rPr lang="zh-CN" altLang="en-US" sz="1400" b="1" dirty="0" smtClean="0">
                <a:sym typeface="+mn-ea"/>
              </a:rPr>
              <a:t>秋</a:t>
            </a:r>
            <a:r>
              <a:rPr lang="en-US" altLang="zh-CN" sz="1400" b="1" dirty="0" smtClean="0">
                <a:sym typeface="+mn-ea"/>
              </a:rPr>
              <a:t>-G19</a:t>
            </a:r>
            <a:r>
              <a:rPr lang="zh-CN" altLang="en-US" sz="1400" b="1" dirty="0" smtClean="0">
                <a:sym typeface="+mn-ea"/>
              </a:rPr>
              <a:t>组</a:t>
            </a:r>
            <a:endParaRPr lang="zh-CN" altLang="en-US" sz="1400" b="1" dirty="0" smtClean="0">
              <a:sym typeface="+mn-ea"/>
            </a:endParaRPr>
          </a:p>
          <a:p>
            <a:pPr algn="ctr">
              <a:defRPr>
                <a:solidFill>
                  <a:srgbClr val="3F403E"/>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defRPr>
            </a:pPr>
            <a:r>
              <a:rPr lang="zh-CN" altLang="en-US" sz="1400" b="1" dirty="0" smtClean="0">
                <a:sym typeface="+mn-ea"/>
              </a:rPr>
              <a:t>组长：牛旷野</a:t>
            </a:r>
            <a:endParaRPr lang="en-US" altLang="zh-CN" sz="1400" b="1" dirty="0" smtClean="0"/>
          </a:p>
          <a:p>
            <a:pPr algn="ctr">
              <a:defRPr>
                <a:solidFill>
                  <a:srgbClr val="3F403E"/>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defRPr>
            </a:pPr>
            <a:r>
              <a:rPr lang="zh-CN" altLang="en-US" sz="1400" b="1" dirty="0" smtClean="0">
                <a:sym typeface="+mn-ea"/>
              </a:rPr>
              <a:t>组员：卢世逸、孟闻凯</a:t>
            </a:r>
            <a:endParaRPr lang="zh-CN" altLang="en-US" sz="1400" dirty="0">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dirty="0">
                <a:solidFill>
                  <a:prstClr val="black">
                    <a:lumMod val="65000"/>
                    <a:lumOff val="35000"/>
                  </a:prstClr>
                </a:solidFill>
                <a:cs typeface="+mn-ea"/>
                <a:sym typeface="+mn-lt"/>
              </a:rPr>
              <a:t>SUMMARY REPORT </a:t>
            </a:r>
            <a:endParaRPr lang="zh-CN" altLang="en-US" dirty="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5384087" y="1459209"/>
            <a:ext cx="1929877" cy="192987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933284" y="473990"/>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2175032" y="1433309"/>
            <a:ext cx="1198880" cy="2306955"/>
          </a:xfrm>
          <a:prstGeom prst="rect">
            <a:avLst/>
          </a:prstGeom>
          <a:noFill/>
        </p:spPr>
        <p:txBody>
          <a:bodyPr wrap="none" rtlCol="0">
            <a:spAutoFit/>
          </a:bodyPr>
          <a:lstStyle/>
          <a:p>
            <a:pPr lvl="0" algn="l" defTabSz="609600">
              <a:lnSpc>
                <a:spcPct val="120000"/>
              </a:lnSpc>
              <a:defRPr/>
            </a:pPr>
            <a:r>
              <a:rPr kumimoji="1" lang="zh-CN" sz="2000" b="1" kern="0" dirty="0">
                <a:solidFill>
                  <a:schemeClr val="accent3"/>
                </a:solidFill>
                <a:cs typeface="+mn-ea"/>
                <a:sym typeface="+mn-lt"/>
              </a:rPr>
              <a:t>需求</a:t>
            </a:r>
            <a:endParaRPr kumimoji="1" lang="zh-CN" sz="2000" b="1" kern="0" dirty="0">
              <a:solidFill>
                <a:schemeClr val="accent3"/>
              </a:solidFill>
              <a:cs typeface="+mn-ea"/>
              <a:sym typeface="+mn-lt"/>
            </a:endParaRPr>
          </a:p>
          <a:p>
            <a:pPr lvl="0" algn="l" defTabSz="609600">
              <a:lnSpc>
                <a:spcPct val="120000"/>
              </a:lnSpc>
              <a:defRPr/>
            </a:pPr>
            <a:r>
              <a:rPr kumimoji="1" lang="zh-CN" sz="2000" b="1" kern="0" dirty="0">
                <a:solidFill>
                  <a:schemeClr val="accent3"/>
                </a:solidFill>
                <a:cs typeface="+mn-ea"/>
                <a:sym typeface="+mn-lt"/>
              </a:rPr>
              <a:t>规格说明</a:t>
            </a:r>
            <a:endParaRPr kumimoji="1" lang="zh-CN" sz="2000" b="1" kern="0" dirty="0">
              <a:solidFill>
                <a:schemeClr val="accent3"/>
              </a:solidFill>
              <a:cs typeface="+mn-ea"/>
              <a:sym typeface="+mn-lt"/>
            </a:endParaRPr>
          </a:p>
          <a:p>
            <a:pPr lvl="0" algn="l" defTabSz="609600">
              <a:lnSpc>
                <a:spcPct val="120000"/>
              </a:lnSpc>
              <a:defRPr/>
            </a:pPr>
            <a:r>
              <a:rPr kumimoji="1" lang="zh-CN" sz="2000" b="1" kern="0" dirty="0">
                <a:solidFill>
                  <a:schemeClr val="accent3"/>
                </a:solidFill>
                <a:cs typeface="+mn-ea"/>
                <a:sym typeface="+mn-lt"/>
              </a:rPr>
              <a:t>设计</a:t>
            </a:r>
            <a:endParaRPr kumimoji="1" lang="zh-CN" sz="2000" b="1" kern="0" dirty="0">
              <a:solidFill>
                <a:schemeClr val="accent3"/>
              </a:solidFill>
              <a:cs typeface="+mn-ea"/>
              <a:sym typeface="+mn-lt"/>
            </a:endParaRPr>
          </a:p>
          <a:p>
            <a:pPr lvl="0" algn="l" defTabSz="609600">
              <a:lnSpc>
                <a:spcPct val="120000"/>
              </a:lnSpc>
              <a:defRPr/>
            </a:pPr>
            <a:r>
              <a:rPr kumimoji="1" lang="zh-CN" sz="2000" b="1" kern="0" dirty="0">
                <a:solidFill>
                  <a:schemeClr val="accent3"/>
                </a:solidFill>
                <a:cs typeface="+mn-ea"/>
                <a:sym typeface="+mn-lt"/>
              </a:rPr>
              <a:t>编码</a:t>
            </a:r>
            <a:endParaRPr kumimoji="1" lang="zh-CN" sz="2000" b="1" kern="0" dirty="0">
              <a:solidFill>
                <a:schemeClr val="accent3"/>
              </a:solidFill>
              <a:cs typeface="+mn-ea"/>
              <a:sym typeface="+mn-lt"/>
            </a:endParaRPr>
          </a:p>
          <a:p>
            <a:pPr lvl="0" algn="l" defTabSz="609600">
              <a:lnSpc>
                <a:spcPct val="120000"/>
              </a:lnSpc>
              <a:defRPr/>
            </a:pPr>
            <a:r>
              <a:rPr kumimoji="1" lang="zh-CN" sz="2000" b="1" kern="0" dirty="0">
                <a:solidFill>
                  <a:schemeClr val="accent3"/>
                </a:solidFill>
                <a:cs typeface="+mn-ea"/>
                <a:sym typeface="+mn-lt"/>
              </a:rPr>
              <a:t>综合测试</a:t>
            </a:r>
            <a:endParaRPr kumimoji="1" lang="zh-CN" sz="2000" b="1" kern="0" dirty="0">
              <a:solidFill>
                <a:schemeClr val="accent3"/>
              </a:solidFill>
              <a:cs typeface="+mn-ea"/>
              <a:sym typeface="+mn-lt"/>
            </a:endParaRPr>
          </a:p>
          <a:p>
            <a:pPr lvl="0" algn="l" defTabSz="609600">
              <a:lnSpc>
                <a:spcPct val="120000"/>
              </a:lnSpc>
              <a:defRPr/>
            </a:pPr>
            <a:r>
              <a:rPr kumimoji="1" lang="zh-CN" sz="2000" b="1" kern="0" dirty="0">
                <a:solidFill>
                  <a:schemeClr val="accent3"/>
                </a:solidFill>
                <a:cs typeface="+mn-ea"/>
                <a:sym typeface="+mn-lt"/>
              </a:rPr>
              <a:t>配置管理</a:t>
            </a:r>
            <a:endParaRPr kumimoji="1" lang="zh-CN" sz="2000" b="1" kern="0" dirty="0">
              <a:solidFill>
                <a:schemeClr val="accent3"/>
              </a:solidFill>
              <a:cs typeface="+mn-ea"/>
              <a:sym typeface="+mn-lt"/>
            </a:endParaRPr>
          </a:p>
        </p:txBody>
      </p:sp>
      <p:sp>
        <p:nvSpPr>
          <p:cNvPr id="55" name="文本框 54"/>
          <p:cNvSpPr txBox="1"/>
          <p:nvPr/>
        </p:nvSpPr>
        <p:spPr>
          <a:xfrm>
            <a:off x="5671327" y="1776232"/>
            <a:ext cx="1313180" cy="769441"/>
          </a:xfrm>
          <a:prstGeom prst="rect">
            <a:avLst/>
          </a:prstGeom>
        </p:spPr>
        <p:txBody>
          <a:bodyPr wrap="none">
            <a:spAutoFit/>
          </a:bodyPr>
          <a:lstStyle>
            <a:defPPr>
              <a:defRPr lang="en-US"/>
            </a:defPPr>
            <a:lvl1pPr lvl="0" defTabSz="685800">
              <a:defRPr sz="4400" b="1" kern="0">
                <a:solidFill>
                  <a:schemeClr val="accent3"/>
                </a:solidFill>
                <a:latin typeface="微软雅黑" panose="020B0503020204020204" charset="-122"/>
                <a:ea typeface="微软雅黑" panose="020B0503020204020204" charset="-122"/>
              </a:defRPr>
            </a:lvl1pPr>
          </a:lstStyle>
          <a:p>
            <a:r>
              <a:rPr lang="zh-CN" altLang="en-US">
                <a:solidFill>
                  <a:schemeClr val="bg1"/>
                </a:solidFill>
                <a:latin typeface="+mn-lt"/>
                <a:ea typeface="+mn-ea"/>
                <a:cs typeface="+mn-ea"/>
                <a:sym typeface="+mn-lt"/>
              </a:rPr>
              <a:t>目录</a:t>
            </a:r>
            <a:endParaRPr lang="zh-CN" altLang="en-US">
              <a:solidFill>
                <a:schemeClr val="bg1"/>
              </a:solidFill>
              <a:latin typeface="+mn-lt"/>
              <a:ea typeface="+mn-ea"/>
              <a:cs typeface="+mn-ea"/>
              <a:sym typeface="+mn-lt"/>
            </a:endParaRPr>
          </a:p>
        </p:txBody>
      </p:sp>
      <p:sp>
        <p:nvSpPr>
          <p:cNvPr id="56" name="文本框 55"/>
          <p:cNvSpPr txBox="1"/>
          <p:nvPr/>
        </p:nvSpPr>
        <p:spPr>
          <a:xfrm>
            <a:off x="5515836" y="2495913"/>
            <a:ext cx="1624163" cy="400110"/>
          </a:xfrm>
          <a:prstGeom prst="rect">
            <a:avLst/>
          </a:prstGeom>
          <a:noFill/>
        </p:spPr>
        <p:txBody>
          <a:bodyPr wrap="none" rtlCol="0">
            <a:spAutoFit/>
          </a:bodyPr>
          <a:lstStyle/>
          <a:p>
            <a:pPr lvl="0" algn="ctr" defTabSz="609600">
              <a:defRPr/>
            </a:pPr>
            <a:r>
              <a:rPr kumimoji="1" lang="en-US" altLang="zh-CN" sz="2000" b="1" kern="0">
                <a:solidFill>
                  <a:schemeClr val="bg1"/>
                </a:solidFill>
                <a:cs typeface="+mn-ea"/>
                <a:sym typeface="+mn-lt"/>
              </a:rPr>
              <a:t>CONTENTS</a:t>
            </a:r>
            <a:endParaRPr kumimoji="1" lang="zh-CN" altLang="en-US" sz="2000" b="1" kern="0">
              <a:solidFill>
                <a:schemeClr val="bg1"/>
              </a:solidFill>
              <a:cs typeface="+mn-ea"/>
              <a:sym typeface="+mn-lt"/>
            </a:endParaRPr>
          </a:p>
        </p:txBody>
      </p:sp>
      <p:cxnSp>
        <p:nvCxnSpPr>
          <p:cNvPr id="4" name="直接连接符 3"/>
          <p:cNvCxnSpPr/>
          <p:nvPr/>
        </p:nvCxnSpPr>
        <p:spPr>
          <a:xfrm>
            <a:off x="6169209" y="2990398"/>
            <a:ext cx="31741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201379" y="2056464"/>
            <a:ext cx="13004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需求</a:t>
            </a:r>
            <a:endParaRPr lang="zh-CN" altLang="en-US" sz="4400" b="1" kern="0">
              <a:solidFill>
                <a:schemeClr val="accent3"/>
              </a:solidFill>
              <a:cs typeface="+mn-ea"/>
              <a:sym typeface="+mn-lt"/>
            </a:endParaRPr>
          </a:p>
        </p:txBody>
      </p:sp>
      <p:sp>
        <p:nvSpPr>
          <p:cNvPr id="2"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一</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项目计划及任务分配：</a:t>
            </a:r>
            <a:endParaRPr lang="zh-CN" altLang="en-US"/>
          </a:p>
          <a:p>
            <a:r>
              <a:rPr lang="en-US" altLang="zh-CN" sz="1400"/>
              <a:t>	</a:t>
            </a:r>
            <a:endParaRPr lang="en-US" altLang="zh-CN" sz="1600"/>
          </a:p>
        </p:txBody>
      </p:sp>
      <p:pic>
        <p:nvPicPr>
          <p:cNvPr id="2" name="图片 1"/>
          <p:cNvPicPr>
            <a:picLocks noChangeAspect="1"/>
          </p:cNvPicPr>
          <p:nvPr>
            <p:custDataLst>
              <p:tags r:id="rId1"/>
            </p:custDataLst>
          </p:nvPr>
        </p:nvPicPr>
        <p:blipFill>
          <a:blip r:embed="rId2"/>
          <a:stretch>
            <a:fillRect/>
          </a:stretch>
        </p:blipFill>
        <p:spPr>
          <a:xfrm>
            <a:off x="2966720" y="330200"/>
            <a:ext cx="4281170" cy="44653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项目计划</a:t>
            </a:r>
            <a:r>
              <a:rPr lang="en-US" altLang="zh-CN"/>
              <a:t>WBS</a:t>
            </a:r>
            <a:r>
              <a:rPr lang="zh-CN" altLang="zh-CN"/>
              <a:t>图</a:t>
            </a:r>
            <a:r>
              <a:rPr lang="zh-CN" altLang="en-US"/>
              <a:t>：</a:t>
            </a:r>
            <a:endParaRPr lang="zh-CN" altLang="en-US"/>
          </a:p>
          <a:p>
            <a:r>
              <a:rPr lang="en-US" altLang="zh-CN" sz="1400"/>
              <a:t>	</a:t>
            </a:r>
            <a:endParaRPr lang="en-US" altLang="zh-CN" sz="1600"/>
          </a:p>
        </p:txBody>
      </p:sp>
      <p:pic>
        <p:nvPicPr>
          <p:cNvPr id="3" name="内容占位符 1"/>
          <p:cNvPicPr>
            <a:picLocks noChangeAspect="1"/>
          </p:cNvPicPr>
          <p:nvPr/>
        </p:nvPicPr>
        <p:blipFill>
          <a:blip r:embed="rId1"/>
          <a:stretch>
            <a:fillRect/>
          </a:stretch>
        </p:blipFill>
        <p:spPr>
          <a:xfrm>
            <a:off x="542290" y="1225550"/>
            <a:ext cx="8512175" cy="28790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t>技术可行性</a:t>
            </a:r>
            <a:r>
              <a:rPr lang="zh-CN" altLang="en-US"/>
              <a:t>：</a:t>
            </a:r>
            <a:endParaRPr lang="zh-CN" altLang="en-US"/>
          </a:p>
          <a:p>
            <a:r>
              <a:rPr lang="en-US" altLang="zh-CN" sz="1400"/>
              <a:t>	</a:t>
            </a:r>
            <a:endParaRPr lang="en-US" altLang="zh-CN" sz="1600"/>
          </a:p>
        </p:txBody>
      </p:sp>
      <p:sp>
        <p:nvSpPr>
          <p:cNvPr id="100" name="文本框 99"/>
          <p:cNvSpPr txBox="1"/>
          <p:nvPr/>
        </p:nvSpPr>
        <p:spPr>
          <a:xfrm>
            <a:off x="1080770" y="875665"/>
            <a:ext cx="3101975" cy="4030980"/>
          </a:xfrm>
          <a:prstGeom prst="rect">
            <a:avLst/>
          </a:prstGeom>
          <a:noFill/>
          <a:ln w="9525">
            <a:noFill/>
          </a:ln>
        </p:spPr>
        <p:txBody>
          <a:bodyPr wrap="square">
            <a:spAutoFit/>
          </a:bodyPr>
          <a:p>
            <a:pPr indent="266700" algn="l"/>
            <a:r>
              <a:rPr lang="en-US" sz="1400" b="0">
                <a:latin typeface="微软雅黑" panose="020B0503020204020204" charset="-122"/>
                <a:ea typeface="微软雅黑" panose="020B0503020204020204" charset="-122"/>
                <a:cs typeface="微软雅黑" panose="020B0503020204020204" charset="-122"/>
              </a:rPr>
              <a:t>1. </a:t>
            </a:r>
            <a:r>
              <a:rPr lang="zh-CN" sz="1400" b="0">
                <a:latin typeface="微软雅黑" panose="020B0503020204020204" charset="-122"/>
                <a:ea typeface="微软雅黑" panose="020B0503020204020204" charset="-122"/>
                <a:cs typeface="微软雅黑" panose="020B0503020204020204" charset="-122"/>
              </a:rPr>
              <a:t>开发者的技术实力</a:t>
            </a:r>
            <a:r>
              <a:rPr lang="en-US" sz="1400" b="0">
                <a:latin typeface="微软雅黑" panose="020B0503020204020204" charset="-122"/>
                <a:ea typeface="微软雅黑" panose="020B0503020204020204" charset="-122"/>
                <a:cs typeface="微软雅黑" panose="020B0503020204020204" charset="-122"/>
              </a:rPr>
              <a:t>(1) </a:t>
            </a:r>
            <a:r>
              <a:rPr lang="zh-CN" sz="1400" b="0">
                <a:latin typeface="微软雅黑" panose="020B0503020204020204" charset="-122"/>
                <a:ea typeface="微软雅黑" panose="020B0503020204020204" charset="-122"/>
                <a:cs typeface="微软雅黑" panose="020B0503020204020204" charset="-122"/>
              </a:rPr>
              <a:t>可能会出现组员技术无法实现目标功能而无法在预期内完成任务的情况。</a:t>
            </a:r>
            <a:r>
              <a:rPr lang="en-US" sz="1400" b="0">
                <a:latin typeface="微软雅黑" panose="020B0503020204020204" charset="-122"/>
                <a:ea typeface="微软雅黑" panose="020B0503020204020204" charset="-122"/>
                <a:cs typeface="微软雅黑" panose="020B0503020204020204" charset="-122"/>
              </a:rPr>
              <a:t>(2) </a:t>
            </a:r>
            <a:r>
              <a:rPr lang="zh-CN" sz="1400" b="0">
                <a:latin typeface="微软雅黑" panose="020B0503020204020204" charset="-122"/>
                <a:ea typeface="微软雅黑" panose="020B0503020204020204" charset="-122"/>
                <a:cs typeface="微软雅黑" panose="020B0503020204020204" charset="-122"/>
              </a:rPr>
              <a:t>组员都是第一次开发项目，没有项目经验</a:t>
            </a:r>
            <a:r>
              <a:rPr lang="en-US" sz="1400" b="0">
                <a:latin typeface="微软雅黑" panose="020B0503020204020204" charset="-122"/>
                <a:ea typeface="微软雅黑" panose="020B0503020204020204" charset="-122"/>
                <a:cs typeface="微软雅黑" panose="020B0503020204020204" charset="-122"/>
              </a:rPr>
              <a:t>2. </a:t>
            </a:r>
            <a:r>
              <a:rPr lang="zh-CN" sz="1400" b="0">
                <a:latin typeface="微软雅黑" panose="020B0503020204020204" charset="-122"/>
                <a:ea typeface="微软雅黑" panose="020B0503020204020204" charset="-122"/>
                <a:cs typeface="微软雅黑" panose="020B0503020204020204" charset="-122"/>
              </a:rPr>
              <a:t>问题的复杂性需实现的功能涉及到多方面的技术，目前这些技术大多数还未学习或只了解大概。</a:t>
            </a:r>
            <a:r>
              <a:rPr lang="en-US" sz="1400" b="0">
                <a:latin typeface="微软雅黑" panose="020B0503020204020204" charset="-122"/>
                <a:ea typeface="微软雅黑" panose="020B0503020204020204" charset="-122"/>
                <a:cs typeface="微软雅黑" panose="020B0503020204020204" charset="-122"/>
              </a:rPr>
              <a:t>3. </a:t>
            </a:r>
            <a:r>
              <a:rPr lang="zh-CN" sz="1400" b="0">
                <a:latin typeface="微软雅黑" panose="020B0503020204020204" charset="-122"/>
                <a:ea typeface="微软雅黑" panose="020B0503020204020204" charset="-122"/>
                <a:cs typeface="微软雅黑" panose="020B0503020204020204" charset="-122"/>
              </a:rPr>
              <a:t>系统开发在时间的条件下成功的可能性</a:t>
            </a:r>
            <a:r>
              <a:rPr lang="en-US" sz="1400" b="0">
                <a:latin typeface="微软雅黑" panose="020B0503020204020204" charset="-122"/>
                <a:ea typeface="微软雅黑" panose="020B0503020204020204" charset="-122"/>
                <a:cs typeface="微软雅黑" panose="020B0503020204020204" charset="-122"/>
              </a:rPr>
              <a:t> </a:t>
            </a:r>
            <a:r>
              <a:rPr lang="zh-CN" sz="1400" b="0">
                <a:latin typeface="微软雅黑" panose="020B0503020204020204" charset="-122"/>
                <a:ea typeface="微软雅黑" panose="020B0503020204020204" charset="-122"/>
                <a:cs typeface="微软雅黑" panose="020B0503020204020204" charset="-122"/>
              </a:rPr>
              <a:t>有三个月的开发时间，可能性较高</a:t>
            </a:r>
            <a:r>
              <a:rPr lang="en-US" sz="1400" b="0">
                <a:latin typeface="微软雅黑" panose="020B0503020204020204" charset="-122"/>
                <a:ea typeface="微软雅黑" panose="020B0503020204020204" charset="-122"/>
                <a:cs typeface="微软雅黑" panose="020B0503020204020204" charset="-122"/>
              </a:rPr>
              <a:t>4. </a:t>
            </a:r>
            <a:r>
              <a:rPr lang="zh-CN" sz="1400" b="0">
                <a:latin typeface="微软雅黑" panose="020B0503020204020204" charset="-122"/>
                <a:ea typeface="微软雅黑" panose="020B0503020204020204" charset="-122"/>
                <a:cs typeface="微软雅黑" panose="020B0503020204020204" charset="-122"/>
              </a:rPr>
              <a:t>系统开发在费用的条件下成功的可能性本项目的费用花费不高，可能性较高</a:t>
            </a:r>
            <a:endParaRPr lang="en-US" sz="1050" b="0">
              <a:latin typeface="Times New Roman" panose="02020603050405020304" pitchFamily="18" charset="0"/>
            </a:endParaRPr>
          </a:p>
          <a:p>
            <a:endParaRPr lang="zh-CN" altLang="en-US"/>
          </a:p>
        </p:txBody>
      </p:sp>
      <p:sp>
        <p:nvSpPr>
          <p:cNvPr id="2" name="文本框 1"/>
          <p:cNvSpPr txBox="1"/>
          <p:nvPr/>
        </p:nvSpPr>
        <p:spPr>
          <a:xfrm>
            <a:off x="4395470" y="372110"/>
            <a:ext cx="4139565" cy="3753485"/>
          </a:xfrm>
          <a:prstGeom prst="rect">
            <a:avLst/>
          </a:prstGeom>
          <a:noFill/>
        </p:spPr>
        <p:txBody>
          <a:bodyPr wrap="square" rtlCol="0" anchor="t">
            <a:spAutoFit/>
          </a:bodyPr>
          <a:p>
            <a:pPr indent="266700"/>
            <a:r>
              <a:rPr lang="en-US" sz="1400">
                <a:latin typeface="微软雅黑" panose="020B0503020204020204" charset="-122"/>
                <a:ea typeface="微软雅黑" panose="020B0503020204020204" charset="-122"/>
                <a:cs typeface="微软雅黑" panose="020B0503020204020204" charset="-122"/>
                <a:sym typeface="+mn-ea"/>
              </a:rPr>
              <a:t>5. </a:t>
            </a:r>
            <a:r>
              <a:rPr lang="zh-CN" sz="1400">
                <a:latin typeface="微软雅黑" panose="020B0503020204020204" charset="-122"/>
                <a:ea typeface="微软雅黑" panose="020B0503020204020204" charset="-122"/>
                <a:cs typeface="微软雅黑" panose="020B0503020204020204" charset="-122"/>
                <a:sym typeface="+mn-ea"/>
              </a:rPr>
              <a:t>关键技术（</a:t>
            </a:r>
            <a:r>
              <a:rPr lang="en-US" sz="1400">
                <a:latin typeface="微软雅黑" panose="020B0503020204020204" charset="-122"/>
                <a:ea typeface="微软雅黑" panose="020B0503020204020204" charset="-122"/>
                <a:cs typeface="微软雅黑" panose="020B0503020204020204" charset="-122"/>
                <a:sym typeface="+mn-ea"/>
              </a:rPr>
              <a:t>1</a:t>
            </a:r>
            <a:r>
              <a:rPr lang="zh-CN" sz="1400">
                <a:latin typeface="微软雅黑" panose="020B0503020204020204" charset="-122"/>
                <a:ea typeface="微软雅黑" panose="020B0503020204020204" charset="-122"/>
                <a:cs typeface="微软雅黑" panose="020B0503020204020204" charset="-122"/>
                <a:sym typeface="+mn-ea"/>
              </a:rPr>
              <a:t>）页面：通过</a:t>
            </a:r>
            <a:r>
              <a:rPr lang="en-US" sz="1400">
                <a:latin typeface="微软雅黑" panose="020B0503020204020204" charset="-122"/>
                <a:ea typeface="微软雅黑" panose="020B0503020204020204" charset="-122"/>
                <a:cs typeface="微软雅黑" panose="020B0503020204020204" charset="-122"/>
                <a:sym typeface="+mn-ea"/>
              </a:rPr>
              <a:t>html+css</a:t>
            </a:r>
            <a:r>
              <a:rPr lang="zh-CN" sz="1400">
                <a:latin typeface="微软雅黑" panose="020B0503020204020204" charset="-122"/>
                <a:ea typeface="微软雅黑" panose="020B0503020204020204" charset="-122"/>
                <a:cs typeface="微软雅黑" panose="020B0503020204020204" charset="-122"/>
                <a:sym typeface="+mn-ea"/>
              </a:rPr>
              <a:t>可以实现各种我们想要的页面，用</a:t>
            </a:r>
            <a:r>
              <a:rPr lang="en-US" sz="1400">
                <a:latin typeface="微软雅黑" panose="020B0503020204020204" charset="-122"/>
                <a:ea typeface="微软雅黑" panose="020B0503020204020204" charset="-122"/>
                <a:cs typeface="微软雅黑" panose="020B0503020204020204" charset="-122"/>
                <a:sym typeface="+mn-ea"/>
              </a:rPr>
              <a:t>js</a:t>
            </a:r>
            <a:r>
              <a:rPr lang="zh-CN" sz="1400">
                <a:latin typeface="微软雅黑" panose="020B0503020204020204" charset="-122"/>
                <a:ea typeface="微软雅黑" panose="020B0503020204020204" charset="-122"/>
                <a:cs typeface="微软雅黑" panose="020B0503020204020204" charset="-122"/>
                <a:sym typeface="+mn-ea"/>
              </a:rPr>
              <a:t>则可以在页面上显示各种数据类（</a:t>
            </a:r>
            <a:r>
              <a:rPr lang="en-US" sz="1400">
                <a:latin typeface="微软雅黑" panose="020B0503020204020204" charset="-122"/>
                <a:ea typeface="微软雅黑" panose="020B0503020204020204" charset="-122"/>
                <a:cs typeface="微软雅黑" panose="020B0503020204020204" charset="-122"/>
                <a:sym typeface="+mn-ea"/>
              </a:rPr>
              <a:t>2</a:t>
            </a:r>
            <a:r>
              <a:rPr lang="zh-CN" sz="1400">
                <a:latin typeface="微软雅黑" panose="020B0503020204020204" charset="-122"/>
                <a:ea typeface="微软雅黑" panose="020B0503020204020204" charset="-122"/>
                <a:cs typeface="微软雅黑" panose="020B0503020204020204" charset="-122"/>
                <a:sym typeface="+mn-ea"/>
              </a:rPr>
              <a:t>）支付：由于支付宝在</a:t>
            </a:r>
            <a:r>
              <a:rPr lang="en-US" sz="1400">
                <a:latin typeface="微软雅黑" panose="020B0503020204020204" charset="-122"/>
                <a:ea typeface="微软雅黑" panose="020B0503020204020204" charset="-122"/>
                <a:cs typeface="微软雅黑" panose="020B0503020204020204" charset="-122"/>
                <a:sym typeface="+mn-ea"/>
              </a:rPr>
              <a:t>2015</a:t>
            </a:r>
            <a:r>
              <a:rPr lang="zh-CN" sz="1400">
                <a:latin typeface="微软雅黑" panose="020B0503020204020204" charset="-122"/>
                <a:ea typeface="微软雅黑" panose="020B0503020204020204" charset="-122"/>
                <a:cs typeface="微软雅黑" panose="020B0503020204020204" charset="-122"/>
                <a:sym typeface="+mn-ea"/>
              </a:rPr>
              <a:t>年后不允许个人申请担保交易接口，所以我们选择了自己充当担保人的方式。我们在网上找了能提供个人支付功能的平台，让我们的用户付款后打到我们的支付宝上，我们计划采用这种方式模拟支付宝的担保交易</a:t>
            </a:r>
            <a:endParaRPr lang="zh-CN" sz="1400">
              <a:latin typeface="微软雅黑" panose="020B0503020204020204" charset="-122"/>
              <a:ea typeface="微软雅黑" panose="020B0503020204020204" charset="-122"/>
              <a:cs typeface="微软雅黑" panose="020B0503020204020204" charset="-122"/>
              <a:sym typeface="+mn-ea"/>
            </a:endParaRPr>
          </a:p>
          <a:p>
            <a:pPr indent="266700"/>
            <a:r>
              <a:rPr lang="en-US" sz="1400">
                <a:latin typeface="微软雅黑" panose="020B0503020204020204" charset="-122"/>
                <a:ea typeface="微软雅黑" panose="020B0503020204020204" charset="-122"/>
                <a:cs typeface="微软雅黑" panose="020B0503020204020204" charset="-122"/>
                <a:sym typeface="+mn-ea"/>
              </a:rPr>
              <a:t>6. </a:t>
            </a:r>
            <a:r>
              <a:rPr lang="zh-CN" sz="1400">
                <a:latin typeface="微软雅黑" panose="020B0503020204020204" charset="-122"/>
                <a:ea typeface="微软雅黑" panose="020B0503020204020204" charset="-122"/>
                <a:cs typeface="微软雅黑" panose="020B0503020204020204" charset="-122"/>
                <a:sym typeface="+mn-ea"/>
              </a:rPr>
              <a:t>开发难点（</a:t>
            </a:r>
            <a:r>
              <a:rPr lang="en-US" sz="1400">
                <a:latin typeface="微软雅黑" panose="020B0503020204020204" charset="-122"/>
                <a:ea typeface="微软雅黑" panose="020B0503020204020204" charset="-122"/>
                <a:cs typeface="微软雅黑" panose="020B0503020204020204" charset="-122"/>
                <a:sym typeface="+mn-ea"/>
              </a:rPr>
              <a:t>1</a:t>
            </a:r>
            <a:r>
              <a:rPr lang="zh-CN" sz="1400">
                <a:latin typeface="微软雅黑" panose="020B0503020204020204" charset="-122"/>
                <a:ea typeface="微软雅黑" panose="020B0503020204020204" charset="-122"/>
                <a:cs typeface="微软雅黑" panose="020B0503020204020204" charset="-122"/>
                <a:sym typeface="+mn-ea"/>
              </a:rPr>
              <a:t>）商城对前端页面要求较高，而我们没有前端开发的界面，因此如何将页面做的美观将是我们要学习的一点（</a:t>
            </a:r>
            <a:r>
              <a:rPr lang="en-US" sz="1400">
                <a:latin typeface="微软雅黑" panose="020B0503020204020204" charset="-122"/>
                <a:ea typeface="微软雅黑" panose="020B0503020204020204" charset="-122"/>
                <a:cs typeface="微软雅黑" panose="020B0503020204020204" charset="-122"/>
                <a:sym typeface="+mn-ea"/>
              </a:rPr>
              <a:t>2</a:t>
            </a:r>
            <a:r>
              <a:rPr lang="zh-CN" sz="1400">
                <a:latin typeface="微软雅黑" panose="020B0503020204020204" charset="-122"/>
                <a:ea typeface="微软雅黑" panose="020B0503020204020204" charset="-122"/>
                <a:cs typeface="微软雅黑" panose="020B0503020204020204" charset="-122"/>
                <a:sym typeface="+mn-ea"/>
              </a:rPr>
              <a:t>）接口的实现。我们的支付是需要调用官方给的接口来实现，虽然有接口文档供我们查看，但相关的知识我们没有接触过，所以如何成功将接口调用到我们的系统上也是项目开发的一大难点</a:t>
            </a:r>
            <a:endParaRPr lang="zh-CN" altLang="en-US" sz="1400">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2" name="图片 1"/>
          <p:cNvPicPr>
            <a:picLocks noChangeAspect="1"/>
          </p:cNvPicPr>
          <p:nvPr/>
        </p:nvPicPr>
        <p:blipFill>
          <a:blip r:embed="rId1"/>
          <a:stretch>
            <a:fillRect/>
          </a:stretch>
        </p:blipFill>
        <p:spPr>
          <a:xfrm>
            <a:off x="1463675" y="1109980"/>
            <a:ext cx="6217285" cy="29241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3" name="图片 2"/>
          <p:cNvPicPr>
            <a:picLocks noChangeAspect="1"/>
          </p:cNvPicPr>
          <p:nvPr/>
        </p:nvPicPr>
        <p:blipFill>
          <a:blip r:embed="rId1"/>
          <a:stretch>
            <a:fillRect/>
          </a:stretch>
        </p:blipFill>
        <p:spPr>
          <a:xfrm>
            <a:off x="1097280" y="967740"/>
            <a:ext cx="7244080" cy="34074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2" name="图片 1"/>
          <p:cNvPicPr>
            <a:picLocks noChangeAspect="1"/>
          </p:cNvPicPr>
          <p:nvPr/>
        </p:nvPicPr>
        <p:blipFill>
          <a:blip r:embed="rId1"/>
          <a:stretch>
            <a:fillRect/>
          </a:stretch>
        </p:blipFill>
        <p:spPr>
          <a:xfrm>
            <a:off x="990600" y="978535"/>
            <a:ext cx="7321550" cy="34436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3" name="图片 2"/>
          <p:cNvPicPr>
            <a:picLocks noChangeAspect="1"/>
          </p:cNvPicPr>
          <p:nvPr/>
        </p:nvPicPr>
        <p:blipFill>
          <a:blip r:embed="rId1"/>
          <a:stretch>
            <a:fillRect/>
          </a:stretch>
        </p:blipFill>
        <p:spPr>
          <a:xfrm>
            <a:off x="847090" y="927735"/>
            <a:ext cx="7548245" cy="35502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2" name="图片 1"/>
          <p:cNvPicPr>
            <a:picLocks noChangeAspect="1"/>
          </p:cNvPicPr>
          <p:nvPr/>
        </p:nvPicPr>
        <p:blipFill>
          <a:blip r:embed="rId1"/>
          <a:stretch>
            <a:fillRect/>
          </a:stretch>
        </p:blipFill>
        <p:spPr>
          <a:xfrm>
            <a:off x="652780" y="913130"/>
            <a:ext cx="7736205" cy="36385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界面原型：</a:t>
            </a:r>
            <a:endParaRPr lang="zh-CN" altLang="en-US"/>
          </a:p>
          <a:p>
            <a:r>
              <a:rPr lang="en-US" altLang="zh-CN" sz="1400"/>
              <a:t>	</a:t>
            </a:r>
            <a:endParaRPr lang="en-US" altLang="zh-CN" sz="1600"/>
          </a:p>
        </p:txBody>
      </p:sp>
      <p:pic>
        <p:nvPicPr>
          <p:cNvPr id="3" name="图片 2"/>
          <p:cNvPicPr>
            <a:picLocks noChangeAspect="1"/>
          </p:cNvPicPr>
          <p:nvPr/>
        </p:nvPicPr>
        <p:blipFill>
          <a:blip r:embed="rId1"/>
          <a:stretch>
            <a:fillRect/>
          </a:stretch>
        </p:blipFill>
        <p:spPr>
          <a:xfrm>
            <a:off x="808990" y="913765"/>
            <a:ext cx="7654925" cy="36004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用户代表：</a:t>
            </a:r>
            <a:endParaRPr lang="zh-CN" altLang="en-US"/>
          </a:p>
          <a:p>
            <a:r>
              <a:rPr lang="en-US" altLang="zh-CN" sz="1400"/>
              <a:t>	</a:t>
            </a:r>
            <a:endParaRPr lang="en-US" altLang="zh-CN" sz="1600"/>
          </a:p>
        </p:txBody>
      </p:sp>
      <p:sp>
        <p:nvSpPr>
          <p:cNvPr id="2" name="文本框 1"/>
          <p:cNvSpPr txBox="1"/>
          <p:nvPr/>
        </p:nvSpPr>
        <p:spPr>
          <a:xfrm>
            <a:off x="1202055" y="1374140"/>
            <a:ext cx="6388735" cy="2306955"/>
          </a:xfrm>
          <a:prstGeom prst="rect">
            <a:avLst/>
          </a:prstGeom>
          <a:noFill/>
        </p:spPr>
        <p:txBody>
          <a:bodyPr wrap="square" rtlCol="0" anchor="t">
            <a:spAutoFit/>
          </a:bodyPr>
          <a:p>
            <a:r>
              <a:rPr lang="zh-CN" altLang="en-US" dirty="0">
                <a:sym typeface="+mn-ea"/>
              </a:rPr>
              <a:t>当然客户</a:t>
            </a:r>
            <a:r>
              <a:rPr lang="en-US" altLang="zh-CN" dirty="0">
                <a:sym typeface="+mn-ea"/>
              </a:rPr>
              <a:t>-</a:t>
            </a:r>
            <a:r>
              <a:rPr lang="zh-CN" altLang="en-US" dirty="0">
                <a:sym typeface="+mn-ea"/>
              </a:rPr>
              <a:t>杨枨老师</a:t>
            </a:r>
            <a:r>
              <a:rPr lang="en-US" altLang="zh-CN" dirty="0">
                <a:sym typeface="+mn-ea"/>
              </a:rPr>
              <a:t>-</a:t>
            </a:r>
            <a:r>
              <a:rPr lang="zh-CN" altLang="en-US" dirty="0">
                <a:sym typeface="+mn-ea"/>
              </a:rPr>
              <a:t>可能有闲置物品要出售</a:t>
            </a:r>
            <a:endParaRPr lang="en-US" altLang="zh-CN" dirty="0"/>
          </a:p>
          <a:p>
            <a:endParaRPr lang="en-US" altLang="zh-CN" dirty="0"/>
          </a:p>
          <a:p>
            <a:r>
              <a:rPr lang="zh-CN" altLang="en-US" dirty="0">
                <a:sym typeface="+mn-ea"/>
              </a:rPr>
              <a:t>学生客户</a:t>
            </a:r>
            <a:r>
              <a:rPr lang="en-US" altLang="zh-CN" dirty="0">
                <a:sym typeface="+mn-ea"/>
              </a:rPr>
              <a:t>-</a:t>
            </a:r>
            <a:r>
              <a:rPr lang="zh-CN" altLang="en-US" dirty="0">
                <a:sym typeface="+mn-ea"/>
              </a:rPr>
              <a:t>计算</a:t>
            </a:r>
            <a:r>
              <a:rPr lang="zh-CN" altLang="en-US" dirty="0">
                <a:sym typeface="+mn-ea"/>
              </a:rPr>
              <a:t>学院 杜同学</a:t>
            </a:r>
            <a:r>
              <a:rPr lang="en-US" altLang="zh-CN" dirty="0">
                <a:sym typeface="+mn-ea"/>
              </a:rPr>
              <a:t>-</a:t>
            </a:r>
            <a:r>
              <a:rPr lang="zh-CN" altLang="en-US" dirty="0">
                <a:sym typeface="+mn-ea"/>
              </a:rPr>
              <a:t>女生日用品等二手买卖</a:t>
            </a:r>
            <a:endParaRPr lang="en-US" altLang="zh-CN" dirty="0"/>
          </a:p>
          <a:p>
            <a:endParaRPr lang="en-US" altLang="zh-CN" dirty="0"/>
          </a:p>
          <a:p>
            <a:r>
              <a:rPr lang="zh-CN" altLang="en-US" dirty="0">
                <a:sym typeface="+mn-ea"/>
              </a:rPr>
              <a:t>学生客户</a:t>
            </a:r>
            <a:r>
              <a:rPr lang="en-US" altLang="zh-CN" dirty="0">
                <a:sym typeface="+mn-ea"/>
              </a:rPr>
              <a:t>-</a:t>
            </a:r>
            <a:r>
              <a:rPr lang="zh-CN" altLang="en-US" dirty="0">
                <a:sym typeface="+mn-ea"/>
              </a:rPr>
              <a:t>商学院 金同学</a:t>
            </a:r>
            <a:r>
              <a:rPr lang="en-US" altLang="zh-CN" dirty="0">
                <a:sym typeface="+mn-ea"/>
              </a:rPr>
              <a:t>-</a:t>
            </a:r>
            <a:r>
              <a:rPr lang="zh-CN" altLang="en-US" dirty="0">
                <a:sym typeface="+mn-ea"/>
              </a:rPr>
              <a:t>二手书籍需要转卖</a:t>
            </a:r>
            <a:endParaRPr lang="zh-CN" altLang="en-US" dirty="0">
              <a:sym typeface="+mn-ea"/>
            </a:endParaRPr>
          </a:p>
          <a:p>
            <a:endParaRPr lang="zh-CN" altLang="en-US"/>
          </a:p>
          <a:p>
            <a:r>
              <a:rPr lang="zh-CN" altLang="en-US"/>
              <a:t>学</a:t>
            </a:r>
            <a:r>
              <a:rPr lang="zh-CN" altLang="en-US" dirty="0">
                <a:sym typeface="+mn-ea"/>
              </a:rPr>
              <a:t>生客户</a:t>
            </a:r>
            <a:r>
              <a:rPr lang="en-US" altLang="zh-CN" dirty="0">
                <a:sym typeface="+mn-ea"/>
              </a:rPr>
              <a:t>-</a:t>
            </a:r>
            <a:r>
              <a:rPr lang="zh-CN" altLang="en-US" dirty="0">
                <a:sym typeface="+mn-ea"/>
              </a:rPr>
              <a:t>信电学院 李同学</a:t>
            </a:r>
            <a:r>
              <a:rPr lang="en-US" altLang="zh-CN" dirty="0">
                <a:sym typeface="+mn-ea"/>
              </a:rPr>
              <a:t>-</a:t>
            </a:r>
            <a:r>
              <a:rPr lang="zh-CN" altLang="en-US" dirty="0">
                <a:sym typeface="+mn-ea"/>
              </a:rPr>
              <a:t>所学过的</a:t>
            </a:r>
            <a:r>
              <a:rPr lang="zh-CN" altLang="en-US" dirty="0">
                <a:sym typeface="+mn-ea"/>
              </a:rPr>
              <a:t>课程中的芯片等</a:t>
            </a:r>
            <a:r>
              <a:rPr lang="zh-CN" altLang="en-US" dirty="0">
                <a:sym typeface="+mn-ea"/>
              </a:rPr>
              <a:t>转卖</a:t>
            </a:r>
            <a:endParaRPr lang="zh-CN" altLang="en-US" dirty="0">
              <a:sym typeface="+mn-ea"/>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583565"/>
          </a:xfrm>
          <a:prstGeom prst="rect">
            <a:avLst/>
          </a:prstGeom>
          <a:noFill/>
        </p:spPr>
        <p:txBody>
          <a:bodyPr wrap="square" rtlCol="0">
            <a:spAutoFit/>
          </a:bodyPr>
          <a:p>
            <a:r>
              <a:rPr lang="zh-CN" altLang="en-US"/>
              <a:t>用户反馈：</a:t>
            </a:r>
            <a:endParaRPr lang="zh-CN" altLang="en-US"/>
          </a:p>
          <a:p>
            <a:r>
              <a:rPr lang="en-US" altLang="zh-CN" sz="1400"/>
              <a:t>	</a:t>
            </a:r>
            <a:endParaRPr lang="en-US" altLang="zh-CN" sz="1600"/>
          </a:p>
        </p:txBody>
      </p:sp>
      <p:sp>
        <p:nvSpPr>
          <p:cNvPr id="2" name="文本框 1"/>
          <p:cNvSpPr txBox="1"/>
          <p:nvPr/>
        </p:nvSpPr>
        <p:spPr>
          <a:xfrm>
            <a:off x="1193800" y="1374140"/>
            <a:ext cx="6388735" cy="2306955"/>
          </a:xfrm>
          <a:prstGeom prst="rect">
            <a:avLst/>
          </a:prstGeom>
          <a:noFill/>
        </p:spPr>
        <p:txBody>
          <a:bodyPr wrap="square" rtlCol="0" anchor="t">
            <a:spAutoFit/>
          </a:bodyPr>
          <a:p>
            <a:r>
              <a:rPr lang="zh-CN" altLang="zh-CN" b="1" dirty="0">
                <a:sym typeface="+mn-ea"/>
              </a:rPr>
              <a:t>功能性需求：</a:t>
            </a:r>
            <a:endParaRPr lang="zh-CN" altLang="zh-CN" dirty="0"/>
          </a:p>
          <a:p>
            <a:r>
              <a:rPr lang="zh-CN" altLang="zh-CN" dirty="0"/>
              <a:t>注册界面点击输入框不输入内容，输入框会左移，输入框最好还是固定</a:t>
            </a:r>
            <a:endParaRPr lang="zh-CN" altLang="zh-CN" dirty="0"/>
          </a:p>
          <a:p>
            <a:r>
              <a:rPr lang="zh-CN" altLang="zh-CN" dirty="0">
                <a:sym typeface="+mn-ea"/>
              </a:rPr>
              <a:t>卖家只能上传一张图</a:t>
            </a:r>
            <a:endParaRPr lang="zh-CN" altLang="zh-CN" dirty="0">
              <a:sym typeface="+mn-ea"/>
            </a:endParaRPr>
          </a:p>
          <a:p>
            <a:r>
              <a:rPr lang="zh-CN" altLang="zh-CN" dirty="0">
                <a:sym typeface="+mn-ea"/>
              </a:rPr>
              <a:t>界面整体不够美观</a:t>
            </a:r>
            <a:endParaRPr lang="en-US" altLang="zh-CN" dirty="0"/>
          </a:p>
          <a:p>
            <a:endParaRPr lang="zh-CN" altLang="zh-CN" dirty="0"/>
          </a:p>
          <a:p>
            <a:r>
              <a:rPr lang="zh-CN" altLang="zh-CN" b="1" dirty="0">
                <a:sym typeface="+mn-ea"/>
              </a:rPr>
              <a:t>非功能性需求：</a:t>
            </a:r>
            <a:endParaRPr lang="zh-CN" altLang="zh-CN" dirty="0"/>
          </a:p>
          <a:p>
            <a:r>
              <a:rPr lang="zh-CN" altLang="zh-CN" dirty="0">
                <a:sym typeface="+mn-ea"/>
              </a:rPr>
              <a:t>需要手动刷新</a:t>
            </a:r>
            <a:endParaRPr 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201379" y="205646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规格说明</a:t>
            </a:r>
            <a:endParaRPr lang="zh-CN" altLang="en-US" sz="4400" b="1" kern="0">
              <a:solidFill>
                <a:schemeClr val="accent3"/>
              </a:solidFill>
              <a:cs typeface="+mn-ea"/>
              <a:sym typeface="+mn-lt"/>
            </a:endParaRPr>
          </a:p>
        </p:txBody>
      </p:sp>
      <p:sp>
        <p:nvSpPr>
          <p:cNvPr id="2"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二</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733550" y="828040"/>
            <a:ext cx="5494020" cy="4038600"/>
          </a:xfrm>
          <a:prstGeom prst="rect">
            <a:avLst/>
          </a:prstGeom>
        </p:spPr>
      </p:pic>
      <p:sp>
        <p:nvSpPr>
          <p:cNvPr id="17" name="PA_矩形 7"/>
          <p:cNvSpPr/>
          <p:nvPr>
            <p:custDataLst>
              <p:tags r:id="rId2"/>
            </p:custDataLst>
          </p:nvPr>
        </p:nvSpPr>
        <p:spPr>
          <a:xfrm>
            <a:off x="3108325" y="331470"/>
            <a:ext cx="2929255" cy="46037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sz="2400">
                <a:solidFill>
                  <a:schemeClr val="accent4">
                    <a:lumMod val="75000"/>
                  </a:schemeClr>
                </a:solidFill>
                <a:sym typeface="+mn-ea"/>
              </a:rPr>
              <a:t>数据字典</a:t>
            </a:r>
            <a:endParaRPr lang="zh-CN" sz="2400" b="1" kern="0">
              <a:solidFill>
                <a:srgbClr val="7787A0"/>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PA_矩形 7"/>
          <p:cNvSpPr/>
          <p:nvPr>
            <p:custDataLst>
              <p:tags r:id="rId1"/>
            </p:custDataLst>
          </p:nvPr>
        </p:nvSpPr>
        <p:spPr>
          <a:xfrm>
            <a:off x="3108325" y="331470"/>
            <a:ext cx="2929255" cy="460375"/>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2400">
                <a:solidFill>
                  <a:schemeClr val="accent4">
                    <a:lumMod val="75000"/>
                  </a:schemeClr>
                </a:solidFill>
                <a:sym typeface="+mn-ea"/>
              </a:rPr>
              <a:t>HIPO</a:t>
            </a:r>
            <a:r>
              <a:rPr lang="zh-CN" altLang="en-US" sz="2400">
                <a:solidFill>
                  <a:schemeClr val="accent4">
                    <a:lumMod val="75000"/>
                  </a:schemeClr>
                </a:solidFill>
                <a:sym typeface="+mn-ea"/>
              </a:rPr>
              <a:t>图</a:t>
            </a:r>
            <a:endParaRPr lang="zh-CN" altLang="en-US" sz="2400" b="1" kern="0">
              <a:solidFill>
                <a:srgbClr val="7787A0"/>
              </a:solidFill>
              <a:cs typeface="+mn-ea"/>
              <a:sym typeface="+mn-lt"/>
            </a:endParaRPr>
          </a:p>
        </p:txBody>
      </p:sp>
      <p:cxnSp>
        <p:nvCxnSpPr>
          <p:cNvPr id="4" name="直接连接符 3"/>
          <p:cNvCxnSpPr/>
          <p:nvPr/>
        </p:nvCxnSpPr>
        <p:spPr>
          <a:xfrm>
            <a:off x="4381988" y="861068"/>
            <a:ext cx="381295" cy="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2"/>
          <a:stretch>
            <a:fillRect/>
          </a:stretch>
        </p:blipFill>
        <p:spPr>
          <a:xfrm>
            <a:off x="1078230" y="989965"/>
            <a:ext cx="6989445" cy="3657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PA_矩形 7"/>
          <p:cNvSpPr/>
          <p:nvPr>
            <p:custDataLst>
              <p:tags r:id="rId1"/>
            </p:custDataLst>
          </p:nvPr>
        </p:nvSpPr>
        <p:spPr>
          <a:xfrm>
            <a:off x="3108325" y="331470"/>
            <a:ext cx="2929255" cy="460375"/>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业务流图</a:t>
            </a:r>
            <a:endParaRPr lang="zh-CN" altLang="en-US" sz="2400" b="1" kern="0">
              <a:solidFill>
                <a:srgbClr val="7787A0"/>
              </a:solidFill>
              <a:cs typeface="+mn-ea"/>
              <a:sym typeface="+mn-lt"/>
            </a:endParaRPr>
          </a:p>
        </p:txBody>
      </p:sp>
      <p:cxnSp>
        <p:nvCxnSpPr>
          <p:cNvPr id="4" name="直接连接符 3"/>
          <p:cNvCxnSpPr/>
          <p:nvPr/>
        </p:nvCxnSpPr>
        <p:spPr>
          <a:xfrm>
            <a:off x="4381988" y="861068"/>
            <a:ext cx="381295" cy="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2"/>
          <a:stretch>
            <a:fillRect/>
          </a:stretch>
        </p:blipFill>
        <p:spPr>
          <a:xfrm>
            <a:off x="1144270" y="861060"/>
            <a:ext cx="6858000" cy="38157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201379" y="2056464"/>
            <a:ext cx="13004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设计</a:t>
            </a:r>
            <a:endParaRPr lang="zh-CN" altLang="en-US" sz="4400" b="1" kern="0">
              <a:solidFill>
                <a:schemeClr val="accent3"/>
              </a:solidFill>
              <a:cs typeface="+mn-ea"/>
              <a:sym typeface="+mn-lt"/>
            </a:endParaRPr>
          </a:p>
        </p:txBody>
      </p:sp>
      <p:sp>
        <p:nvSpPr>
          <p:cNvPr id="2"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三</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PA_矩形 7"/>
          <p:cNvSpPr/>
          <p:nvPr>
            <p:custDataLst>
              <p:tags r:id="rId1"/>
            </p:custDataLst>
          </p:nvPr>
        </p:nvSpPr>
        <p:spPr>
          <a:xfrm>
            <a:off x="3107055" y="331470"/>
            <a:ext cx="2929255" cy="460375"/>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数据库设计</a:t>
            </a:r>
            <a:endParaRPr lang="zh-CN" altLang="en-US" sz="2400" b="1" kern="0">
              <a:solidFill>
                <a:srgbClr val="7787A0"/>
              </a:solidFill>
              <a:cs typeface="+mn-ea"/>
              <a:sym typeface="+mn-lt"/>
            </a:endParaRPr>
          </a:p>
        </p:txBody>
      </p:sp>
      <p:cxnSp>
        <p:nvCxnSpPr>
          <p:cNvPr id="4" name="直接连接符 3"/>
          <p:cNvCxnSpPr/>
          <p:nvPr/>
        </p:nvCxnSpPr>
        <p:spPr>
          <a:xfrm>
            <a:off x="4381988" y="861068"/>
            <a:ext cx="381295" cy="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pic>
        <p:nvPicPr>
          <p:cNvPr id="2" name="图片 -2147482624"/>
          <p:cNvPicPr>
            <a:picLocks noChangeAspect="1"/>
          </p:cNvPicPr>
          <p:nvPr>
            <p:custDataLst>
              <p:tags r:id="rId2"/>
            </p:custDataLst>
          </p:nvPr>
        </p:nvPicPr>
        <p:blipFill>
          <a:blip r:embed="rId3"/>
          <a:stretch>
            <a:fillRect/>
          </a:stretch>
        </p:blipFill>
        <p:spPr>
          <a:xfrm>
            <a:off x="1867535" y="1206500"/>
            <a:ext cx="6875145" cy="3163570"/>
          </a:xfrm>
          <a:prstGeom prst="rect">
            <a:avLst/>
          </a:prstGeom>
          <a:noFill/>
          <a:ln w="9525">
            <a:noFill/>
          </a:ln>
        </p:spPr>
      </p:pic>
      <p:sp>
        <p:nvSpPr>
          <p:cNvPr id="3" name="文本框 2"/>
          <p:cNvSpPr txBox="1"/>
          <p:nvPr/>
        </p:nvSpPr>
        <p:spPr>
          <a:xfrm>
            <a:off x="614045" y="983615"/>
            <a:ext cx="1554480" cy="368300"/>
          </a:xfrm>
          <a:prstGeom prst="rect">
            <a:avLst/>
          </a:prstGeom>
          <a:noFill/>
        </p:spPr>
        <p:txBody>
          <a:bodyPr wrap="none" rtlCol="0">
            <a:spAutoFit/>
          </a:bodyPr>
          <a:p>
            <a:r>
              <a:rPr lang="zh-CN" altLang="en-US">
                <a:solidFill>
                  <a:schemeClr val="accent4">
                    <a:lumMod val="75000"/>
                  </a:schemeClr>
                </a:solidFill>
              </a:rPr>
              <a:t>物理数据模型</a:t>
            </a:r>
            <a:endParaRPr lang="zh-CN" altLang="en-US">
              <a:solidFill>
                <a:schemeClr val="accent4">
                  <a:lumMod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510858" y="750275"/>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cs typeface="+mn-ea"/>
              <a:sym typeface="+mn-lt"/>
            </a:endParaRPr>
          </a:p>
        </p:txBody>
      </p:sp>
      <p:sp>
        <p:nvSpPr>
          <p:cNvPr id="2" name="PA_矩形 7"/>
          <p:cNvSpPr/>
          <p:nvPr>
            <p:custDataLst>
              <p:tags r:id="rId1"/>
            </p:custDataLst>
          </p:nvPr>
        </p:nvSpPr>
        <p:spPr>
          <a:xfrm>
            <a:off x="-317500" y="932180"/>
            <a:ext cx="4081780" cy="32194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500" b="1" kern="0">
                <a:solidFill>
                  <a:srgbClr val="7787A0"/>
                </a:solidFill>
                <a:cs typeface="+mn-ea"/>
                <a:sym typeface="+mn-lt"/>
              </a:rPr>
              <a:t>表结构及说明</a:t>
            </a:r>
            <a:endParaRPr lang="zh-CN" altLang="en-US" sz="1500" b="1" kern="0">
              <a:solidFill>
                <a:srgbClr val="7787A0"/>
              </a:solidFill>
              <a:cs typeface="+mn-ea"/>
              <a:sym typeface="+mn-lt"/>
            </a:endParaRPr>
          </a:p>
        </p:txBody>
      </p:sp>
      <p:cxnSp>
        <p:nvCxnSpPr>
          <p:cNvPr id="3" name="直接连接符 2"/>
          <p:cNvCxnSpPr/>
          <p:nvPr/>
        </p:nvCxnSpPr>
        <p:spPr>
          <a:xfrm flipV="1">
            <a:off x="835025" y="1304290"/>
            <a:ext cx="1771015" cy="762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sp>
        <p:nvSpPr>
          <p:cNvPr id="17" name="PA_矩形 7"/>
          <p:cNvSpPr/>
          <p:nvPr>
            <p:custDataLst>
              <p:tags r:id="rId2"/>
            </p:custDataLst>
          </p:nvPr>
        </p:nvSpPr>
        <p:spPr>
          <a:xfrm>
            <a:off x="3107055" y="331470"/>
            <a:ext cx="2929255" cy="46037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数据库设计</a:t>
            </a:r>
            <a:endParaRPr lang="zh-CN" altLang="en-US" sz="2400" b="1" kern="0">
              <a:solidFill>
                <a:srgbClr val="7787A0"/>
              </a:solidFill>
              <a:cs typeface="+mn-ea"/>
              <a:sym typeface="+mn-lt"/>
            </a:endParaRPr>
          </a:p>
        </p:txBody>
      </p:sp>
      <p:cxnSp>
        <p:nvCxnSpPr>
          <p:cNvPr id="6" name="直接连接符 5"/>
          <p:cNvCxnSpPr/>
          <p:nvPr/>
        </p:nvCxnSpPr>
        <p:spPr>
          <a:xfrm>
            <a:off x="4381988" y="861068"/>
            <a:ext cx="381295" cy="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pic>
        <p:nvPicPr>
          <p:cNvPr id="4" name="图片 -2147482623"/>
          <p:cNvPicPr>
            <a:picLocks noChangeAspect="1"/>
          </p:cNvPicPr>
          <p:nvPr/>
        </p:nvPicPr>
        <p:blipFill>
          <a:blip r:embed="rId3"/>
          <a:stretch>
            <a:fillRect/>
          </a:stretch>
        </p:blipFill>
        <p:spPr>
          <a:xfrm>
            <a:off x="821055" y="1691640"/>
            <a:ext cx="2286000" cy="2186940"/>
          </a:xfrm>
          <a:prstGeom prst="rect">
            <a:avLst/>
          </a:prstGeom>
          <a:noFill/>
          <a:ln w="9525">
            <a:noFill/>
          </a:ln>
        </p:spPr>
      </p:pic>
      <p:graphicFrame>
        <p:nvGraphicFramePr>
          <p:cNvPr id="7" name="表格 6"/>
          <p:cNvGraphicFramePr/>
          <p:nvPr>
            <p:custDataLst>
              <p:tags r:id="rId4"/>
            </p:custDataLst>
          </p:nvPr>
        </p:nvGraphicFramePr>
        <p:xfrm>
          <a:off x="3294698" y="1139825"/>
          <a:ext cx="5073650" cy="3482340"/>
        </p:xfrm>
        <a:graphic>
          <a:graphicData uri="http://schemas.openxmlformats.org/drawingml/2006/table">
            <a:tbl>
              <a:tblPr firstRow="1" bandRow="1">
                <a:tableStyleId>{5940675A-B579-460E-94D1-54222C63F5DA}</a:tableStyleId>
              </a:tblPr>
              <a:tblGrid>
                <a:gridCol w="1448435"/>
                <a:gridCol w="3625215"/>
              </a:tblGrid>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表名</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作用</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collect</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存放用户收藏信息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fl</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存放商品分类信息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item</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存放商品信息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link</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存放商品和分类关联信息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manager</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存放管理员信息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orderinf</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存放订单信息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sell</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存放用户发布信息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tousu</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存放用户投诉信息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tuikuan</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存放用户退款信息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userinf</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存放用户信息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0195">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wuliu</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微软雅黑" panose="020B0503020204020204" charset="-122"/>
                          <a:ea typeface="微软雅黑" panose="020B0503020204020204" charset="-122"/>
                          <a:cs typeface="宋体" panose="02010600030101010101" pitchFamily="2" charset="-122"/>
                        </a:rPr>
                        <a:t>存放订单物流信息</a:t>
                      </a:r>
                      <a:endParaRPr lang="en-US" altLang="en-US" sz="1800" b="0">
                        <a:latin typeface="微软雅黑" panose="020B0503020204020204" charset="-122"/>
                        <a:ea typeface="微软雅黑" panose="020B0503020204020204"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PA_矩形 7"/>
          <p:cNvSpPr/>
          <p:nvPr>
            <p:custDataLst>
              <p:tags r:id="rId1"/>
            </p:custDataLst>
          </p:nvPr>
        </p:nvSpPr>
        <p:spPr>
          <a:xfrm>
            <a:off x="266700" y="400685"/>
            <a:ext cx="2929255" cy="460375"/>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数据库详细设计</a:t>
            </a:r>
            <a:endParaRPr lang="zh-CN" altLang="en-US" sz="2400" b="1" kern="0">
              <a:solidFill>
                <a:srgbClr val="7787A0"/>
              </a:solidFill>
              <a:cs typeface="+mn-ea"/>
              <a:sym typeface="+mn-lt"/>
            </a:endParaRPr>
          </a:p>
        </p:txBody>
      </p:sp>
      <p:cxnSp>
        <p:nvCxnSpPr>
          <p:cNvPr id="4" name="直接连接符 3"/>
          <p:cNvCxnSpPr/>
          <p:nvPr/>
        </p:nvCxnSpPr>
        <p:spPr>
          <a:xfrm>
            <a:off x="4381988" y="861068"/>
            <a:ext cx="381295" cy="0"/>
          </a:xfrm>
          <a:prstGeom prst="line">
            <a:avLst/>
          </a:prstGeom>
          <a:ln w="28575">
            <a:solidFill>
              <a:srgbClr val="7787A0"/>
            </a:solidFill>
          </a:ln>
        </p:spPr>
        <p:style>
          <a:lnRef idx="1">
            <a:schemeClr val="accent1"/>
          </a:lnRef>
          <a:fillRef idx="0">
            <a:schemeClr val="accent1"/>
          </a:fillRef>
          <a:effectRef idx="0">
            <a:schemeClr val="accent1"/>
          </a:effectRef>
          <a:fontRef idx="minor">
            <a:schemeClr val="tx1"/>
          </a:fontRef>
        </p:style>
      </p:cxnSp>
      <p:graphicFrame>
        <p:nvGraphicFramePr>
          <p:cNvPr id="6" name="对象 5">
            <a:hlinkClick r:id="" action="ppaction://ole?verb="/>
          </p:cNvPr>
          <p:cNvGraphicFramePr>
            <a:graphicFrameLocks noChangeAspect="1"/>
          </p:cNvGraphicFramePr>
          <p:nvPr/>
        </p:nvGraphicFramePr>
        <p:xfrm>
          <a:off x="3909695" y="2328545"/>
          <a:ext cx="971550" cy="800100"/>
        </p:xfrm>
        <a:graphic>
          <a:graphicData uri="http://schemas.openxmlformats.org/presentationml/2006/ole">
            <mc:AlternateContent xmlns:mc="http://schemas.openxmlformats.org/markup-compatibility/2006">
              <mc:Choice xmlns:v="urn:schemas-microsoft-com:vml" Requires="v">
                <p:oleObj spid="_x0000_s1028" name="" showAsIcon="1" r:id="rId2" imgW="971550" imgH="800100" progId="Word.Document.8">
                  <p:embed/>
                </p:oleObj>
              </mc:Choice>
              <mc:Fallback>
                <p:oleObj name="" showAsIcon="1" r:id="rId2" imgW="971550" imgH="800100" progId="Word.Document.8">
                  <p:embed/>
                  <p:pic>
                    <p:nvPicPr>
                      <p:cNvPr id="0" name="图片 1027"/>
                      <p:cNvPicPr/>
                      <p:nvPr/>
                    </p:nvPicPr>
                    <p:blipFill>
                      <a:blip r:embed="rId3"/>
                      <a:stretch>
                        <a:fillRect/>
                      </a:stretch>
                    </p:blipFill>
                    <p:spPr>
                      <a:xfrm>
                        <a:off x="3909695" y="2328545"/>
                        <a:ext cx="971550" cy="80010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21640"/>
            <a:ext cx="5621655" cy="614045"/>
          </a:xfrm>
          <a:prstGeom prst="rect">
            <a:avLst/>
          </a:prstGeom>
          <a:noFill/>
        </p:spPr>
        <p:txBody>
          <a:bodyPr wrap="square" rtlCol="0">
            <a:spAutoFit/>
          </a:bodyPr>
          <a:p>
            <a:r>
              <a:rPr lang="en-US"/>
              <a:t>ER</a:t>
            </a:r>
            <a:r>
              <a:rPr lang="zh-CN" altLang="en-US"/>
              <a:t>图</a:t>
            </a:r>
            <a:endParaRPr lang="zh-CN" altLang="en-US"/>
          </a:p>
          <a:p>
            <a:endParaRPr lang="zh-CN" altLang="en-US" sz="1600"/>
          </a:p>
        </p:txBody>
      </p:sp>
      <p:pic>
        <p:nvPicPr>
          <p:cNvPr id="2" name="图片 1"/>
          <p:cNvPicPr>
            <a:picLocks noChangeAspect="1"/>
          </p:cNvPicPr>
          <p:nvPr/>
        </p:nvPicPr>
        <p:blipFill>
          <a:blip r:embed="rId1"/>
          <a:stretch>
            <a:fillRect/>
          </a:stretch>
        </p:blipFill>
        <p:spPr>
          <a:xfrm>
            <a:off x="922020" y="742950"/>
            <a:ext cx="7299960" cy="40995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201379" y="2056464"/>
            <a:ext cx="13004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编码</a:t>
            </a:r>
            <a:endParaRPr lang="zh-CN" altLang="en-US" sz="4400" b="1" kern="0">
              <a:solidFill>
                <a:schemeClr val="accent3"/>
              </a:solidFill>
              <a:cs typeface="+mn-ea"/>
              <a:sym typeface="+mn-lt"/>
            </a:endParaRPr>
          </a:p>
        </p:txBody>
      </p:sp>
      <p:sp>
        <p:nvSpPr>
          <p:cNvPr id="2"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四</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74735"/>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内部代码规范</a:t>
            </a:r>
            <a:endParaRPr lang="zh-CN" altLang="en-US" sz="1400">
              <a:solidFill>
                <a:schemeClr val="tx1">
                  <a:lumMod val="65000"/>
                  <a:lumOff val="35000"/>
                </a:schemeClr>
              </a:solidFill>
              <a:cs typeface="+mn-ea"/>
              <a:sym typeface="+mn-lt"/>
            </a:endParaRPr>
          </a:p>
        </p:txBody>
      </p:sp>
      <p:pic>
        <p:nvPicPr>
          <p:cNvPr id="3" name="图片 2"/>
          <p:cNvPicPr>
            <a:picLocks noChangeAspect="1"/>
          </p:cNvPicPr>
          <p:nvPr>
            <p:custDataLst>
              <p:tags r:id="rId1"/>
            </p:custDataLst>
          </p:nvPr>
        </p:nvPicPr>
        <p:blipFill>
          <a:blip r:embed="rId2"/>
          <a:stretch>
            <a:fillRect/>
          </a:stretch>
        </p:blipFill>
        <p:spPr>
          <a:xfrm>
            <a:off x="3428365" y="716280"/>
            <a:ext cx="4098925" cy="3711575"/>
          </a:xfrm>
          <a:prstGeom prst="rect">
            <a:avLst/>
          </a:prstGeom>
        </p:spPr>
      </p:pic>
      <p:sp>
        <p:nvSpPr>
          <p:cNvPr id="17" name="PA_矩形 7"/>
          <p:cNvSpPr/>
          <p:nvPr>
            <p:custDataLst>
              <p:tags r:id="rId3"/>
            </p:custDataLst>
          </p:nvPr>
        </p:nvSpPr>
        <p:spPr>
          <a:xfrm>
            <a:off x="395605" y="331470"/>
            <a:ext cx="2929255" cy="46037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编码规范</a:t>
            </a:r>
            <a:endParaRPr lang="zh-CN" altLang="en-US" sz="2400" b="1" kern="0">
              <a:solidFill>
                <a:srgbClr val="7787A0"/>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内部代码规范</a:t>
            </a:r>
            <a:endParaRPr lang="zh-CN" altLang="en-US" sz="1400">
              <a:solidFill>
                <a:schemeClr val="tx1">
                  <a:lumMod val="65000"/>
                  <a:lumOff val="35000"/>
                </a:schemeClr>
              </a:solidFill>
              <a:cs typeface="+mn-ea"/>
              <a:sym typeface="+mn-lt"/>
            </a:endParaRPr>
          </a:p>
        </p:txBody>
      </p:sp>
      <p:sp>
        <p:nvSpPr>
          <p:cNvPr id="3" name="文本框 2"/>
          <p:cNvSpPr txBox="1"/>
          <p:nvPr/>
        </p:nvSpPr>
        <p:spPr>
          <a:xfrm>
            <a:off x="2766060" y="414655"/>
            <a:ext cx="6157595" cy="4030980"/>
          </a:xfrm>
          <a:prstGeom prst="rect">
            <a:avLst/>
          </a:prstGeom>
          <a:noFill/>
        </p:spPr>
        <p:txBody>
          <a:bodyPr wrap="square" rtlCol="0">
            <a:spAutoFit/>
          </a:bodyPr>
          <a:p>
            <a:r>
              <a:rPr lang="en-US" altLang="zh-CN" sz="1600">
                <a:solidFill>
                  <a:schemeClr val="bg1">
                    <a:lumMod val="50000"/>
                  </a:schemeClr>
                </a:solidFill>
              </a:rPr>
              <a:t>1.</a:t>
            </a:r>
            <a:r>
              <a:rPr lang="zh-CN" altLang="en-US" sz="1600">
                <a:solidFill>
                  <a:schemeClr val="bg1">
                    <a:lumMod val="50000"/>
                  </a:schemeClr>
                </a:solidFill>
              </a:rPr>
              <a:t>方法名、参数名、变量名统一使用驼峰命名法</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2.</a:t>
            </a:r>
            <a:r>
              <a:rPr lang="zh-CN" altLang="en-US" sz="1600">
                <a:solidFill>
                  <a:schemeClr val="bg1">
                    <a:lumMod val="50000"/>
                  </a:schemeClr>
                </a:solidFill>
              </a:rPr>
              <a:t>代码命名不能以下划线或者特殊符号开头或者结尾</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3.</a:t>
            </a:r>
            <a:r>
              <a:rPr lang="zh-CN" altLang="en-US" sz="1600">
                <a:solidFill>
                  <a:schemeClr val="bg1">
                    <a:lumMod val="50000"/>
                  </a:schemeClr>
                </a:solidFill>
              </a:rPr>
              <a:t>不论是类名还是方法名，都需要让成员能够从名字能看出</a:t>
            </a:r>
            <a:endParaRPr lang="zh-CN" altLang="en-US" sz="1600">
              <a:solidFill>
                <a:schemeClr val="bg1">
                  <a:lumMod val="50000"/>
                </a:schemeClr>
              </a:solidFill>
            </a:endParaRPr>
          </a:p>
          <a:p>
            <a:r>
              <a:rPr lang="zh-CN" altLang="en-US" sz="1600">
                <a:solidFill>
                  <a:schemeClr val="bg1">
                    <a:lumMod val="50000"/>
                  </a:schemeClr>
                </a:solidFill>
              </a:rPr>
              <a:t>是做什么的，而不至于看见名字而完全不知道其作用</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4.</a:t>
            </a:r>
            <a:r>
              <a:rPr lang="zh-CN" altLang="en-US" sz="1600">
                <a:solidFill>
                  <a:schemeClr val="bg1">
                    <a:lumMod val="50000"/>
                  </a:schemeClr>
                </a:solidFill>
              </a:rPr>
              <a:t>面向不同业务的方法应该放在对应的业务类中，不能随意在类中写方法。</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5.Dao</a:t>
            </a:r>
            <a:r>
              <a:rPr lang="zh-CN" altLang="en-US" sz="1600">
                <a:solidFill>
                  <a:schemeClr val="bg1">
                    <a:lumMod val="50000"/>
                  </a:schemeClr>
                </a:solidFill>
              </a:rPr>
              <a:t>层不应出现业务逻辑</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6.Dao</a:t>
            </a:r>
            <a:r>
              <a:rPr lang="zh-CN" altLang="en-US" sz="1600">
                <a:solidFill>
                  <a:schemeClr val="bg1">
                    <a:lumMod val="50000"/>
                  </a:schemeClr>
                </a:solidFill>
              </a:rPr>
              <a:t>层的方法在调用完毕后应主动关闭连接</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7.Bean</a:t>
            </a:r>
            <a:r>
              <a:rPr lang="zh-CN" altLang="en-US" sz="1600">
                <a:solidFill>
                  <a:schemeClr val="bg1">
                    <a:lumMod val="50000"/>
                  </a:schemeClr>
                </a:solidFill>
              </a:rPr>
              <a:t>中的类名应与表名保持一致</a:t>
            </a:r>
            <a:endParaRPr lang="zh-CN" altLang="en-US" sz="1600">
              <a:solidFill>
                <a:schemeClr val="bg1">
                  <a:lumMod val="50000"/>
                </a:schemeClr>
              </a:solidFill>
            </a:endParaRPr>
          </a:p>
          <a:p>
            <a:endParaRPr lang="zh-CN" altLang="en-US" sz="1600">
              <a:solidFill>
                <a:schemeClr val="bg1">
                  <a:lumMod val="50000"/>
                </a:schemeClr>
              </a:solidFill>
            </a:endParaRPr>
          </a:p>
        </p:txBody>
      </p:sp>
      <p:sp>
        <p:nvSpPr>
          <p:cNvPr id="17" name="PA_矩形 7"/>
          <p:cNvSpPr/>
          <p:nvPr>
            <p:custDataLst>
              <p:tags r:id="rId1"/>
            </p:custDataLst>
          </p:nvPr>
        </p:nvSpPr>
        <p:spPr>
          <a:xfrm>
            <a:off x="285750" y="414655"/>
            <a:ext cx="2929255" cy="46037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编码规范</a:t>
            </a:r>
            <a:endParaRPr lang="zh-CN" altLang="en-US" sz="2400" b="1" kern="0">
              <a:solidFill>
                <a:srgbClr val="7787A0"/>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内部代码规范</a:t>
            </a:r>
            <a:endParaRPr lang="zh-CN" altLang="en-US" sz="1400">
              <a:solidFill>
                <a:schemeClr val="tx1">
                  <a:lumMod val="65000"/>
                  <a:lumOff val="35000"/>
                </a:schemeClr>
              </a:solidFill>
              <a:cs typeface="+mn-ea"/>
              <a:sym typeface="+mn-lt"/>
            </a:endParaRPr>
          </a:p>
        </p:txBody>
      </p:sp>
      <p:sp>
        <p:nvSpPr>
          <p:cNvPr id="5" name="文本框 4"/>
          <p:cNvSpPr txBox="1"/>
          <p:nvPr/>
        </p:nvSpPr>
        <p:spPr>
          <a:xfrm>
            <a:off x="2673985" y="524510"/>
            <a:ext cx="6040755" cy="4030980"/>
          </a:xfrm>
          <a:prstGeom prst="rect">
            <a:avLst/>
          </a:prstGeom>
          <a:noFill/>
        </p:spPr>
        <p:txBody>
          <a:bodyPr wrap="square" rtlCol="0" anchor="t">
            <a:spAutoFit/>
          </a:bodyPr>
          <a:p>
            <a:r>
              <a:rPr lang="en-US" altLang="zh-CN" sz="1600">
                <a:solidFill>
                  <a:schemeClr val="bg1">
                    <a:lumMod val="50000"/>
                  </a:schemeClr>
                </a:solidFill>
              </a:rPr>
              <a:t>8.</a:t>
            </a:r>
            <a:r>
              <a:rPr lang="zh-CN" altLang="en-US" sz="1600">
                <a:solidFill>
                  <a:schemeClr val="bg1">
                    <a:lumMod val="50000"/>
                  </a:schemeClr>
                </a:solidFill>
              </a:rPr>
              <a:t>包名：全部使用小写，点分隔符之间有且仅有一个单词</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9.</a:t>
            </a:r>
            <a:r>
              <a:rPr lang="zh-CN" altLang="en-US" sz="1600">
                <a:solidFill>
                  <a:schemeClr val="bg1">
                    <a:lumMod val="50000"/>
                  </a:schemeClr>
                </a:solidFill>
              </a:rPr>
              <a:t>方法名获取单个对象使用get</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10.</a:t>
            </a:r>
            <a:r>
              <a:rPr lang="zh-CN" altLang="en-US" sz="1600">
                <a:solidFill>
                  <a:schemeClr val="bg1">
                    <a:lumMod val="50000"/>
                  </a:schemeClr>
                </a:solidFill>
              </a:rPr>
              <a:t>方法名</a:t>
            </a:r>
            <a:r>
              <a:rPr lang="en-US" altLang="zh-CN" sz="1600">
                <a:solidFill>
                  <a:schemeClr val="bg1">
                    <a:lumMod val="50000"/>
                  </a:schemeClr>
                </a:solidFill>
              </a:rPr>
              <a:t>插入使用insert</a:t>
            </a:r>
            <a:endParaRPr lang="en-US" altLang="zh-CN" sz="1600">
              <a:solidFill>
                <a:schemeClr val="bg1">
                  <a:lumMod val="50000"/>
                </a:schemeClr>
              </a:solidFill>
            </a:endParaRPr>
          </a:p>
          <a:p>
            <a:endParaRPr lang="en-US" altLang="zh-CN" sz="1600">
              <a:solidFill>
                <a:schemeClr val="bg1">
                  <a:lumMod val="50000"/>
                </a:schemeClr>
              </a:solidFill>
            </a:endParaRPr>
          </a:p>
          <a:p>
            <a:r>
              <a:rPr lang="en-US" altLang="zh-CN" sz="1600">
                <a:solidFill>
                  <a:schemeClr val="bg1">
                    <a:lumMod val="50000"/>
                  </a:schemeClr>
                </a:solidFill>
              </a:rPr>
              <a:t>11.</a:t>
            </a:r>
            <a:r>
              <a:rPr lang="zh-CN" altLang="en-US" sz="1600">
                <a:solidFill>
                  <a:schemeClr val="bg1">
                    <a:lumMod val="50000"/>
                  </a:schemeClr>
                </a:solidFill>
              </a:rPr>
              <a:t>方法名</a:t>
            </a:r>
            <a:r>
              <a:rPr lang="en-US" altLang="zh-CN" sz="1600">
                <a:solidFill>
                  <a:schemeClr val="bg1">
                    <a:lumMod val="50000"/>
                  </a:schemeClr>
                </a:solidFill>
              </a:rPr>
              <a:t>删除使用delete</a:t>
            </a:r>
            <a:endParaRPr lang="en-US" altLang="zh-CN" sz="1600">
              <a:solidFill>
                <a:schemeClr val="bg1">
                  <a:lumMod val="50000"/>
                </a:schemeClr>
              </a:solidFill>
            </a:endParaRPr>
          </a:p>
          <a:p>
            <a:endParaRPr lang="en-US" altLang="zh-CN" sz="1600">
              <a:solidFill>
                <a:schemeClr val="bg1">
                  <a:lumMod val="50000"/>
                </a:schemeClr>
              </a:solidFill>
            </a:endParaRPr>
          </a:p>
          <a:p>
            <a:r>
              <a:rPr lang="en-US" altLang="zh-CN" sz="1600">
                <a:solidFill>
                  <a:schemeClr val="bg1">
                    <a:lumMod val="50000"/>
                  </a:schemeClr>
                </a:solidFill>
              </a:rPr>
              <a:t>12.</a:t>
            </a:r>
            <a:r>
              <a:rPr lang="zh-CN" altLang="en-US" sz="1600">
                <a:solidFill>
                  <a:schemeClr val="bg1">
                    <a:lumMod val="50000"/>
                  </a:schemeClr>
                </a:solidFill>
              </a:rPr>
              <a:t>方法名修改使用update</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13.</a:t>
            </a:r>
            <a:r>
              <a:rPr lang="zh-CN" altLang="en-US" sz="1600">
                <a:solidFill>
                  <a:schemeClr val="bg1">
                    <a:lumMod val="50000"/>
                  </a:schemeClr>
                </a:solidFill>
              </a:rPr>
              <a:t>一行代码不能太长，控制在</a:t>
            </a:r>
            <a:r>
              <a:rPr lang="en-US" altLang="zh-CN" sz="1600">
                <a:solidFill>
                  <a:schemeClr val="bg1">
                    <a:lumMod val="50000"/>
                  </a:schemeClr>
                </a:solidFill>
              </a:rPr>
              <a:t>30</a:t>
            </a:r>
            <a:r>
              <a:rPr lang="zh-CN" altLang="en-US" sz="1600">
                <a:solidFill>
                  <a:schemeClr val="bg1">
                    <a:lumMod val="50000"/>
                  </a:schemeClr>
                </a:solidFill>
              </a:rPr>
              <a:t>个单词以内</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14.</a:t>
            </a:r>
            <a:r>
              <a:rPr lang="zh-CN" altLang="en-US" sz="1600">
                <a:solidFill>
                  <a:schemeClr val="bg1">
                    <a:lumMod val="50000"/>
                  </a:schemeClr>
                </a:solidFill>
              </a:rPr>
              <a:t>一个方法如果太长，需要在有明显区别的逻辑之间加上适当的空格</a:t>
            </a:r>
            <a:endParaRPr lang="zh-CN" altLang="en-US" sz="1600">
              <a:solidFill>
                <a:schemeClr val="bg1">
                  <a:lumMod val="50000"/>
                </a:schemeClr>
              </a:solidFill>
            </a:endParaRPr>
          </a:p>
          <a:p>
            <a:endParaRPr lang="zh-CN" altLang="en-US" sz="1600">
              <a:solidFill>
                <a:schemeClr val="bg1">
                  <a:lumMod val="50000"/>
                </a:schemeClr>
              </a:solidFill>
            </a:endParaRPr>
          </a:p>
          <a:p>
            <a:r>
              <a:rPr lang="en-US" altLang="zh-CN" sz="1600">
                <a:solidFill>
                  <a:schemeClr val="bg1">
                    <a:lumMod val="50000"/>
                  </a:schemeClr>
                </a:solidFill>
              </a:rPr>
              <a:t>15.</a:t>
            </a:r>
            <a:r>
              <a:rPr lang="zh-CN" altLang="en-US" sz="1600">
                <a:solidFill>
                  <a:schemeClr val="bg1">
                    <a:lumMod val="50000"/>
                  </a:schemeClr>
                </a:solidFill>
              </a:rPr>
              <a:t>每个方法前应加上适当的注释说明作用</a:t>
            </a:r>
            <a:endParaRPr lang="zh-CN" altLang="en-US" sz="1600">
              <a:solidFill>
                <a:schemeClr val="bg1">
                  <a:lumMod val="50000"/>
                </a:schemeClr>
              </a:solidFill>
            </a:endParaRPr>
          </a:p>
        </p:txBody>
      </p:sp>
      <p:sp>
        <p:nvSpPr>
          <p:cNvPr id="17" name="PA_矩形 7"/>
          <p:cNvSpPr/>
          <p:nvPr>
            <p:custDataLst>
              <p:tags r:id="rId1"/>
            </p:custDataLst>
          </p:nvPr>
        </p:nvSpPr>
        <p:spPr>
          <a:xfrm>
            <a:off x="143510" y="401320"/>
            <a:ext cx="2929255" cy="460375"/>
          </a:xfrm>
          <a:prstGeom prst="rect">
            <a:avLst/>
          </a:prstGeom>
        </p:spPr>
        <p:txBody>
          <a:bodyPr wrap="square">
            <a:spAutoFit/>
          </a:bodyPr>
          <a:p>
            <a:pPr marL="0" marR="0" lvl="0" indent="0" algn="ctr" defTabSz="685800" rtl="0" eaLnBrk="1" fontAlgn="auto" latinLnBrk="0" hangingPunct="1">
              <a:lnSpc>
                <a:spcPct val="100000"/>
              </a:lnSpc>
              <a:spcBef>
                <a:spcPts val="0"/>
              </a:spcBef>
              <a:spcAft>
                <a:spcPts val="0"/>
              </a:spcAft>
              <a:buClrTx/>
              <a:buSzTx/>
              <a:buFontTx/>
              <a:buNone/>
              <a:defRPr/>
            </a:pPr>
            <a:r>
              <a:rPr lang="zh-CN" altLang="en-US" sz="2400" b="1" kern="0">
                <a:solidFill>
                  <a:srgbClr val="7787A0"/>
                </a:solidFill>
                <a:cs typeface="+mn-ea"/>
                <a:sym typeface="+mn-lt"/>
              </a:rPr>
              <a:t>编码规范</a:t>
            </a:r>
            <a:endParaRPr lang="zh-CN" altLang="en-US" sz="2400" b="1" kern="0">
              <a:solidFill>
                <a:srgbClr val="7787A0"/>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代码走查</a:t>
            </a:r>
            <a:endParaRPr lang="zh-CN" altLang="en-US" sz="1400">
              <a:solidFill>
                <a:schemeClr val="tx1">
                  <a:lumMod val="65000"/>
                  <a:lumOff val="35000"/>
                </a:schemeClr>
              </a:solidFill>
              <a:cs typeface="+mn-ea"/>
              <a:sym typeface="+mn-lt"/>
            </a:endParaRPr>
          </a:p>
        </p:txBody>
      </p:sp>
      <p:pic>
        <p:nvPicPr>
          <p:cNvPr id="4" name="图片 3"/>
          <p:cNvPicPr>
            <a:picLocks noChangeAspect="1"/>
          </p:cNvPicPr>
          <p:nvPr/>
        </p:nvPicPr>
        <p:blipFill>
          <a:blip r:embed="rId1"/>
          <a:stretch>
            <a:fillRect/>
          </a:stretch>
        </p:blipFill>
        <p:spPr>
          <a:xfrm>
            <a:off x="1640205" y="461010"/>
            <a:ext cx="6705600" cy="39395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代码走查</a:t>
            </a:r>
            <a:endParaRPr lang="zh-CN" altLang="en-US" sz="1400">
              <a:solidFill>
                <a:schemeClr val="tx1">
                  <a:lumMod val="65000"/>
                  <a:lumOff val="35000"/>
                </a:schemeClr>
              </a:solidFill>
              <a:cs typeface="+mn-ea"/>
              <a:sym typeface="+mn-lt"/>
            </a:endParaRPr>
          </a:p>
        </p:txBody>
      </p:sp>
      <p:pic>
        <p:nvPicPr>
          <p:cNvPr id="3" name="图片 2"/>
          <p:cNvPicPr>
            <a:picLocks noChangeAspect="1"/>
          </p:cNvPicPr>
          <p:nvPr/>
        </p:nvPicPr>
        <p:blipFill>
          <a:blip r:embed="rId1"/>
          <a:stretch>
            <a:fillRect/>
          </a:stretch>
        </p:blipFill>
        <p:spPr>
          <a:xfrm>
            <a:off x="1698625" y="624840"/>
            <a:ext cx="6911340" cy="3611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代码走查</a:t>
            </a:r>
            <a:endParaRPr lang="zh-CN" altLang="en-US" sz="1400">
              <a:solidFill>
                <a:schemeClr val="tx1">
                  <a:lumMod val="65000"/>
                  <a:lumOff val="35000"/>
                </a:schemeClr>
              </a:solidFill>
              <a:cs typeface="+mn-ea"/>
              <a:sym typeface="+mn-lt"/>
            </a:endParaRPr>
          </a:p>
        </p:txBody>
      </p:sp>
      <p:pic>
        <p:nvPicPr>
          <p:cNvPr id="4" name="图片 3"/>
          <p:cNvPicPr>
            <a:picLocks noChangeAspect="1"/>
          </p:cNvPicPr>
          <p:nvPr/>
        </p:nvPicPr>
        <p:blipFill>
          <a:blip r:embed="rId1"/>
          <a:stretch>
            <a:fillRect/>
          </a:stretch>
        </p:blipFill>
        <p:spPr>
          <a:xfrm>
            <a:off x="1685290" y="472440"/>
            <a:ext cx="6362700" cy="39166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代码走查</a:t>
            </a:r>
            <a:endParaRPr lang="zh-CN" altLang="en-US" sz="1400">
              <a:solidFill>
                <a:schemeClr val="tx1">
                  <a:lumMod val="65000"/>
                  <a:lumOff val="35000"/>
                </a:schemeClr>
              </a:solidFill>
              <a:cs typeface="+mn-ea"/>
              <a:sym typeface="+mn-lt"/>
            </a:endParaRPr>
          </a:p>
        </p:txBody>
      </p:sp>
      <p:pic>
        <p:nvPicPr>
          <p:cNvPr id="3" name="图片 2"/>
          <p:cNvPicPr>
            <a:picLocks noChangeAspect="1"/>
          </p:cNvPicPr>
          <p:nvPr/>
        </p:nvPicPr>
        <p:blipFill>
          <a:blip r:embed="rId1"/>
          <a:stretch>
            <a:fillRect/>
          </a:stretch>
        </p:blipFill>
        <p:spPr>
          <a:xfrm>
            <a:off x="1605915" y="991870"/>
            <a:ext cx="6743700" cy="30022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descr="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
          <p:cNvSpPr/>
          <p:nvPr/>
        </p:nvSpPr>
        <p:spPr>
          <a:xfrm>
            <a:off x="395288" y="861400"/>
            <a:ext cx="2424223" cy="3643242"/>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36" name="文本框 35" descr="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
          <p:cNvSpPr txBox="1"/>
          <p:nvPr/>
        </p:nvSpPr>
        <p:spPr>
          <a:xfrm>
            <a:off x="3811191" y="1999602"/>
            <a:ext cx="848070" cy="861774"/>
          </a:xfrm>
          <a:prstGeom prst="rect">
            <a:avLst/>
          </a:prstGeom>
          <a:noFill/>
        </p:spPr>
        <p:txBody>
          <a:bodyPr wrap="square" rtlCol="0">
            <a:spAutoFit/>
          </a:bodyPr>
          <a:lstStyle/>
          <a:p>
            <a:pPr algn="ctr"/>
            <a:r>
              <a:rPr lang="en-US" altLang="zh-CN" sz="3200">
                <a:solidFill>
                  <a:schemeClr val="bg1"/>
                </a:solidFill>
                <a:cs typeface="+mn-ea"/>
                <a:sym typeface="+mn-lt"/>
              </a:rPr>
              <a:t>80</a:t>
            </a:r>
            <a:r>
              <a:rPr lang="en-US" altLang="zh-CN">
                <a:solidFill>
                  <a:schemeClr val="bg1"/>
                </a:solidFill>
                <a:cs typeface="+mn-ea"/>
                <a:sym typeface="+mn-lt"/>
              </a:rPr>
              <a:t>%</a:t>
            </a:r>
            <a:endParaRPr lang="en-US" altLang="zh-CN" sz="3200">
              <a:solidFill>
                <a:schemeClr val="bg1"/>
              </a:solidFill>
              <a:cs typeface="+mn-ea"/>
              <a:sym typeface="+mn-lt"/>
            </a:endParaRPr>
          </a:p>
        </p:txBody>
      </p:sp>
      <p:sp>
        <p:nvSpPr>
          <p:cNvPr id="51" name="矩形 50" descr="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
          <p:cNvSpPr/>
          <p:nvPr/>
        </p:nvSpPr>
        <p:spPr>
          <a:xfrm>
            <a:off x="3501756" y="3351289"/>
            <a:ext cx="1440979" cy="307777"/>
          </a:xfrm>
          <a:prstGeom prst="rect">
            <a:avLst/>
          </a:prstGeom>
        </p:spPr>
        <p:txBody>
          <a:bodyPr wrap="square">
            <a:spAutoFit/>
          </a:bodyPr>
          <a:lstStyle/>
          <a:p>
            <a:pPr algn="ctr"/>
            <a:r>
              <a:rPr lang="zh-CN" altLang="en-US" sz="1400">
                <a:solidFill>
                  <a:schemeClr val="bg1"/>
                </a:solidFill>
                <a:cs typeface="+mn-ea"/>
                <a:sym typeface="+mn-lt"/>
              </a:rPr>
              <a:t>市场数据分析</a:t>
            </a:r>
            <a:endParaRPr lang="zh-CN" altLang="en-US" sz="1400">
              <a:solidFill>
                <a:schemeClr val="bg1"/>
              </a:solidFill>
              <a:cs typeface="+mn-ea"/>
              <a:sym typeface="+mn-lt"/>
            </a:endParaRPr>
          </a:p>
        </p:txBody>
      </p:sp>
      <p:sp>
        <p:nvSpPr>
          <p:cNvPr id="52" name="矩形 51"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p:cNvSpPr/>
          <p:nvPr/>
        </p:nvSpPr>
        <p:spPr>
          <a:xfrm>
            <a:off x="3383213" y="3659066"/>
            <a:ext cx="1678064" cy="1304203"/>
          </a:xfrm>
          <a:prstGeom prst="rect">
            <a:avLst/>
          </a:prstGeom>
        </p:spPr>
        <p:txBody>
          <a:bodyPr wrap="square">
            <a:spAutoFit/>
          </a:bodyPr>
          <a:lstStyle/>
          <a:p>
            <a:pPr algn="ctr">
              <a:lnSpc>
                <a:spcPct val="150000"/>
              </a:lnSpc>
            </a:pPr>
            <a:r>
              <a:rPr lang="en-US" altLang="zh-CN" sz="1050">
                <a:solidFill>
                  <a:schemeClr val="bg1"/>
                </a:solidFill>
                <a:cs typeface="+mn-ea"/>
                <a:sym typeface="+mn-lt"/>
              </a:rPr>
              <a:t>Lorem ipsum dolor sit amet, consectetuer adipiscing elit. Aenean commodo ligula eget dolor. </a:t>
            </a:r>
            <a:endParaRPr lang="en-US" altLang="zh-CN" sz="1050">
              <a:solidFill>
                <a:schemeClr val="bg1"/>
              </a:solidFill>
              <a:cs typeface="+mn-ea"/>
              <a:sym typeface="+mn-lt"/>
            </a:endParaRPr>
          </a:p>
        </p:txBody>
      </p:sp>
      <p:sp>
        <p:nvSpPr>
          <p:cNvPr id="2" name="文本框 1"/>
          <p:cNvSpPr txBox="1"/>
          <p:nvPr/>
        </p:nvSpPr>
        <p:spPr>
          <a:xfrm>
            <a:off x="650875" y="1682750"/>
            <a:ext cx="1913890" cy="737235"/>
          </a:xfrm>
          <a:prstGeom prst="rect">
            <a:avLst/>
          </a:prstGeom>
          <a:noFill/>
        </p:spPr>
        <p:txBody>
          <a:bodyPr wrap="square" rtlCol="0">
            <a:spAutoFit/>
          </a:bodyPr>
          <a:p>
            <a:pPr fontAlgn="base">
              <a:lnSpc>
                <a:spcPct val="150000"/>
              </a:lnSpc>
              <a:spcBef>
                <a:spcPct val="0"/>
              </a:spcBef>
              <a:spcAft>
                <a:spcPct val="0"/>
              </a:spcAft>
              <a:defRPr/>
            </a:pPr>
            <a:endParaRPr lang="en-US" altLang="zh-CN" sz="1400">
              <a:solidFill>
                <a:schemeClr val="tx1">
                  <a:lumMod val="65000"/>
                  <a:lumOff val="35000"/>
                </a:schemeClr>
              </a:solidFill>
              <a:cs typeface="+mn-ea"/>
              <a:sym typeface="+mn-lt"/>
            </a:endParaRPr>
          </a:p>
          <a:p>
            <a:pPr fontAlgn="base">
              <a:lnSpc>
                <a:spcPct val="150000"/>
              </a:lnSpc>
              <a:spcBef>
                <a:spcPct val="0"/>
              </a:spcBef>
              <a:spcAft>
                <a:spcPct val="0"/>
              </a:spcAft>
              <a:defRPr/>
            </a:pPr>
            <a:r>
              <a:rPr lang="zh-CN" altLang="en-US" sz="1400">
                <a:solidFill>
                  <a:schemeClr val="tx1">
                    <a:lumMod val="65000"/>
                    <a:lumOff val="35000"/>
                  </a:schemeClr>
                </a:solidFill>
                <a:cs typeface="+mn-ea"/>
                <a:sym typeface="+mn-lt"/>
              </a:rPr>
              <a:t>代码走查</a:t>
            </a:r>
            <a:endParaRPr lang="zh-CN" altLang="en-US" sz="1400">
              <a:solidFill>
                <a:schemeClr val="tx1">
                  <a:lumMod val="65000"/>
                  <a:lumOff val="35000"/>
                </a:schemeClr>
              </a:solidFill>
              <a:cs typeface="+mn-ea"/>
              <a:sym typeface="+mn-lt"/>
            </a:endParaRPr>
          </a:p>
        </p:txBody>
      </p:sp>
      <p:pic>
        <p:nvPicPr>
          <p:cNvPr id="4" name="图片 3"/>
          <p:cNvPicPr>
            <a:picLocks noChangeAspect="1"/>
          </p:cNvPicPr>
          <p:nvPr/>
        </p:nvPicPr>
        <p:blipFill>
          <a:blip r:embed="rId1"/>
          <a:stretch>
            <a:fillRect/>
          </a:stretch>
        </p:blipFill>
        <p:spPr>
          <a:xfrm>
            <a:off x="2244725" y="370840"/>
            <a:ext cx="5455920" cy="41338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201379" y="205646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综合测试</a:t>
            </a:r>
            <a:endParaRPr lang="zh-CN" altLang="en-US" sz="4400" b="1" kern="0">
              <a:solidFill>
                <a:schemeClr val="accent3"/>
              </a:solidFill>
              <a:cs typeface="+mn-ea"/>
              <a:sym typeface="+mn-lt"/>
            </a:endParaRPr>
          </a:p>
        </p:txBody>
      </p:sp>
      <p:sp>
        <p:nvSpPr>
          <p:cNvPr id="2"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五</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52780" y="459740"/>
            <a:ext cx="5621655" cy="3322955"/>
          </a:xfrm>
          <a:prstGeom prst="rect">
            <a:avLst/>
          </a:prstGeom>
          <a:noFill/>
        </p:spPr>
        <p:txBody>
          <a:bodyPr wrap="square" rtlCol="0">
            <a:spAutoFit/>
          </a:bodyPr>
          <a:p>
            <a:r>
              <a:rPr lang="zh-CN" altLang="en-US"/>
              <a:t>测试计划：</a:t>
            </a:r>
            <a:endParaRPr lang="zh-CN" altLang="en-US"/>
          </a:p>
          <a:p>
            <a:r>
              <a:rPr lang="en-US" altLang="zh-CN" sz="1400"/>
              <a:t>	</a:t>
            </a:r>
            <a:r>
              <a:rPr lang="en-US" altLang="zh-CN" sz="1600"/>
              <a:t>1.</a:t>
            </a:r>
            <a:r>
              <a:rPr lang="zh-CN" altLang="en-US" sz="1600"/>
              <a:t>测试环境：</a:t>
            </a:r>
            <a:endParaRPr lang="zh-CN" altLang="en-US" sz="1600"/>
          </a:p>
          <a:p>
            <a:r>
              <a:rPr lang="en-US" altLang="zh-CN" sz="1600"/>
              <a:t>		测试现场名称：浙大城市学院计算学院</a:t>
            </a:r>
            <a:r>
              <a:rPr lang="zh-CN" altLang="en-US" sz="1600"/>
              <a:t>明德楼</a:t>
            </a:r>
            <a:r>
              <a:rPr lang="en-US" altLang="zh-CN" sz="1600"/>
              <a:t>410</a:t>
            </a:r>
            <a:endParaRPr lang="en-US" altLang="zh-CN" sz="1600"/>
          </a:p>
          <a:p>
            <a:r>
              <a:rPr lang="en-US" altLang="zh-CN" sz="1600"/>
              <a:t>		操作系统：windows 10</a:t>
            </a:r>
            <a:endParaRPr lang="en-US" altLang="zh-CN" sz="1600"/>
          </a:p>
          <a:p>
            <a:r>
              <a:rPr lang="en-US" altLang="zh-CN" sz="1600"/>
              <a:t>		编译程序：IDEA</a:t>
            </a:r>
            <a:endParaRPr lang="en-US" altLang="zh-CN" sz="1600"/>
          </a:p>
          <a:p>
            <a:r>
              <a:rPr lang="en-US" altLang="zh-CN" sz="1600"/>
              <a:t>		数据库：mysql 5.6</a:t>
            </a:r>
            <a:endParaRPr lang="en-US" altLang="zh-CN" sz="1600"/>
          </a:p>
          <a:p>
            <a:r>
              <a:rPr lang="en-US" altLang="zh-CN" sz="1600"/>
              <a:t>		浏览器：google chorme</a:t>
            </a:r>
            <a:endParaRPr lang="en-US" altLang="zh-CN" sz="1600"/>
          </a:p>
          <a:p>
            <a:r>
              <a:rPr lang="en-US" altLang="zh-CN" sz="1600"/>
              <a:t>		硬件：个人电脑</a:t>
            </a:r>
            <a:endParaRPr lang="en-US" altLang="zh-CN" sz="1600"/>
          </a:p>
          <a:p>
            <a:r>
              <a:rPr lang="en-US" altLang="zh-CN" sz="1600"/>
              <a:t>	2.</a:t>
            </a:r>
            <a:r>
              <a:rPr lang="zh-CN" altLang="en-US" sz="1600"/>
              <a:t>测试人员</a:t>
            </a:r>
            <a:r>
              <a:rPr lang="en-US" altLang="zh-CN" sz="1600"/>
              <a:t>	</a:t>
            </a:r>
            <a:endParaRPr lang="en-US" altLang="zh-CN" sz="1600"/>
          </a:p>
          <a:p>
            <a:r>
              <a:rPr lang="en-US" altLang="zh-CN" sz="1600"/>
              <a:t>	G19小组成员</a:t>
            </a:r>
            <a:endParaRPr lang="en-US" altLang="zh-CN" sz="1600"/>
          </a:p>
          <a:p>
            <a:r>
              <a:rPr lang="en-US" altLang="zh-CN" sz="1600"/>
              <a:t>	牛旷野为负责人和测试人员</a:t>
            </a:r>
            <a:endParaRPr lang="en-US" altLang="zh-CN" sz="1600"/>
          </a:p>
          <a:p>
            <a:r>
              <a:rPr lang="en-US" altLang="zh-CN" sz="1600"/>
              <a:t>	卢世逸为测试人员</a:t>
            </a:r>
            <a:endParaRPr lang="en-US" altLang="zh-CN" sz="1600"/>
          </a:p>
          <a:p>
            <a:r>
              <a:rPr lang="en-US" altLang="zh-CN" sz="1600"/>
              <a:t>	孟闻凯为测试人员和记录人员</a:t>
            </a:r>
            <a:endParaRPr lang="en-US" altLang="zh-CN" sz="16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63550" y="556260"/>
            <a:ext cx="6978650" cy="368300"/>
          </a:xfrm>
          <a:prstGeom prst="rect">
            <a:avLst/>
          </a:prstGeom>
          <a:noFill/>
        </p:spPr>
        <p:txBody>
          <a:bodyPr wrap="square" rtlCol="0">
            <a:spAutoFit/>
          </a:bodyPr>
          <a:p>
            <a:r>
              <a:rPr lang="zh-CN" altLang="en-US"/>
              <a:t>单元测试</a:t>
            </a:r>
            <a:r>
              <a:rPr lang="zh-CN" altLang="en-US"/>
              <a:t>：</a:t>
            </a:r>
            <a:endParaRPr lang="zh-CN" altLang="en-US" sz="1600"/>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pic>
        <p:nvPicPr>
          <p:cNvPr id="3" name="图片 2"/>
          <p:cNvPicPr>
            <a:picLocks noChangeAspect="1"/>
          </p:cNvPicPr>
          <p:nvPr/>
        </p:nvPicPr>
        <p:blipFill>
          <a:blip r:embed="rId1"/>
          <a:stretch>
            <a:fillRect/>
          </a:stretch>
        </p:blipFill>
        <p:spPr>
          <a:xfrm>
            <a:off x="575310" y="1809750"/>
            <a:ext cx="5013960" cy="2956560"/>
          </a:xfrm>
          <a:prstGeom prst="rect">
            <a:avLst/>
          </a:prstGeom>
        </p:spPr>
      </p:pic>
      <p:pic>
        <p:nvPicPr>
          <p:cNvPr id="4" name="图片 3"/>
          <p:cNvPicPr>
            <a:picLocks noChangeAspect="1"/>
          </p:cNvPicPr>
          <p:nvPr/>
        </p:nvPicPr>
        <p:blipFill>
          <a:blip r:embed="rId2"/>
          <a:stretch>
            <a:fillRect/>
          </a:stretch>
        </p:blipFill>
        <p:spPr>
          <a:xfrm>
            <a:off x="1961515" y="340360"/>
            <a:ext cx="3004820" cy="1318260"/>
          </a:xfrm>
          <a:prstGeom prst="rect">
            <a:avLst/>
          </a:prstGeom>
        </p:spPr>
      </p:pic>
      <p:pic>
        <p:nvPicPr>
          <p:cNvPr id="5" name="图片 4"/>
          <p:cNvPicPr>
            <a:picLocks noChangeAspect="1"/>
          </p:cNvPicPr>
          <p:nvPr/>
        </p:nvPicPr>
        <p:blipFill>
          <a:blip r:embed="rId3"/>
          <a:stretch>
            <a:fillRect/>
          </a:stretch>
        </p:blipFill>
        <p:spPr>
          <a:xfrm>
            <a:off x="4977765" y="340360"/>
            <a:ext cx="3878580" cy="1211580"/>
          </a:xfrm>
          <a:prstGeom prst="rect">
            <a:avLst/>
          </a:prstGeom>
        </p:spPr>
      </p:pic>
      <p:sp>
        <p:nvSpPr>
          <p:cNvPr id="6" name="文本框 5"/>
          <p:cNvSpPr txBox="1"/>
          <p:nvPr/>
        </p:nvSpPr>
        <p:spPr>
          <a:xfrm>
            <a:off x="5993765" y="3380105"/>
            <a:ext cx="2499995" cy="1198880"/>
          </a:xfrm>
          <a:prstGeom prst="rect">
            <a:avLst/>
          </a:prstGeom>
          <a:noFill/>
        </p:spPr>
        <p:txBody>
          <a:bodyPr wrap="square" rtlCol="0">
            <a:spAutoFit/>
          </a:bodyPr>
          <a:p>
            <a:r>
              <a:rPr lang="zh-CN" altLang="en-US"/>
              <a:t>引入</a:t>
            </a:r>
            <a:r>
              <a:rPr lang="en-US" altLang="zh-CN"/>
              <a:t>junit</a:t>
            </a:r>
            <a:r>
              <a:rPr lang="zh-CN" altLang="en-US"/>
              <a:t>的依赖后，创建项目的单元测试文件夹</a:t>
            </a:r>
            <a:r>
              <a:rPr lang="en-US" altLang="zh-CN"/>
              <a:t>src/test/java</a:t>
            </a:r>
            <a:endParaRPr lang="en-US" altLang="zh-CN"/>
          </a:p>
          <a:p>
            <a:r>
              <a:rPr lang="zh-CN" altLang="en-US"/>
              <a:t>在其中进行单元测试</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6" name="文本框 5"/>
          <p:cNvSpPr txBox="1"/>
          <p:nvPr/>
        </p:nvSpPr>
        <p:spPr>
          <a:xfrm>
            <a:off x="495300" y="405130"/>
            <a:ext cx="2499995" cy="645160"/>
          </a:xfrm>
          <a:prstGeom prst="rect">
            <a:avLst/>
          </a:prstGeom>
          <a:noFill/>
        </p:spPr>
        <p:txBody>
          <a:bodyPr wrap="square" rtlCol="0">
            <a:spAutoFit/>
          </a:bodyPr>
          <a:p>
            <a:r>
              <a:rPr lang="zh-CN"/>
              <a:t>对后台删除单个商品进行单元测试</a:t>
            </a:r>
            <a:endParaRPr lang="zh-CN"/>
          </a:p>
        </p:txBody>
      </p:sp>
      <p:pic>
        <p:nvPicPr>
          <p:cNvPr id="7" name="图片 6"/>
          <p:cNvPicPr>
            <a:picLocks noChangeAspect="1"/>
          </p:cNvPicPr>
          <p:nvPr/>
        </p:nvPicPr>
        <p:blipFill>
          <a:blip r:embed="rId1"/>
          <a:stretch>
            <a:fillRect/>
          </a:stretch>
        </p:blipFill>
        <p:spPr>
          <a:xfrm>
            <a:off x="393700" y="1050290"/>
            <a:ext cx="8121650" cy="1638300"/>
          </a:xfrm>
          <a:prstGeom prst="rect">
            <a:avLst/>
          </a:prstGeom>
        </p:spPr>
      </p:pic>
      <p:sp>
        <p:nvSpPr>
          <p:cNvPr id="8" name="文本框 7"/>
          <p:cNvSpPr txBox="1"/>
          <p:nvPr/>
        </p:nvSpPr>
        <p:spPr>
          <a:xfrm>
            <a:off x="575945" y="3072130"/>
            <a:ext cx="7259955" cy="645160"/>
          </a:xfrm>
          <a:prstGeom prst="rect">
            <a:avLst/>
          </a:prstGeom>
          <a:noFill/>
        </p:spPr>
        <p:txBody>
          <a:bodyPr wrap="square" rtlCol="0">
            <a:spAutoFit/>
          </a:bodyPr>
          <a:p>
            <a:r>
              <a:rPr lang="zh-CN"/>
              <a:t>该方法主要是读入前端传入的物品</a:t>
            </a:r>
            <a:r>
              <a:rPr lang="en-US" altLang="zh-CN"/>
              <a:t>id</a:t>
            </a:r>
            <a:r>
              <a:rPr lang="zh-CN" altLang="en-US"/>
              <a:t>值，执行通过物品</a:t>
            </a:r>
            <a:r>
              <a:rPr lang="en-US" altLang="zh-CN"/>
              <a:t>id</a:t>
            </a:r>
            <a:r>
              <a:rPr lang="zh-CN" altLang="en-US"/>
              <a:t>删除物品的方法，成功返回</a:t>
            </a:r>
            <a:r>
              <a:rPr lang="en-US" altLang="zh-CN"/>
              <a:t>1</a:t>
            </a:r>
            <a:r>
              <a:rPr lang="zh-CN" altLang="en-US"/>
              <a:t>，失败则返回</a:t>
            </a:r>
            <a:r>
              <a:rPr lang="en-US" altLang="zh-CN"/>
              <a:t>0</a:t>
            </a:r>
            <a:r>
              <a:rPr lang="zh-CN" altLang="en-US"/>
              <a:t>。</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8" name="文本框 7"/>
          <p:cNvSpPr txBox="1"/>
          <p:nvPr/>
        </p:nvSpPr>
        <p:spPr>
          <a:xfrm>
            <a:off x="407035" y="1632585"/>
            <a:ext cx="7259955" cy="645160"/>
          </a:xfrm>
          <a:prstGeom prst="rect">
            <a:avLst/>
          </a:prstGeom>
          <a:noFill/>
        </p:spPr>
        <p:txBody>
          <a:bodyPr wrap="square" rtlCol="0">
            <a:spAutoFit/>
          </a:bodyPr>
          <a:p>
            <a:r>
              <a:rPr lang="zh-CN"/>
              <a:t>我们传入一个与其他表有关联的物品</a:t>
            </a:r>
            <a:r>
              <a:rPr lang="en-US" altLang="zh-CN"/>
              <a:t>id24</a:t>
            </a:r>
            <a:r>
              <a:rPr lang="zh-CN" altLang="en-US"/>
              <a:t>，并用断言来期望他得到的返回值为</a:t>
            </a:r>
            <a:r>
              <a:rPr lang="en-US" altLang="zh-CN"/>
              <a:t>0</a:t>
            </a:r>
            <a:endParaRPr lang="zh-CN" altLang="en-US"/>
          </a:p>
        </p:txBody>
      </p:sp>
      <p:pic>
        <p:nvPicPr>
          <p:cNvPr id="2" name="图片 1"/>
          <p:cNvPicPr>
            <a:picLocks noChangeAspect="1"/>
          </p:cNvPicPr>
          <p:nvPr/>
        </p:nvPicPr>
        <p:blipFill>
          <a:blip r:embed="rId1"/>
          <a:stretch>
            <a:fillRect/>
          </a:stretch>
        </p:blipFill>
        <p:spPr>
          <a:xfrm>
            <a:off x="407035" y="416560"/>
            <a:ext cx="4122420" cy="1120140"/>
          </a:xfrm>
          <a:prstGeom prst="rect">
            <a:avLst/>
          </a:prstGeom>
        </p:spPr>
      </p:pic>
      <p:pic>
        <p:nvPicPr>
          <p:cNvPr id="3" name="图片 2"/>
          <p:cNvPicPr>
            <a:picLocks noChangeAspect="1"/>
          </p:cNvPicPr>
          <p:nvPr/>
        </p:nvPicPr>
        <p:blipFill>
          <a:blip r:embed="rId2"/>
          <a:stretch>
            <a:fillRect/>
          </a:stretch>
        </p:blipFill>
        <p:spPr>
          <a:xfrm>
            <a:off x="563880" y="2326005"/>
            <a:ext cx="2872740" cy="914400"/>
          </a:xfrm>
          <a:prstGeom prst="rect">
            <a:avLst/>
          </a:prstGeom>
        </p:spPr>
      </p:pic>
      <p:sp>
        <p:nvSpPr>
          <p:cNvPr id="4" name="文本框 3"/>
          <p:cNvSpPr txBox="1"/>
          <p:nvPr/>
        </p:nvSpPr>
        <p:spPr>
          <a:xfrm>
            <a:off x="638810" y="3349625"/>
            <a:ext cx="7259955" cy="645160"/>
          </a:xfrm>
          <a:prstGeom prst="rect">
            <a:avLst/>
          </a:prstGeom>
          <a:noFill/>
        </p:spPr>
        <p:txBody>
          <a:bodyPr wrap="square" rtlCol="0">
            <a:spAutoFit/>
          </a:bodyPr>
          <a:p>
            <a:r>
              <a:rPr lang="zh-CN"/>
              <a:t>执行了方法之后我们可以看到测试通过了，也就是说确实返回了</a:t>
            </a:r>
            <a:r>
              <a:rPr lang="en-US" altLang="zh-CN"/>
              <a:t>0</a:t>
            </a:r>
            <a:r>
              <a:rPr lang="zh-CN" altLang="en-US"/>
              <a:t>，因此这个单元测试用例就可以通过。</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63550" y="556260"/>
            <a:ext cx="6978650" cy="645160"/>
          </a:xfrm>
          <a:prstGeom prst="rect">
            <a:avLst/>
          </a:prstGeom>
          <a:noFill/>
        </p:spPr>
        <p:txBody>
          <a:bodyPr wrap="square" rtlCol="0">
            <a:spAutoFit/>
          </a:bodyPr>
          <a:p>
            <a:r>
              <a:rPr lang="zh-CN" altLang="en-US"/>
              <a:t>白盒测试：</a:t>
            </a:r>
            <a:endParaRPr lang="zh-CN" altLang="en-US"/>
          </a:p>
          <a:p>
            <a:r>
              <a:rPr lang="en-US" altLang="zh-CN"/>
              <a:t>	</a:t>
            </a:r>
            <a:r>
              <a:rPr lang="zh-CN" altLang="en-US" sz="1600"/>
              <a:t>例如：加入购物车功能</a:t>
            </a:r>
            <a:endParaRPr lang="zh-CN" altLang="en-US" sz="1600"/>
          </a:p>
        </p:txBody>
      </p:sp>
      <p:sp>
        <p:nvSpPr>
          <p:cNvPr id="3" name="文本框 2"/>
          <p:cNvSpPr txBox="1"/>
          <p:nvPr/>
        </p:nvSpPr>
        <p:spPr>
          <a:xfrm>
            <a:off x="354330" y="1201420"/>
            <a:ext cx="5147945" cy="3415030"/>
          </a:xfrm>
          <a:prstGeom prst="rect">
            <a:avLst/>
          </a:prstGeom>
          <a:noFill/>
        </p:spPr>
        <p:txBody>
          <a:bodyPr wrap="square" rtlCol="0">
            <a:spAutoFit/>
          </a:bodyPr>
          <a:p>
            <a:r>
              <a:rPr lang="zh-CN" altLang="en-US" sz="1200"/>
              <a:t>语句覆盖，则至少应设计如下测试用例。</a:t>
            </a:r>
            <a:endParaRPr lang="zh-CN" altLang="en-US" sz="1200"/>
          </a:p>
          <a:p>
            <a:r>
              <a:rPr lang="zh-CN" altLang="en-US" sz="1200"/>
              <a:t>1.未登录，未注册，购物车没有该商品</a:t>
            </a:r>
            <a:endParaRPr lang="zh-CN" altLang="en-US" sz="1200"/>
          </a:p>
          <a:p>
            <a:r>
              <a:rPr lang="zh-CN" altLang="en-US" sz="1200"/>
              <a:t>2.未登录，已注册，购物车已有该商品</a:t>
            </a:r>
            <a:endParaRPr lang="zh-CN" altLang="en-US" sz="1200"/>
          </a:p>
          <a:p>
            <a:r>
              <a:rPr lang="zh-CN" altLang="en-US" sz="1200"/>
              <a:t>这样程序就能保证每个语句都至少执行一次。</a:t>
            </a:r>
            <a:endParaRPr lang="zh-CN" altLang="en-US" sz="1200"/>
          </a:p>
          <a:p>
            <a:r>
              <a:rPr lang="zh-CN" altLang="en-US" sz="1200"/>
              <a:t>测试结果：通过</a:t>
            </a:r>
            <a:endParaRPr lang="zh-CN" altLang="en-US" sz="1200"/>
          </a:p>
          <a:p>
            <a:r>
              <a:rPr lang="zh-CN" altLang="en-US" sz="1200"/>
              <a:t>判定覆盖标准，则至少应设计如下测试用例。</a:t>
            </a:r>
            <a:endParaRPr lang="zh-CN" altLang="en-US" sz="1200"/>
          </a:p>
          <a:p>
            <a:r>
              <a:rPr lang="zh-CN" altLang="en-US" sz="1200"/>
              <a:t>1.已登录，购物车已有该商品</a:t>
            </a:r>
            <a:endParaRPr lang="zh-CN" altLang="en-US" sz="1200"/>
          </a:p>
          <a:p>
            <a:r>
              <a:rPr lang="zh-CN" altLang="en-US" sz="1200"/>
              <a:t>2.未登录，已注册，购物车没有该商品</a:t>
            </a:r>
            <a:endParaRPr lang="zh-CN" altLang="en-US" sz="1200"/>
          </a:p>
          <a:p>
            <a:r>
              <a:rPr lang="zh-CN" altLang="en-US" sz="1200"/>
              <a:t>3.未登录，未注册，购物车没有该商品</a:t>
            </a:r>
            <a:endParaRPr lang="zh-CN" altLang="en-US" sz="1200"/>
          </a:p>
          <a:p>
            <a:r>
              <a:rPr lang="zh-CN" altLang="en-US" sz="1200"/>
              <a:t>测试结果：通过</a:t>
            </a:r>
            <a:endParaRPr lang="zh-CN" altLang="en-US" sz="1200"/>
          </a:p>
          <a:p>
            <a:r>
              <a:rPr lang="zh-CN" altLang="en-US" sz="1200"/>
              <a:t>条件覆盖，测试用例应满足以下要求：</a:t>
            </a:r>
            <a:endParaRPr lang="zh-CN" altLang="en-US" sz="1200"/>
          </a:p>
          <a:p>
            <a:r>
              <a:rPr lang="zh-CN" altLang="en-US" sz="1200"/>
              <a:t>1.已登录，未登录</a:t>
            </a:r>
            <a:endParaRPr lang="zh-CN" altLang="en-US" sz="1200"/>
          </a:p>
          <a:p>
            <a:r>
              <a:rPr lang="zh-CN" altLang="en-US" sz="1200"/>
              <a:t>2.有账户，没有账户</a:t>
            </a:r>
            <a:endParaRPr lang="zh-CN" altLang="en-US" sz="1200"/>
          </a:p>
          <a:p>
            <a:r>
              <a:rPr lang="zh-CN" altLang="en-US" sz="1200"/>
              <a:t>3.已加入购物车，未加入购物车</a:t>
            </a:r>
            <a:endParaRPr lang="zh-CN" altLang="en-US" sz="1200"/>
          </a:p>
          <a:p>
            <a:r>
              <a:rPr lang="zh-CN" altLang="en-US" sz="1200"/>
              <a:t>以下测试样例是符合要求的</a:t>
            </a:r>
            <a:endParaRPr lang="zh-CN" altLang="en-US" sz="1200"/>
          </a:p>
          <a:p>
            <a:r>
              <a:rPr lang="zh-CN" altLang="en-US" sz="1200"/>
              <a:t>1.已登录，有账户，购物车已有该商品</a:t>
            </a:r>
            <a:endParaRPr lang="zh-CN" altLang="en-US" sz="1200"/>
          </a:p>
          <a:p>
            <a:r>
              <a:rPr lang="zh-CN" altLang="en-US" sz="1200"/>
              <a:t>2.未登录，没有账户，购物车没有该商品</a:t>
            </a:r>
            <a:endParaRPr lang="zh-CN" altLang="en-US" sz="1200"/>
          </a:p>
          <a:p>
            <a:r>
              <a:rPr lang="zh-CN" altLang="en-US" sz="1200"/>
              <a:t>测试结果：通过</a:t>
            </a:r>
            <a:endParaRPr lang="zh-CN" altLang="en-US" sz="1200"/>
          </a:p>
        </p:txBody>
      </p:sp>
      <p:pic>
        <p:nvPicPr>
          <p:cNvPr id="4" name="图片 1"/>
          <p:cNvPicPr>
            <a:picLocks noChangeAspect="1"/>
          </p:cNvPicPr>
          <p:nvPr/>
        </p:nvPicPr>
        <p:blipFill>
          <a:blip r:embed="rId1"/>
          <a:stretch>
            <a:fillRect/>
          </a:stretch>
        </p:blipFill>
        <p:spPr>
          <a:xfrm>
            <a:off x="5502275" y="310515"/>
            <a:ext cx="3333115" cy="44348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40690" y="325120"/>
            <a:ext cx="7291705" cy="337185"/>
          </a:xfrm>
          <a:prstGeom prst="rect">
            <a:avLst/>
          </a:prstGeom>
          <a:noFill/>
        </p:spPr>
        <p:txBody>
          <a:bodyPr wrap="square" rtlCol="0">
            <a:spAutoFit/>
          </a:bodyPr>
          <a:p>
            <a:pPr algn="l"/>
            <a:r>
              <a:rPr lang="zh-CN" altLang="en-US" sz="1600"/>
              <a:t>用户手册：</a:t>
            </a:r>
            <a:endParaRPr lang="zh-CN" altLang="en-US" sz="1600"/>
          </a:p>
        </p:txBody>
      </p:sp>
      <p:pic>
        <p:nvPicPr>
          <p:cNvPr id="5" name="图片 4"/>
          <p:cNvPicPr>
            <a:picLocks noChangeAspect="1"/>
          </p:cNvPicPr>
          <p:nvPr/>
        </p:nvPicPr>
        <p:blipFill>
          <a:blip r:embed="rId1"/>
          <a:stretch>
            <a:fillRect/>
          </a:stretch>
        </p:blipFill>
        <p:spPr>
          <a:xfrm>
            <a:off x="1870075" y="350520"/>
            <a:ext cx="4152265" cy="44424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40690" y="325120"/>
            <a:ext cx="7291705" cy="583565"/>
          </a:xfrm>
          <a:prstGeom prst="rect">
            <a:avLst/>
          </a:prstGeom>
          <a:noFill/>
        </p:spPr>
        <p:txBody>
          <a:bodyPr wrap="square" rtlCol="0">
            <a:spAutoFit/>
          </a:bodyPr>
          <a:p>
            <a:r>
              <a:rPr lang="zh-CN" altLang="en-US" sz="1600"/>
              <a:t>集成测试：</a:t>
            </a:r>
            <a:endParaRPr lang="zh-CN" altLang="en-US" sz="1600"/>
          </a:p>
          <a:p>
            <a:r>
              <a:rPr lang="en-US" altLang="zh-CN" sz="1600"/>
              <a:t>	</a:t>
            </a:r>
            <a:r>
              <a:rPr lang="zh-CN" altLang="en-US" sz="1600"/>
              <a:t>结构分解：</a:t>
            </a:r>
            <a:endParaRPr lang="zh-CN" altLang="en-US" sz="1600"/>
          </a:p>
        </p:txBody>
      </p:sp>
      <p:pic>
        <p:nvPicPr>
          <p:cNvPr id="21" name="图片 2"/>
          <p:cNvPicPr>
            <a:picLocks noChangeAspect="1"/>
          </p:cNvPicPr>
          <p:nvPr>
            <p:custDataLst>
              <p:tags r:id="rId1"/>
            </p:custDataLst>
          </p:nvPr>
        </p:nvPicPr>
        <p:blipFill>
          <a:blip r:embed="rId2"/>
          <a:stretch>
            <a:fillRect/>
          </a:stretch>
        </p:blipFill>
        <p:spPr>
          <a:xfrm>
            <a:off x="902970" y="908368"/>
            <a:ext cx="5262880" cy="1740535"/>
          </a:xfrm>
          <a:prstGeom prst="rect">
            <a:avLst/>
          </a:prstGeom>
          <a:noFill/>
          <a:ln>
            <a:noFill/>
          </a:ln>
        </p:spPr>
      </p:pic>
      <p:sp>
        <p:nvSpPr>
          <p:cNvPr id="3" name="文本框 2"/>
          <p:cNvSpPr txBox="1"/>
          <p:nvPr/>
        </p:nvSpPr>
        <p:spPr>
          <a:xfrm>
            <a:off x="6165850" y="908685"/>
            <a:ext cx="2816860" cy="1014730"/>
          </a:xfrm>
          <a:prstGeom prst="rect">
            <a:avLst/>
          </a:prstGeom>
          <a:noFill/>
        </p:spPr>
        <p:txBody>
          <a:bodyPr wrap="square" rtlCol="0">
            <a:spAutoFit/>
          </a:bodyPr>
          <a:p>
            <a:r>
              <a:rPr lang="zh-CN" altLang="en-US" sz="1200"/>
              <a:t>1.先对主控制模块进行测试</a:t>
            </a:r>
            <a:endParaRPr lang="zh-CN" altLang="en-US" sz="1200"/>
          </a:p>
          <a:p>
            <a:r>
              <a:rPr lang="zh-CN" altLang="en-US" sz="1200"/>
              <a:t>2.每次新加入一个模块后再次进行测试</a:t>
            </a:r>
            <a:endParaRPr lang="zh-CN" altLang="en-US" sz="1200"/>
          </a:p>
          <a:p>
            <a:r>
              <a:rPr lang="zh-CN" altLang="en-US" sz="1200"/>
              <a:t>3.在不断进行回归测试</a:t>
            </a:r>
            <a:endParaRPr lang="zh-CN" altLang="en-US" sz="1200"/>
          </a:p>
          <a:p>
            <a:r>
              <a:rPr lang="zh-CN" altLang="en-US" sz="1200"/>
              <a:t>4.重复以上步骤。</a:t>
            </a:r>
            <a:endParaRPr lang="zh-CN" altLang="en-US" sz="1200"/>
          </a:p>
          <a:p>
            <a:r>
              <a:rPr lang="zh-CN" altLang="en-US" sz="1200"/>
              <a:t>未发现各模块接口间存在的问题</a:t>
            </a:r>
            <a:endParaRPr lang="zh-CN" altLang="en-US" sz="1200"/>
          </a:p>
        </p:txBody>
      </p:sp>
      <p:graphicFrame>
        <p:nvGraphicFramePr>
          <p:cNvPr id="4" name="表格 3"/>
          <p:cNvGraphicFramePr/>
          <p:nvPr>
            <p:custDataLst>
              <p:tags r:id="rId3"/>
            </p:custDataLst>
          </p:nvPr>
        </p:nvGraphicFramePr>
        <p:xfrm>
          <a:off x="1010920" y="2807335"/>
          <a:ext cx="5307330" cy="1645920"/>
        </p:xfrm>
        <a:graphic>
          <a:graphicData uri="http://schemas.openxmlformats.org/drawingml/2006/table">
            <a:tbl>
              <a:tblPr firstRow="1" bandRow="1">
                <a:tableStyleId>{5940675A-B579-460E-94D1-54222C63F5DA}</a:tableStyleId>
              </a:tblPr>
              <a:tblGrid>
                <a:gridCol w="447675"/>
                <a:gridCol w="989013"/>
                <a:gridCol w="2970212"/>
                <a:gridCol w="900113"/>
              </a:tblGrid>
              <a:tr h="365760">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编号</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参与测试模块名称</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操作方法</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结果</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登录</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用户点击免费注册按钮跳转到注册界面，或者正确输入用户名密码，点击登录按钮跳转到主界面，开始使用；或者直接到主界面开始使用。</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2</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注册</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用户点击已有账号回到登录界面，或者输入完需要注册的用户名和密码点击注册按钮，回到登录界面。</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custDataLst>
              <p:tags r:id="rId1"/>
            </p:custDataLst>
          </p:nvPr>
        </p:nvGraphicFramePr>
        <p:xfrm>
          <a:off x="362585" y="374015"/>
          <a:ext cx="8395970" cy="2741295"/>
        </p:xfrm>
        <a:graphic>
          <a:graphicData uri="http://schemas.openxmlformats.org/drawingml/2006/table">
            <a:tbl>
              <a:tblPr firstRow="1" bandRow="1">
                <a:tableStyleId>{5940675A-B579-460E-94D1-54222C63F5DA}</a:tableStyleId>
              </a:tblPr>
              <a:tblGrid>
                <a:gridCol w="708025"/>
                <a:gridCol w="1564640"/>
                <a:gridCol w="4699000"/>
                <a:gridCol w="1424305"/>
              </a:tblGrid>
              <a:tr h="262890">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编号</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参与测试模块名称</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操作方法</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1">
                          <a:latin typeface="宋体" panose="02010600030101010101" pitchFamily="2" charset="-122"/>
                          <a:ea typeface="宋体" panose="02010600030101010101" pitchFamily="2" charset="-122"/>
                          <a:cs typeface="宋体" panose="02010600030101010101" pitchFamily="2" charset="-122"/>
                        </a:rPr>
                        <a:t>结果</a:t>
                      </a:r>
                      <a:endParaRPr lang="en-US" altLang="en-US" sz="12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3</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用户管理</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管理员在用户管理界面点击新增、删除、批量删除、修改按钮可以完成相应的功能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测试未通过，功能需完善</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4</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商品管理</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管理员在商品管理界面点击新增、删除、批量删除、修改按钮可以完成相应的功能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289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5</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订单管理</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管理员在订单管理界面点击相应按钮可以完成相应的功能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162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6</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商品审核</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管理员在商品审核界面点击通过按钮可以完成相应的功能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7</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购买</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买家用户点击购买按钮可以跳转购买界面进行商品数量的选择以及付款</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0855">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8</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购物车</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买家用户点击加入购物车按钮可以将商品加入购物车，并且可以在购物车中点击删除按钮进行删除，点击下单按钮进行购买</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9</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发布</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卖家用户点击发布按钮上传各项商品信息进行发布商品的编辑和上传，等待管理员用户审核</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4" name="表格 3"/>
          <p:cNvGraphicFramePr/>
          <p:nvPr>
            <p:custDataLst>
              <p:tags r:id="rId2"/>
            </p:custDataLst>
          </p:nvPr>
        </p:nvGraphicFramePr>
        <p:xfrm>
          <a:off x="342900" y="3128010"/>
          <a:ext cx="8413750" cy="1543050"/>
        </p:xfrm>
        <a:graphic>
          <a:graphicData uri="http://schemas.openxmlformats.org/drawingml/2006/table">
            <a:tbl>
              <a:tblPr firstRow="1" bandRow="1">
                <a:tableStyleId>{5940675A-B579-460E-94D1-54222C63F5DA}</a:tableStyleId>
              </a:tblPr>
              <a:tblGrid>
                <a:gridCol w="709295"/>
                <a:gridCol w="1569085"/>
                <a:gridCol w="4707890"/>
                <a:gridCol w="1427480"/>
              </a:tblGrid>
              <a:tr h="233045">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10</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修改</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用户在各个界面点击修改按钮可以完成相应的功能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3045">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11</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增加</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用户在各个界面点击新增按钮可以完成相应的功能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241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12</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批量删除</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用户在各个界面点击批量修改按钮可以完成相应的功能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3045">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13</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删除</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用户在各个界面点击删除按钮可以完成相应的功能</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8460">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14</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管理员用户在商品审核界面点击通过按钮可以通过卖家用户的发布请求，商品发布状态更新为待卖家确定发布状态</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3045">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15</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发布</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200" b="0">
                          <a:latin typeface="宋体" panose="02010600030101010101" pitchFamily="2" charset="-122"/>
                          <a:ea typeface="宋体" panose="02010600030101010101" pitchFamily="2" charset="-122"/>
                          <a:cs typeface="宋体" panose="02010600030101010101" pitchFamily="2" charset="-122"/>
                        </a:rPr>
                        <a:t>卖家用户再次点击发布按钮完成商品发布</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200" b="0">
                          <a:latin typeface="宋体" panose="02010600030101010101" pitchFamily="2" charset="-122"/>
                          <a:ea typeface="宋体" panose="02010600030101010101" pitchFamily="2" charset="-122"/>
                          <a:cs typeface="宋体" panose="02010600030101010101" pitchFamily="2" charset="-122"/>
                        </a:rPr>
                        <a:t>测试通过</a:t>
                      </a:r>
                      <a:endParaRPr lang="en-US" altLang="en-US" sz="12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6" name="文本框 5"/>
          <p:cNvSpPr txBox="1"/>
          <p:nvPr/>
        </p:nvSpPr>
        <p:spPr>
          <a:xfrm>
            <a:off x="407035" y="304165"/>
            <a:ext cx="5241925" cy="368300"/>
          </a:xfrm>
          <a:prstGeom prst="rect">
            <a:avLst/>
          </a:prstGeom>
          <a:noFill/>
        </p:spPr>
        <p:txBody>
          <a:bodyPr wrap="square" rtlCol="0">
            <a:spAutoFit/>
          </a:bodyPr>
          <a:p>
            <a:r>
              <a:rPr lang="zh-CN" altLang="en-US"/>
              <a:t>顶层</a:t>
            </a:r>
            <a:endParaRPr lang="zh-CN" altLang="en-US"/>
          </a:p>
        </p:txBody>
      </p:sp>
      <p:pic>
        <p:nvPicPr>
          <p:cNvPr id="2" name="图片 1"/>
          <p:cNvPicPr>
            <a:picLocks noChangeAspect="1"/>
          </p:cNvPicPr>
          <p:nvPr/>
        </p:nvPicPr>
        <p:blipFill>
          <a:blip r:embed="rId1"/>
          <a:stretch>
            <a:fillRect/>
          </a:stretch>
        </p:blipFill>
        <p:spPr>
          <a:xfrm>
            <a:off x="849313" y="817245"/>
            <a:ext cx="5273675" cy="3627120"/>
          </a:xfrm>
          <a:prstGeom prst="rect">
            <a:avLst/>
          </a:prstGeom>
          <a:noFill/>
          <a:ln>
            <a:noFill/>
          </a:ln>
        </p:spPr>
      </p:pic>
      <p:sp>
        <p:nvSpPr>
          <p:cNvPr id="4" name="文本框 3"/>
          <p:cNvSpPr txBox="1"/>
          <p:nvPr/>
        </p:nvSpPr>
        <p:spPr>
          <a:xfrm>
            <a:off x="2393315" y="448945"/>
            <a:ext cx="4069080" cy="368300"/>
          </a:xfrm>
          <a:prstGeom prst="rect">
            <a:avLst/>
          </a:prstGeom>
          <a:noFill/>
        </p:spPr>
        <p:txBody>
          <a:bodyPr wrap="none" rtlCol="0" anchor="t">
            <a:spAutoFit/>
          </a:bodyPr>
          <a:p>
            <a:r>
              <a:rPr lang="en-US">
                <a:latin typeface="宋体" panose="02010600030101010101" pitchFamily="2" charset="-122"/>
                <a:ea typeface="宋体" panose="02010600030101010101" pitchFamily="2" charset="-122"/>
                <a:cs typeface="宋体" panose="02010600030101010101" pitchFamily="2" charset="-122"/>
                <a:sym typeface="+mn-ea"/>
              </a:rPr>
              <a:t>用户点击免费注册按钮跳转到注册界面</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6" name="文本框 5"/>
          <p:cNvSpPr txBox="1"/>
          <p:nvPr/>
        </p:nvSpPr>
        <p:spPr>
          <a:xfrm>
            <a:off x="407035" y="304165"/>
            <a:ext cx="5241925" cy="368300"/>
          </a:xfrm>
          <a:prstGeom prst="rect">
            <a:avLst/>
          </a:prstGeom>
          <a:noFill/>
        </p:spPr>
        <p:txBody>
          <a:bodyPr wrap="square" rtlCol="0">
            <a:spAutoFit/>
          </a:bodyPr>
          <a:p>
            <a:r>
              <a:rPr lang="zh-CN" altLang="en-US"/>
              <a:t>顶层</a:t>
            </a:r>
            <a:endParaRPr lang="zh-CN" altLang="en-US"/>
          </a:p>
        </p:txBody>
      </p:sp>
      <p:sp>
        <p:nvSpPr>
          <p:cNvPr id="4" name="文本框 3"/>
          <p:cNvSpPr txBox="1"/>
          <p:nvPr/>
        </p:nvSpPr>
        <p:spPr>
          <a:xfrm>
            <a:off x="2393315" y="448945"/>
            <a:ext cx="5212080" cy="368300"/>
          </a:xfrm>
          <a:prstGeom prst="rect">
            <a:avLst/>
          </a:prstGeom>
          <a:noFill/>
        </p:spPr>
        <p:txBody>
          <a:bodyPr wrap="none" rtlCol="0" anchor="t">
            <a:spAutoFit/>
          </a:bodyPr>
          <a:p>
            <a:pPr algn="l"/>
            <a:r>
              <a:rPr lang="en-US">
                <a:latin typeface="宋体" panose="02010600030101010101" pitchFamily="2" charset="-122"/>
                <a:ea typeface="宋体" panose="02010600030101010101" pitchFamily="2" charset="-122"/>
                <a:cs typeface="宋体" panose="02010600030101010101" pitchFamily="2" charset="-122"/>
                <a:sym typeface="+mn-ea"/>
              </a:rPr>
              <a:t>正确输入用户名密码，点击登录按钮跳转到主界面</a:t>
            </a:r>
            <a:endParaRPr lang="zh-CN" altLang="en-US"/>
          </a:p>
        </p:txBody>
      </p:sp>
      <p:pic>
        <p:nvPicPr>
          <p:cNvPr id="3" name="图片 2"/>
          <p:cNvPicPr>
            <a:picLocks noChangeAspect="1"/>
          </p:cNvPicPr>
          <p:nvPr/>
        </p:nvPicPr>
        <p:blipFill>
          <a:blip r:embed="rId1"/>
          <a:stretch>
            <a:fillRect/>
          </a:stretch>
        </p:blipFill>
        <p:spPr>
          <a:xfrm>
            <a:off x="771208" y="780733"/>
            <a:ext cx="5271135" cy="361124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6" name="文本框 5"/>
          <p:cNvSpPr txBox="1"/>
          <p:nvPr/>
        </p:nvSpPr>
        <p:spPr>
          <a:xfrm>
            <a:off x="407035" y="304165"/>
            <a:ext cx="5241925" cy="368300"/>
          </a:xfrm>
          <a:prstGeom prst="rect">
            <a:avLst/>
          </a:prstGeom>
          <a:noFill/>
        </p:spPr>
        <p:txBody>
          <a:bodyPr wrap="square" rtlCol="0">
            <a:spAutoFit/>
          </a:bodyPr>
          <a:p>
            <a:r>
              <a:rPr lang="zh-CN" altLang="en-US"/>
              <a:t>顶层</a:t>
            </a:r>
            <a:endParaRPr lang="zh-CN" altLang="en-US"/>
          </a:p>
        </p:txBody>
      </p:sp>
      <p:sp>
        <p:nvSpPr>
          <p:cNvPr id="4" name="文本框 3"/>
          <p:cNvSpPr txBox="1"/>
          <p:nvPr/>
        </p:nvSpPr>
        <p:spPr>
          <a:xfrm>
            <a:off x="2393315" y="448945"/>
            <a:ext cx="2468880" cy="368300"/>
          </a:xfrm>
          <a:prstGeom prst="rect">
            <a:avLst/>
          </a:prstGeom>
          <a:noFill/>
        </p:spPr>
        <p:txBody>
          <a:bodyPr wrap="none" rtlCol="0" anchor="t">
            <a:spAutoFit/>
          </a:bodyPr>
          <a:p>
            <a:pPr algn="l"/>
            <a:r>
              <a:rPr lang="en-US">
                <a:latin typeface="宋体" panose="02010600030101010101" pitchFamily="2" charset="-122"/>
                <a:ea typeface="宋体" panose="02010600030101010101" pitchFamily="2" charset="-122"/>
                <a:cs typeface="宋体" panose="02010600030101010101" pitchFamily="2" charset="-122"/>
                <a:sym typeface="+mn-ea"/>
              </a:rPr>
              <a:t>直接到主界面开始使用</a:t>
            </a:r>
            <a:endParaRPr lang="zh-CN" altLang="en-US"/>
          </a:p>
        </p:txBody>
      </p:sp>
      <p:pic>
        <p:nvPicPr>
          <p:cNvPr id="2" name="图片 3"/>
          <p:cNvPicPr>
            <a:picLocks noChangeAspect="1"/>
          </p:cNvPicPr>
          <p:nvPr/>
        </p:nvPicPr>
        <p:blipFill>
          <a:blip r:embed="rId1"/>
          <a:stretch>
            <a:fillRect/>
          </a:stretch>
        </p:blipFill>
        <p:spPr>
          <a:xfrm>
            <a:off x="1610995" y="817245"/>
            <a:ext cx="5269230" cy="375539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6" name="文本框 5"/>
          <p:cNvSpPr txBox="1"/>
          <p:nvPr/>
        </p:nvSpPr>
        <p:spPr>
          <a:xfrm>
            <a:off x="407035" y="304165"/>
            <a:ext cx="5241925" cy="368300"/>
          </a:xfrm>
          <a:prstGeom prst="rect">
            <a:avLst/>
          </a:prstGeom>
          <a:noFill/>
        </p:spPr>
        <p:txBody>
          <a:bodyPr wrap="square" rtlCol="0">
            <a:spAutoFit/>
          </a:bodyPr>
          <a:p>
            <a:r>
              <a:rPr lang="zh-CN" altLang="en-US"/>
              <a:t>顶层</a:t>
            </a:r>
            <a:endParaRPr lang="zh-CN" altLang="en-US"/>
          </a:p>
        </p:txBody>
      </p:sp>
      <p:sp>
        <p:nvSpPr>
          <p:cNvPr id="4" name="文本框 3"/>
          <p:cNvSpPr txBox="1"/>
          <p:nvPr/>
        </p:nvSpPr>
        <p:spPr>
          <a:xfrm>
            <a:off x="1499870" y="381635"/>
            <a:ext cx="6583680" cy="645160"/>
          </a:xfrm>
          <a:prstGeom prst="rect">
            <a:avLst/>
          </a:prstGeom>
          <a:noFill/>
        </p:spPr>
        <p:txBody>
          <a:bodyPr wrap="none" rtlCol="0" anchor="t">
            <a:spAutoFit/>
          </a:bodyPr>
          <a:p>
            <a:pPr algn="l"/>
            <a:r>
              <a:rPr lang="en-US">
                <a:latin typeface="宋体" panose="02010600030101010101" pitchFamily="2" charset="-122"/>
                <a:ea typeface="宋体" panose="02010600030101010101" pitchFamily="2" charset="-122"/>
                <a:cs typeface="宋体" panose="02010600030101010101" pitchFamily="2" charset="-122"/>
                <a:sym typeface="+mn-ea"/>
              </a:rPr>
              <a:t>输入完需要注册的用户名和密码点击注册按钮，回到登录界面。</a:t>
            </a:r>
            <a:endParaRPr lang="en-US" altLang="en-US" b="0">
              <a:latin typeface="宋体" panose="02010600030101010101" pitchFamily="2" charset="-122"/>
              <a:ea typeface="宋体" panose="02010600030101010101" pitchFamily="2" charset="-122"/>
              <a:cs typeface="宋体" panose="02010600030101010101" pitchFamily="2" charset="-122"/>
            </a:endParaRPr>
          </a:p>
          <a:p>
            <a:pPr algn="l"/>
            <a:endParaRPr lang="zh-CN" altLang="en-US"/>
          </a:p>
        </p:txBody>
      </p:sp>
      <p:pic>
        <p:nvPicPr>
          <p:cNvPr id="29" name="图片 4"/>
          <p:cNvPicPr>
            <a:picLocks noChangeAspect="1"/>
          </p:cNvPicPr>
          <p:nvPr/>
        </p:nvPicPr>
        <p:blipFill>
          <a:blip r:embed="rId1"/>
          <a:stretch>
            <a:fillRect/>
          </a:stretch>
        </p:blipFill>
        <p:spPr>
          <a:xfrm>
            <a:off x="978535" y="1040765"/>
            <a:ext cx="6254115" cy="307467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40690" y="325120"/>
            <a:ext cx="7291705" cy="829945"/>
          </a:xfrm>
          <a:prstGeom prst="rect">
            <a:avLst/>
          </a:prstGeom>
          <a:noFill/>
        </p:spPr>
        <p:txBody>
          <a:bodyPr wrap="square" rtlCol="0">
            <a:spAutoFit/>
          </a:bodyPr>
          <a:p>
            <a:r>
              <a:rPr lang="zh-CN" altLang="en-US" sz="1600"/>
              <a:t>系统</a:t>
            </a:r>
            <a:r>
              <a:rPr lang="zh-CN" altLang="en-US" sz="1600"/>
              <a:t>测试：</a:t>
            </a:r>
            <a:endParaRPr lang="zh-CN" altLang="en-US" sz="1600"/>
          </a:p>
          <a:p>
            <a:r>
              <a:rPr lang="en-US" altLang="zh-CN" sz="1600"/>
              <a:t>	</a:t>
            </a:r>
            <a:r>
              <a:rPr lang="en-US" sz="1600">
                <a:sym typeface="+mn-ea"/>
              </a:rPr>
              <a:t>kaka</a:t>
            </a:r>
            <a:r>
              <a:rPr lang="zh-CN" altLang="en-US" sz="1600">
                <a:sym typeface="+mn-ea"/>
              </a:rPr>
              <a:t>网在线网站测试工具：</a:t>
            </a:r>
            <a:endParaRPr lang="zh-CN" altLang="en-US" sz="1600">
              <a:sym typeface="+mn-ea"/>
            </a:endParaRPr>
          </a:p>
          <a:p>
            <a:r>
              <a:rPr lang="en-US" altLang="zh-CN" sz="1600"/>
              <a:t>		</a:t>
            </a:r>
            <a:endParaRPr lang="en-US" altLang="zh-CN" sz="1600"/>
          </a:p>
        </p:txBody>
      </p:sp>
      <p:pic>
        <p:nvPicPr>
          <p:cNvPr id="7" name="图片 6"/>
          <p:cNvPicPr>
            <a:picLocks noChangeAspect="1"/>
          </p:cNvPicPr>
          <p:nvPr/>
        </p:nvPicPr>
        <p:blipFill>
          <a:blip r:embed="rId1"/>
          <a:stretch>
            <a:fillRect/>
          </a:stretch>
        </p:blipFill>
        <p:spPr>
          <a:xfrm>
            <a:off x="1485900" y="1155065"/>
            <a:ext cx="6029960" cy="33661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458470" y="1489075"/>
            <a:ext cx="4175760" cy="2165350"/>
          </a:xfrm>
          <a:prstGeom prst="rect">
            <a:avLst/>
          </a:prstGeom>
        </p:spPr>
      </p:pic>
      <p:pic>
        <p:nvPicPr>
          <p:cNvPr id="2" name="图片 1"/>
          <p:cNvPicPr>
            <a:picLocks noChangeAspect="1"/>
          </p:cNvPicPr>
          <p:nvPr/>
        </p:nvPicPr>
        <p:blipFill>
          <a:blip r:embed="rId2"/>
          <a:stretch>
            <a:fillRect/>
          </a:stretch>
        </p:blipFill>
        <p:spPr>
          <a:xfrm>
            <a:off x="4953000" y="1489075"/>
            <a:ext cx="3284220" cy="2462530"/>
          </a:xfrm>
          <a:prstGeom prst="rect">
            <a:avLst/>
          </a:prstGeom>
        </p:spPr>
      </p:pic>
      <p:sp>
        <p:nvSpPr>
          <p:cNvPr id="6" name="文本框 5"/>
          <p:cNvSpPr txBox="1"/>
          <p:nvPr/>
        </p:nvSpPr>
        <p:spPr>
          <a:xfrm>
            <a:off x="541655" y="353060"/>
            <a:ext cx="5241925" cy="368300"/>
          </a:xfrm>
          <a:prstGeom prst="rect">
            <a:avLst/>
          </a:prstGeom>
          <a:noFill/>
        </p:spPr>
        <p:txBody>
          <a:bodyPr wrap="square" rtlCol="0">
            <a:spAutoFit/>
          </a:bodyPr>
          <a:p>
            <a:r>
              <a:rPr lang="en-US"/>
              <a:t>kaka</a:t>
            </a:r>
            <a:r>
              <a:rPr lang="zh-CN" altLang="en-US"/>
              <a:t>网在线网站测试工具</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541655" y="353060"/>
            <a:ext cx="5241925" cy="368300"/>
          </a:xfrm>
          <a:prstGeom prst="rect">
            <a:avLst/>
          </a:prstGeom>
          <a:noFill/>
        </p:spPr>
        <p:txBody>
          <a:bodyPr wrap="square" rtlCol="0">
            <a:spAutoFit/>
          </a:bodyPr>
          <a:p>
            <a:r>
              <a:t>loadimpact</a:t>
            </a:r>
            <a:r>
              <a:rPr lang="zh-CN"/>
              <a:t>性能</a:t>
            </a:r>
            <a:r>
              <a:rPr lang="zh-CN" altLang="en-US"/>
              <a:t>测试工具</a:t>
            </a:r>
            <a:endParaRPr lang="zh-CN" altLang="en-US"/>
          </a:p>
        </p:txBody>
      </p:sp>
      <p:pic>
        <p:nvPicPr>
          <p:cNvPr id="3" name="图片 2"/>
          <p:cNvPicPr>
            <a:picLocks noChangeAspect="1"/>
          </p:cNvPicPr>
          <p:nvPr/>
        </p:nvPicPr>
        <p:blipFill>
          <a:blip r:embed="rId1"/>
          <a:stretch>
            <a:fillRect/>
          </a:stretch>
        </p:blipFill>
        <p:spPr>
          <a:xfrm>
            <a:off x="349250" y="721360"/>
            <a:ext cx="4385310" cy="1481455"/>
          </a:xfrm>
          <a:prstGeom prst="rect">
            <a:avLst/>
          </a:prstGeom>
        </p:spPr>
      </p:pic>
      <p:pic>
        <p:nvPicPr>
          <p:cNvPr id="2" name="图片 1"/>
          <p:cNvPicPr>
            <a:picLocks noChangeAspect="1"/>
          </p:cNvPicPr>
          <p:nvPr/>
        </p:nvPicPr>
        <p:blipFill>
          <a:blip r:embed="rId2"/>
          <a:stretch>
            <a:fillRect/>
          </a:stretch>
        </p:blipFill>
        <p:spPr>
          <a:xfrm>
            <a:off x="349250" y="2367280"/>
            <a:ext cx="4384675" cy="1663065"/>
          </a:xfrm>
          <a:prstGeom prst="rect">
            <a:avLst/>
          </a:prstGeom>
        </p:spPr>
      </p:pic>
      <p:pic>
        <p:nvPicPr>
          <p:cNvPr id="4" name="图片 3"/>
          <p:cNvPicPr>
            <a:picLocks noChangeAspect="1"/>
          </p:cNvPicPr>
          <p:nvPr/>
        </p:nvPicPr>
        <p:blipFill>
          <a:blip r:embed="rId3"/>
          <a:stretch>
            <a:fillRect/>
          </a:stretch>
        </p:blipFill>
        <p:spPr>
          <a:xfrm>
            <a:off x="4733925" y="628015"/>
            <a:ext cx="4131945" cy="38874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07390" y="424180"/>
            <a:ext cx="1325880" cy="645160"/>
          </a:xfrm>
          <a:prstGeom prst="rect">
            <a:avLst/>
          </a:prstGeom>
          <a:noFill/>
        </p:spPr>
        <p:txBody>
          <a:bodyPr wrap="none" rtlCol="0">
            <a:spAutoFit/>
          </a:bodyPr>
          <a:p>
            <a:r>
              <a:rPr lang="zh-CN" altLang="en-US"/>
              <a:t>测试结果：</a:t>
            </a:r>
            <a:endParaRPr lang="zh-CN" altLang="en-US"/>
          </a:p>
          <a:p>
            <a:r>
              <a:rPr lang="en-US" altLang="zh-CN"/>
              <a:t>	</a:t>
            </a:r>
            <a:endParaRPr lang="en-US" altLang="zh-CN"/>
          </a:p>
        </p:txBody>
      </p:sp>
      <p:sp>
        <p:nvSpPr>
          <p:cNvPr id="5" name="文本框 4"/>
          <p:cNvSpPr txBox="1"/>
          <p:nvPr/>
        </p:nvSpPr>
        <p:spPr>
          <a:xfrm>
            <a:off x="1674998" y="1371368"/>
            <a:ext cx="4689104" cy="2127634"/>
          </a:xfrm>
          <a:prstGeom prst="rect">
            <a:avLst/>
          </a:prstGeom>
          <a:noFill/>
        </p:spPr>
        <p:txBody>
          <a:bodyPr wrap="none" rtlCol="0">
            <a:spAutoFit/>
          </a:bodyPr>
          <a:p>
            <a:pPr>
              <a:lnSpc>
                <a:spcPct val="150000"/>
              </a:lnSpc>
            </a:pPr>
            <a:r>
              <a:rPr lang="en-US" altLang="zh-CN" dirty="0"/>
              <a:t>1</a:t>
            </a:r>
            <a:r>
              <a:rPr lang="zh-CN" altLang="en-US" dirty="0"/>
              <a:t>、各个功能基本都可以实现</a:t>
            </a:r>
            <a:endParaRPr lang="en-US" altLang="zh-CN" dirty="0"/>
          </a:p>
          <a:p>
            <a:pPr>
              <a:lnSpc>
                <a:spcPct val="150000"/>
              </a:lnSpc>
            </a:pPr>
            <a:r>
              <a:rPr lang="en-US" altLang="zh-CN" dirty="0"/>
              <a:t>2</a:t>
            </a:r>
            <a:r>
              <a:rPr lang="zh-CN" altLang="en-US" dirty="0"/>
              <a:t>、各个界面能够按预期跳转</a:t>
            </a:r>
            <a:endParaRPr lang="en-US" altLang="zh-CN" dirty="0"/>
          </a:p>
          <a:p>
            <a:pPr>
              <a:lnSpc>
                <a:spcPct val="150000"/>
              </a:lnSpc>
            </a:pPr>
            <a:r>
              <a:rPr lang="en-US" altLang="zh-CN" dirty="0"/>
              <a:t>3</a:t>
            </a:r>
            <a:r>
              <a:rPr lang="zh-CN" altLang="en-US" dirty="0"/>
              <a:t>、几乎能在所有安装有微信手机上正常使用</a:t>
            </a:r>
            <a:endParaRPr lang="en-US" altLang="zh-CN" dirty="0"/>
          </a:p>
          <a:p>
            <a:pPr>
              <a:lnSpc>
                <a:spcPct val="150000"/>
              </a:lnSpc>
            </a:pPr>
            <a:r>
              <a:rPr lang="en-US" altLang="zh-CN" dirty="0"/>
              <a:t>4</a:t>
            </a:r>
            <a:r>
              <a:rPr lang="zh-CN" altLang="en-US" dirty="0"/>
              <a:t>、数据库可以正常访问读写数据</a:t>
            </a:r>
            <a:endParaRPr lang="en-US" altLang="zh-CN" dirty="0"/>
          </a:p>
          <a:p>
            <a:pPr>
              <a:lnSpc>
                <a:spcPct val="150000"/>
              </a:lnSpc>
            </a:pPr>
            <a:r>
              <a:rPr lang="en-US" altLang="zh-CN" dirty="0"/>
              <a:t>5</a:t>
            </a:r>
            <a:r>
              <a:rPr lang="zh-CN" altLang="en-US" dirty="0"/>
              <a:t>、界面有待改善美观</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49275" y="491490"/>
            <a:ext cx="1424305" cy="368300"/>
          </a:xfrm>
          <a:prstGeom prst="rect">
            <a:avLst/>
          </a:prstGeom>
          <a:noFill/>
        </p:spPr>
        <p:txBody>
          <a:bodyPr wrap="square" rtlCol="0">
            <a:spAutoFit/>
          </a:bodyPr>
          <a:p>
            <a:r>
              <a:rPr lang="en-US" altLang="zh-CN"/>
              <a:t>Alpha</a:t>
            </a:r>
            <a:r>
              <a:rPr lang="zh-CN" altLang="en-US"/>
              <a:t>测试：</a:t>
            </a:r>
            <a:endParaRPr lang="zh-CN" altLang="en-US"/>
          </a:p>
        </p:txBody>
      </p:sp>
      <p:graphicFrame>
        <p:nvGraphicFramePr>
          <p:cNvPr id="3" name="表格 2"/>
          <p:cNvGraphicFramePr/>
          <p:nvPr>
            <p:custDataLst>
              <p:tags r:id="rId1"/>
            </p:custDataLst>
          </p:nvPr>
        </p:nvGraphicFramePr>
        <p:xfrm>
          <a:off x="2239645" y="1191800"/>
          <a:ext cx="5521325" cy="3759200"/>
        </p:xfrm>
        <a:graphic>
          <a:graphicData uri="http://schemas.openxmlformats.org/drawingml/2006/table">
            <a:tbl>
              <a:tblPr firstRow="1" bandRow="1">
                <a:tableStyleId>{5940675A-B579-460E-94D1-54222C63F5DA}</a:tableStyleId>
              </a:tblPr>
              <a:tblGrid>
                <a:gridCol w="635635"/>
                <a:gridCol w="552450"/>
                <a:gridCol w="803910"/>
                <a:gridCol w="1150620"/>
                <a:gridCol w="720090"/>
                <a:gridCol w="802005"/>
              </a:tblGrid>
              <a:tr h="23622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主题</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5">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项目测试访谈记录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3558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时间</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2020年12月19日 20：30</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地点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北秀电信营业厅</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36220">
                <a:tc row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受访人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姓名</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专业</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测试方法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记录整理人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622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软件工程</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Calibri" panose="020F0502020204030204" charset="0"/>
                          <a:cs typeface="Calibri" panose="020F0502020204030204" charset="0"/>
                        </a:rPr>
                        <a:t>A</a:t>
                      </a:r>
                      <a:r>
                        <a:rPr lang="en-US" sz="800" b="1">
                          <a:latin typeface="宋体" panose="02010600030101010101" pitchFamily="2" charset="-122"/>
                          <a:ea typeface="宋体" panose="02010600030101010101" pitchFamily="2" charset="-122"/>
                          <a:cs typeface="宋体" panose="02010600030101010101" pitchFamily="2" charset="-122"/>
                        </a:rPr>
                        <a:t>lpha测试</a:t>
                      </a:r>
                      <a:endParaRPr lang="en-US" altLang="en-US" sz="800" b="1">
                        <a:latin typeface="Calibri" panose="020F0502020204030204" charset="0"/>
                        <a:ea typeface="Calibri" panose="020F0502020204030204" charset="0"/>
                        <a:cs typeface="Calibri" panose="020F0502020204030204" charset="0"/>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 </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21920">
                <a:tc gridSpan="6">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访谈主要内容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67627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个人背景</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软件工程专业，项目内部人员</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42684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调研记录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界面略简陋，看着有点丑，还需要进行进一步的美化设计来提高用户观感体验功能初步完成但还需改进，很多功能不够流畅，还有些许bug不能很好地修复，有些功能稍有些别扭，还需要改进每次上架物品只能上传一张图片，希望以后能够完成多图上传，能够给用户带来更好的体验</a:t>
                      </a:r>
                      <a:r>
                        <a:rPr lang="en-US" sz="800" b="0">
                          <a:latin typeface="宋体" panose="02010600030101010101" pitchFamily="2" charset="-122"/>
                          <a:ea typeface="宋体" panose="02010600030101010101" pitchFamily="2" charset="-122"/>
                          <a:cs typeface="宋体" panose="02010600030101010101" pitchFamily="2" charset="-122"/>
                        </a:rPr>
                        <a:t> </a:t>
                      </a:r>
                      <a:endParaRPr lang="en-US" altLang="en-US" sz="800" b="1">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备注</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0">
                          <a:latin typeface="Calibri" panose="020F0502020204030204" charset="0"/>
                          <a:cs typeface="Calibri" panose="020F0502020204030204" charset="0"/>
                        </a:rPr>
                        <a:t> </a:t>
                      </a:r>
                      <a:endParaRPr lang="en-US" altLang="en-US" sz="8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备注</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endParaRPr lang="en-US" altLang="en-US" sz="8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custDataLst>
              <p:tags r:id="rId1"/>
            </p:custDataLst>
          </p:nvPr>
        </p:nvGraphicFramePr>
        <p:xfrm>
          <a:off x="1980565" y="853345"/>
          <a:ext cx="4664710" cy="3413125"/>
        </p:xfrm>
        <a:graphic>
          <a:graphicData uri="http://schemas.openxmlformats.org/drawingml/2006/table">
            <a:tbl>
              <a:tblPr firstRow="1" bandRow="1">
                <a:tableStyleId>{5940675A-B579-460E-94D1-54222C63F5DA}</a:tableStyleId>
              </a:tblPr>
              <a:tblGrid>
                <a:gridCol w="635635"/>
                <a:gridCol w="552450"/>
                <a:gridCol w="803910"/>
                <a:gridCol w="1150620"/>
                <a:gridCol w="720090"/>
                <a:gridCol w="802005"/>
              </a:tblGrid>
              <a:tr h="23622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主题</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5">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项目测试访谈记录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3558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时间</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2020年12月19日 20：30</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地点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北秀电信营业厅</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36220">
                <a:tc row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受访人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姓名</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专业</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测试方法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记录整理人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622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牛旷野</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软件工程</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Calibri" panose="020F0502020204030204" charset="0"/>
                          <a:cs typeface="Calibri" panose="020F0502020204030204" charset="0"/>
                        </a:rPr>
                        <a:t>A</a:t>
                      </a:r>
                      <a:r>
                        <a:rPr lang="en-US" sz="800" b="1">
                          <a:latin typeface="宋体" panose="02010600030101010101" pitchFamily="2" charset="-122"/>
                          <a:ea typeface="宋体" panose="02010600030101010101" pitchFamily="2" charset="-122"/>
                          <a:cs typeface="宋体" panose="02010600030101010101" pitchFamily="2" charset="-122"/>
                        </a:rPr>
                        <a:t>lpha测试</a:t>
                      </a:r>
                      <a:endParaRPr lang="en-US" altLang="en-US" sz="800" b="1">
                        <a:latin typeface="Calibri" panose="020F0502020204030204" charset="0"/>
                        <a:ea typeface="Calibri" panose="020F0502020204030204" charset="0"/>
                        <a:cs typeface="Calibri" panose="020F0502020204030204" charset="0"/>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 </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0">
                <a:tc gridSpan="6">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访谈主要内容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67627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个人背景</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软件工程专业，项目内部人员</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42684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调研记录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1）功能初步完成，但是比较粗糙，比如说界面不够美观，跳转不够快，各种操作不够舒适，这些都还需要改进（2）登录界面的输入框暂时没法固定，输入前在中间，点击但是没有输入的话会出现提示，然后输入框会右移，这个难以解决（3）些许bug有些难以处理</a:t>
                      </a:r>
                      <a:r>
                        <a:rPr lang="en-US" sz="800" b="0">
                          <a:latin typeface="Calibri" panose="020F0502020204030204" charset="0"/>
                          <a:cs typeface="Calibri" panose="020F0502020204030204" charset="0"/>
                        </a:rPr>
                        <a:t> </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备注</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0">
                          <a:latin typeface="Calibri" panose="020F0502020204030204" charset="0"/>
                          <a:cs typeface="Calibri" panose="020F0502020204030204" charset="0"/>
                        </a:rPr>
                        <a:t> </a:t>
                      </a:r>
                      <a:endParaRPr lang="en-US" altLang="en-US" sz="8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备注</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endParaRPr lang="en-US" altLang="en-US" sz="8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2032000" y="424815"/>
            <a:ext cx="5080000" cy="275590"/>
          </a:xfrm>
          <a:prstGeom prst="rect">
            <a:avLst/>
          </a:prstGeom>
          <a:noFill/>
          <a:ln w="9525">
            <a:noFill/>
          </a:ln>
        </p:spPr>
        <p:txBody>
          <a:bodyPr>
            <a:spAutoFit/>
          </a:bodyPr>
          <a:p>
            <a:pPr indent="0"/>
            <a:r>
              <a:rPr lang="en-US" sz="1200" b="0">
                <a:latin typeface="Calibri" panose="020F0502020204030204" charset="0"/>
                <a:ea typeface="宋体" panose="02010600030101010101" pitchFamily="2" charset="-122"/>
                <a:cs typeface="Times New Roman" panose="02020603050405020304" pitchFamily="18" charset="0"/>
              </a:rPr>
              <a:t> </a:t>
            </a:r>
            <a:endParaRPr lang="zh-CN" altLang="en-US"/>
          </a:p>
        </p:txBody>
      </p:sp>
      <p:graphicFrame>
        <p:nvGraphicFramePr>
          <p:cNvPr id="2" name="表格 1"/>
          <p:cNvGraphicFramePr/>
          <p:nvPr>
            <p:custDataLst>
              <p:tags r:id="rId1"/>
            </p:custDataLst>
          </p:nvPr>
        </p:nvGraphicFramePr>
        <p:xfrm>
          <a:off x="1729740" y="585470"/>
          <a:ext cx="5521325" cy="4018280"/>
        </p:xfrm>
        <a:graphic>
          <a:graphicData uri="http://schemas.openxmlformats.org/drawingml/2006/table">
            <a:tbl>
              <a:tblPr firstRow="1" bandRow="1">
                <a:tableStyleId>{5940675A-B579-460E-94D1-54222C63F5DA}</a:tableStyleId>
              </a:tblPr>
              <a:tblGrid>
                <a:gridCol w="752475"/>
                <a:gridCol w="654050"/>
                <a:gridCol w="950913"/>
                <a:gridCol w="1362075"/>
                <a:gridCol w="852487"/>
                <a:gridCol w="949325"/>
              </a:tblGrid>
              <a:tr h="279400">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主题</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5">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项目测试访谈记录</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79400">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时间</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2020年12月19日 20：30</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地点</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北秀电信营业厅</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79400">
                <a:tc rowSpan="2">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受访人</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姓名</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专业</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测试方法</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访谈人</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记录整理人</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7940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孟闻凯</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软件工程</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Calibri" panose="020F0502020204030204" charset="0"/>
                          <a:cs typeface="Calibri" panose="020F0502020204030204" charset="0"/>
                        </a:rPr>
                        <a:t>A</a:t>
                      </a:r>
                      <a:r>
                        <a:rPr lang="en-US" sz="900" b="1">
                          <a:latin typeface="宋体" panose="02010600030101010101" pitchFamily="2" charset="-122"/>
                          <a:ea typeface="宋体" panose="02010600030101010101" pitchFamily="2" charset="-122"/>
                          <a:cs typeface="宋体" panose="02010600030101010101" pitchFamily="2" charset="-122"/>
                        </a:rPr>
                        <a:t>lpha测试</a:t>
                      </a:r>
                      <a:endParaRPr lang="en-US" altLang="en-US" sz="900" b="1">
                        <a:latin typeface="Calibri" panose="020F0502020204030204" charset="0"/>
                        <a:ea typeface="Calibri" panose="020F0502020204030204" charset="0"/>
                        <a:cs typeface="Calibri" panose="020F0502020204030204" charset="0"/>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 </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卢世逸</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0">
                <a:tc gridSpan="6">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访谈主要内容</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800100">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个人背景</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软件工程专业，项目内部人员</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689100">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调研记录</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900" b="1">
                          <a:latin typeface="宋体" panose="02010600030101010101" pitchFamily="2" charset="-122"/>
                          <a:ea typeface="宋体" panose="02010600030101010101" pitchFamily="2" charset="-122"/>
                          <a:cs typeface="宋体" panose="02010600030101010101" pitchFamily="2" charset="-122"/>
                        </a:rPr>
                        <a:t>（1）界面虽然简单，但是能够简单明了地包含网站的功能，各项功能都能跑起来，个人感觉还不赖（2）各项跳转等能够顺利完成，可能稍微慢点，但是能够完成跳转</a:t>
                      </a:r>
                      <a:r>
                        <a:rPr lang="en-US" sz="900" b="0">
                          <a:latin typeface="Calibri" panose="020F0502020204030204" charset="0"/>
                          <a:cs typeface="Calibri" panose="020F0502020204030204" charset="0"/>
                        </a:rPr>
                        <a:t> </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0">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备注</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900" b="0">
                          <a:latin typeface="Calibri" panose="020F0502020204030204" charset="0"/>
                          <a:cs typeface="Calibri" panose="020F0502020204030204" charset="0"/>
                        </a:rPr>
                        <a:t> </a:t>
                      </a:r>
                      <a:endParaRPr lang="en-US" altLang="en-US" sz="9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0">
                <a:tc>
                  <a:txBody>
                    <a:bodyPr/>
                    <a:p>
                      <a:pPr indent="0" algn="ctr">
                        <a:buNone/>
                      </a:pPr>
                      <a:r>
                        <a:rPr lang="en-US" sz="900" b="1">
                          <a:latin typeface="宋体" panose="02010600030101010101" pitchFamily="2" charset="-122"/>
                          <a:ea typeface="宋体" panose="02010600030101010101" pitchFamily="2" charset="-122"/>
                          <a:cs typeface="宋体" panose="02010600030101010101" pitchFamily="2" charset="-122"/>
                        </a:rPr>
                        <a:t>备注</a:t>
                      </a:r>
                      <a:endParaRPr lang="en-US" altLang="en-US" sz="9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endParaRPr lang="en-US" altLang="en-US" sz="9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07390" y="424180"/>
            <a:ext cx="2496185" cy="645160"/>
          </a:xfrm>
          <a:prstGeom prst="rect">
            <a:avLst/>
          </a:prstGeom>
          <a:noFill/>
        </p:spPr>
        <p:txBody>
          <a:bodyPr wrap="none" rtlCol="0">
            <a:spAutoFit/>
          </a:bodyPr>
          <a:p>
            <a:r>
              <a:rPr lang="en-US" altLang="zh-CN"/>
              <a:t>Beta</a:t>
            </a:r>
            <a:r>
              <a:rPr lang="zh-CN" altLang="en-US"/>
              <a:t>测试及</a:t>
            </a:r>
            <a:r>
              <a:rPr lang="zh-CN" altLang="en-US"/>
              <a:t>用户反馈</a:t>
            </a:r>
            <a:r>
              <a:rPr lang="zh-CN" altLang="en-US"/>
              <a:t>：</a:t>
            </a:r>
            <a:endParaRPr lang="zh-CN" altLang="en-US"/>
          </a:p>
          <a:p>
            <a:r>
              <a:rPr lang="en-US" altLang="zh-CN"/>
              <a:t>	</a:t>
            </a:r>
            <a:endParaRPr lang="en-US" altLang="zh-CN"/>
          </a:p>
        </p:txBody>
      </p:sp>
      <p:graphicFrame>
        <p:nvGraphicFramePr>
          <p:cNvPr id="4" name="表格 3"/>
          <p:cNvGraphicFramePr/>
          <p:nvPr>
            <p:custDataLst>
              <p:tags r:id="rId1"/>
            </p:custDataLst>
          </p:nvPr>
        </p:nvGraphicFramePr>
        <p:xfrm>
          <a:off x="1884363" y="1069562"/>
          <a:ext cx="4829175" cy="3398520"/>
        </p:xfrm>
        <a:graphic>
          <a:graphicData uri="http://schemas.openxmlformats.org/drawingml/2006/table">
            <a:tbl>
              <a:tblPr firstRow="1" bandRow="1">
                <a:tableStyleId>{5940675A-B579-460E-94D1-54222C63F5DA}</a:tableStyleId>
              </a:tblPr>
              <a:tblGrid>
                <a:gridCol w="657860"/>
                <a:gridCol w="572135"/>
                <a:gridCol w="832485"/>
                <a:gridCol w="1191260"/>
                <a:gridCol w="744855"/>
                <a:gridCol w="830580"/>
              </a:tblGrid>
              <a:tr h="24447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主题</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5">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项目测试访谈记录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4447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时间</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2020年12月27日 20：30</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地点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北秀电信营业厅</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44475">
                <a:tc row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受访人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姓名</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专业</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测试方法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记录整理人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384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杜洋洋</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信管</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Beta测试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20015">
                <a:tc gridSpan="6">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访谈主要内容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69977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个人背景</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信管专业18级女生</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47764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调研记录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功能简单易懂，上手快，用过淘宝等网站的人很快就能掌握怎么用，管理员用户也还算好用整体设计相对不够美观，界面还可以再改进各项功能还需要完善，bug尽量修复会更好</a:t>
                      </a:r>
                      <a:r>
                        <a:rPr lang="en-US" sz="800" b="1">
                          <a:latin typeface="Calibri" panose="020F0502020204030204" charset="0"/>
                          <a:cs typeface="Calibri" panose="020F0502020204030204" charset="0"/>
                        </a:rPr>
                        <a:t> </a:t>
                      </a:r>
                      <a:endParaRPr lang="en-US" altLang="en-US" sz="800" b="1">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2001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备注</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endParaRPr lang="en-US" altLang="en-US" sz="8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custDataLst>
              <p:tags r:id="rId1"/>
            </p:custDataLst>
          </p:nvPr>
        </p:nvGraphicFramePr>
        <p:xfrm>
          <a:off x="2042478" y="997172"/>
          <a:ext cx="4829175" cy="3398520"/>
        </p:xfrm>
        <a:graphic>
          <a:graphicData uri="http://schemas.openxmlformats.org/drawingml/2006/table">
            <a:tbl>
              <a:tblPr firstRow="1" bandRow="1">
                <a:tableStyleId>{5940675A-B579-460E-94D1-54222C63F5DA}</a:tableStyleId>
              </a:tblPr>
              <a:tblGrid>
                <a:gridCol w="657860"/>
                <a:gridCol w="572135"/>
                <a:gridCol w="832485"/>
                <a:gridCol w="1191260"/>
                <a:gridCol w="744855"/>
                <a:gridCol w="830580"/>
              </a:tblGrid>
              <a:tr h="24447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主题</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5">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项目测试访谈记录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4447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时间</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2020年12月27日 20：30</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地点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线上</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44475">
                <a:tc row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受访人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姓名</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专业</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测试方法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记录整理人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384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郑濯沅</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计算机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Beta测试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20015">
                <a:tc gridSpan="6">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访谈主要内容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69977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个人背景</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外校计算机专业18级男生</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47764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调研记录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（1）功能简陋，只能实现最简单的功能，不过也是能力限制（2）Bug有点多，尽你所能去完善吧（3）各项功能还需要完善</a:t>
                      </a:r>
                      <a:r>
                        <a:rPr lang="en-US" sz="800" b="1">
                          <a:latin typeface="Calibri" panose="020F0502020204030204" charset="0"/>
                          <a:cs typeface="Calibri" panose="020F0502020204030204" charset="0"/>
                        </a:rPr>
                        <a:t> </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2001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备注</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endParaRPr lang="en-US" altLang="en-US" sz="8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表格 2"/>
          <p:cNvGraphicFramePr/>
          <p:nvPr>
            <p:custDataLst>
              <p:tags r:id="rId1"/>
            </p:custDataLst>
          </p:nvPr>
        </p:nvGraphicFramePr>
        <p:xfrm>
          <a:off x="1961198" y="924147"/>
          <a:ext cx="4829175" cy="3398520"/>
        </p:xfrm>
        <a:graphic>
          <a:graphicData uri="http://schemas.openxmlformats.org/drawingml/2006/table">
            <a:tbl>
              <a:tblPr firstRow="1" bandRow="1">
                <a:tableStyleId>{5940675A-B579-460E-94D1-54222C63F5DA}</a:tableStyleId>
              </a:tblPr>
              <a:tblGrid>
                <a:gridCol w="657860"/>
                <a:gridCol w="572135"/>
                <a:gridCol w="832485"/>
                <a:gridCol w="1191260"/>
                <a:gridCol w="744855"/>
                <a:gridCol w="830580"/>
              </a:tblGrid>
              <a:tr h="24447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主题</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5">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项目测试访谈记录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4447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时间</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2020年12月27日 20：30</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地点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grid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北秀电信营业厅</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44475">
                <a:tc rowSpan="2">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受访人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姓名</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专业</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测试方法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记录整理人</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3840">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毛李逸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电信</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Beta测试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卢世逸</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20015">
                <a:tc gridSpan="6">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访谈主要内容</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0C0C0"/>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699770">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个人背景</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外校计算机专业18级男生</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47764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调研记录</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r>
                        <a:rPr lang="en-US" sz="800" b="1">
                          <a:latin typeface="宋体" panose="02010600030101010101" pitchFamily="2" charset="-122"/>
                          <a:ea typeface="宋体" panose="02010600030101010101" pitchFamily="2" charset="-122"/>
                          <a:cs typeface="宋体" panose="02010600030101010101" pitchFamily="2" charset="-122"/>
                        </a:rPr>
                        <a:t>界面交互良好，看着还不错基本功能实现，用户能够实现购买，上架等流程，管理员的功能也很完善</a:t>
                      </a:r>
                      <a:r>
                        <a:rPr lang="en-US" sz="800" b="1">
                          <a:latin typeface="Calibri" panose="020F0502020204030204" charset="0"/>
                          <a:cs typeface="Calibri" panose="020F0502020204030204" charset="0"/>
                        </a:rPr>
                        <a:t> </a:t>
                      </a:r>
                      <a:endParaRPr lang="en-US" altLang="en-US" sz="800" b="1">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20015">
                <a:tc>
                  <a:txBody>
                    <a:bodyPr/>
                    <a:p>
                      <a:pPr indent="0" algn="ctr">
                        <a:buNone/>
                      </a:pPr>
                      <a:r>
                        <a:rPr lang="en-US" sz="800" b="1">
                          <a:latin typeface="宋体" panose="02010600030101010101" pitchFamily="2" charset="-122"/>
                          <a:ea typeface="宋体" panose="02010600030101010101" pitchFamily="2" charset="-122"/>
                          <a:cs typeface="宋体" panose="02010600030101010101" pitchFamily="2" charset="-122"/>
                        </a:rPr>
                        <a:t>备注</a:t>
                      </a:r>
                      <a:endParaRPr lang="en-US" altLang="en-US" sz="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5">
                  <a:txBody>
                    <a:bodyPr/>
                    <a:p>
                      <a:pPr indent="0">
                        <a:buNone/>
                      </a:pPr>
                      <a:endParaRPr lang="en-US" altLang="en-US" sz="8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配置管理</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64795" y="1103630"/>
            <a:ext cx="1911985" cy="1106170"/>
          </a:xfrm>
          <a:prstGeom prst="rect">
            <a:avLst/>
          </a:prstGeom>
        </p:spPr>
      </p:pic>
      <p:pic>
        <p:nvPicPr>
          <p:cNvPr id="8" name="图片 7"/>
          <p:cNvPicPr>
            <a:picLocks noChangeAspect="1"/>
          </p:cNvPicPr>
          <p:nvPr/>
        </p:nvPicPr>
        <p:blipFill>
          <a:blip r:embed="rId2"/>
          <a:stretch>
            <a:fillRect/>
          </a:stretch>
        </p:blipFill>
        <p:spPr>
          <a:xfrm>
            <a:off x="6033135" y="304165"/>
            <a:ext cx="2285365" cy="2241550"/>
          </a:xfrm>
          <a:prstGeom prst="rect">
            <a:avLst/>
          </a:prstGeom>
        </p:spPr>
      </p:pic>
      <p:pic>
        <p:nvPicPr>
          <p:cNvPr id="9" name="图片 8"/>
          <p:cNvPicPr>
            <a:picLocks noChangeAspect="1"/>
          </p:cNvPicPr>
          <p:nvPr/>
        </p:nvPicPr>
        <p:blipFill>
          <a:blip r:embed="rId3"/>
          <a:stretch>
            <a:fillRect/>
          </a:stretch>
        </p:blipFill>
        <p:spPr>
          <a:xfrm>
            <a:off x="2176780" y="304165"/>
            <a:ext cx="3856355" cy="2579370"/>
          </a:xfrm>
          <a:prstGeom prst="rect">
            <a:avLst/>
          </a:prstGeom>
        </p:spPr>
      </p:pic>
      <p:sp>
        <p:nvSpPr>
          <p:cNvPr id="11" name="文本框 10"/>
          <p:cNvSpPr txBox="1"/>
          <p:nvPr/>
        </p:nvSpPr>
        <p:spPr>
          <a:xfrm>
            <a:off x="557530" y="458470"/>
            <a:ext cx="1325880" cy="645160"/>
          </a:xfrm>
          <a:prstGeom prst="rect">
            <a:avLst/>
          </a:prstGeom>
          <a:noFill/>
        </p:spPr>
        <p:txBody>
          <a:bodyPr wrap="none" rtlCol="0">
            <a:spAutoFit/>
          </a:bodyPr>
          <a:p>
            <a:r>
              <a:rPr lang="zh-CN" altLang="en-US"/>
              <a:t>配置管理</a:t>
            </a:r>
            <a:r>
              <a:rPr lang="zh-CN" altLang="en-US"/>
              <a:t>：</a:t>
            </a:r>
            <a:endParaRPr lang="zh-CN" altLang="en-US"/>
          </a:p>
          <a:p>
            <a:r>
              <a:rPr lang="en-US" altLang="zh-CN"/>
              <a:t>	</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会议纪要</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960755" y="316865"/>
            <a:ext cx="6149340" cy="1303020"/>
          </a:xfrm>
          <a:prstGeom prst="rect">
            <a:avLst/>
          </a:prstGeom>
        </p:spPr>
      </p:pic>
      <p:pic>
        <p:nvPicPr>
          <p:cNvPr id="4" name="图片 3"/>
          <p:cNvPicPr>
            <a:picLocks noChangeAspect="1"/>
          </p:cNvPicPr>
          <p:nvPr/>
        </p:nvPicPr>
        <p:blipFill>
          <a:blip r:embed="rId2"/>
          <a:stretch>
            <a:fillRect/>
          </a:stretch>
        </p:blipFill>
        <p:spPr>
          <a:xfrm>
            <a:off x="303530" y="1783080"/>
            <a:ext cx="3874770" cy="2929255"/>
          </a:xfrm>
          <a:prstGeom prst="rect">
            <a:avLst/>
          </a:prstGeom>
        </p:spPr>
      </p:pic>
      <p:pic>
        <p:nvPicPr>
          <p:cNvPr id="5" name="图片 4"/>
          <p:cNvPicPr>
            <a:picLocks noChangeAspect="1"/>
          </p:cNvPicPr>
          <p:nvPr/>
        </p:nvPicPr>
        <p:blipFill>
          <a:blip r:embed="rId3"/>
          <a:stretch>
            <a:fillRect/>
          </a:stretch>
        </p:blipFill>
        <p:spPr>
          <a:xfrm>
            <a:off x="4500880" y="1619885"/>
            <a:ext cx="3932555" cy="29146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成员评价</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custDataLst>
              <p:tags r:id="rId1"/>
            </p:custDataLst>
          </p:nvPr>
        </p:nvGraphicFramePr>
        <p:xfrm>
          <a:off x="259715" y="755015"/>
          <a:ext cx="1254760" cy="4051935"/>
        </p:xfrm>
        <a:graphic>
          <a:graphicData uri="http://schemas.openxmlformats.org/drawingml/2006/table">
            <a:tbl>
              <a:tblPr firstRow="1" bandRow="1">
                <a:tableStyleId>{5C22544A-7EE6-4342-B048-85BDC9FD1C3A}</a:tableStyleId>
              </a:tblPr>
              <a:tblGrid>
                <a:gridCol w="756285"/>
                <a:gridCol w="498475"/>
              </a:tblGrid>
              <a:tr h="1097280">
                <a:tc>
                  <a:txBody>
                    <a:bodyPr/>
                    <a:p>
                      <a:pPr>
                        <a:buNone/>
                      </a:pPr>
                      <a:endParaRPr lang="zh-CN" altLang="en-US"/>
                    </a:p>
                  </a:txBody>
                  <a:tcPr/>
                </a:tc>
                <a:tc>
                  <a:txBody>
                    <a:bodyPr/>
                    <a:p>
                      <a:pPr>
                        <a:buNone/>
                      </a:pPr>
                      <a:r>
                        <a:rPr lang="zh-CN" altLang="en-US"/>
                        <a:t>选题</a:t>
                      </a:r>
                      <a:endParaRPr lang="zh-CN" altLang="en-US"/>
                    </a:p>
                  </a:txBody>
                  <a:tcPr/>
                </a:tc>
              </a:tr>
              <a:tr h="729615">
                <a:tc>
                  <a:txBody>
                    <a:bodyPr/>
                    <a:p>
                      <a:pPr>
                        <a:buNone/>
                      </a:pPr>
                      <a:r>
                        <a:rPr lang="zh-CN" altLang="en-US" sz="1200"/>
                        <a:t>牛旷野</a:t>
                      </a:r>
                      <a:endParaRPr lang="zh-CN" altLang="en-US" sz="1200"/>
                    </a:p>
                  </a:txBody>
                  <a:tcPr/>
                </a:tc>
                <a:tc>
                  <a:txBody>
                    <a:bodyPr/>
                    <a:p>
                      <a:pPr>
                        <a:buNone/>
                      </a:pPr>
                      <a:r>
                        <a:rPr lang="en-US" altLang="zh-CN"/>
                        <a:t>93</a:t>
                      </a:r>
                      <a:endParaRPr lang="en-US" altLang="zh-CN"/>
                    </a:p>
                  </a:txBody>
                  <a:tcPr/>
                </a:tc>
              </a:tr>
              <a:tr h="741680">
                <a:tc>
                  <a:txBody>
                    <a:bodyPr/>
                    <a:p>
                      <a:pPr>
                        <a:buNone/>
                      </a:pPr>
                      <a:r>
                        <a:rPr lang="zh-CN" altLang="en-US" sz="1200"/>
                        <a:t>卢世逸</a:t>
                      </a:r>
                      <a:endParaRPr lang="zh-CN" altLang="en-US" sz="1200"/>
                    </a:p>
                  </a:txBody>
                  <a:tcPr/>
                </a:tc>
                <a:tc>
                  <a:txBody>
                    <a:bodyPr/>
                    <a:p>
                      <a:pPr>
                        <a:buNone/>
                      </a:pPr>
                      <a:r>
                        <a:rPr lang="en-US" altLang="zh-CN"/>
                        <a:t>92</a:t>
                      </a:r>
                      <a:endParaRPr lang="en-US" altLang="zh-CN"/>
                    </a:p>
                  </a:txBody>
                  <a:tcPr/>
                </a:tc>
              </a:tr>
              <a:tr h="742315">
                <a:tc>
                  <a:txBody>
                    <a:bodyPr/>
                    <a:p>
                      <a:pPr>
                        <a:buNone/>
                      </a:pPr>
                      <a:r>
                        <a:rPr lang="zh-CN" altLang="en-US" sz="1200"/>
                        <a:t>孟闻凯</a:t>
                      </a:r>
                      <a:endParaRPr lang="zh-CN" altLang="en-US" sz="1200"/>
                    </a:p>
                  </a:txBody>
                  <a:tcPr/>
                </a:tc>
                <a:tc>
                  <a:txBody>
                    <a:bodyPr/>
                    <a:p>
                      <a:pPr>
                        <a:buNone/>
                      </a:pPr>
                      <a:r>
                        <a:rPr lang="en-US" altLang="zh-CN"/>
                        <a:t>91</a:t>
                      </a:r>
                      <a:endParaRPr lang="en-US" altLang="zh-CN"/>
                    </a:p>
                  </a:txBody>
                  <a:tcPr/>
                </a:tc>
              </a:tr>
              <a:tr h="741045">
                <a:tc>
                  <a:txBody>
                    <a:bodyPr/>
                    <a:p>
                      <a:pPr>
                        <a:buNone/>
                      </a:pPr>
                      <a:endParaRPr lang="zh-CN" altLang="en-US"/>
                    </a:p>
                  </a:txBody>
                  <a:tcPr/>
                </a:tc>
                <a:tc>
                  <a:txBody>
                    <a:bodyPr/>
                    <a:p>
                      <a:pPr>
                        <a:buNone/>
                      </a:pPr>
                      <a:endParaRPr lang="zh-CN" altLang="en-US"/>
                    </a:p>
                  </a:txBody>
                  <a:tcPr/>
                </a:tc>
              </a:tr>
            </a:tbl>
          </a:graphicData>
        </a:graphic>
      </p:graphicFrame>
      <p:graphicFrame>
        <p:nvGraphicFramePr>
          <p:cNvPr id="7" name="表格 6"/>
          <p:cNvGraphicFramePr/>
          <p:nvPr/>
        </p:nvGraphicFramePr>
        <p:xfrm>
          <a:off x="1514475" y="755015"/>
          <a:ext cx="498475" cy="4053205"/>
        </p:xfrm>
        <a:graphic>
          <a:graphicData uri="http://schemas.openxmlformats.org/drawingml/2006/table">
            <a:tbl>
              <a:tblPr firstRow="1" bandRow="1">
                <a:tableStyleId>{5C22544A-7EE6-4342-B048-85BDC9FD1C3A}</a:tableStyleId>
              </a:tblPr>
              <a:tblGrid>
                <a:gridCol w="498475"/>
              </a:tblGrid>
              <a:tr h="1122045">
                <a:tc>
                  <a:txBody>
                    <a:bodyPr/>
                    <a:p>
                      <a:pPr>
                        <a:buNone/>
                      </a:pPr>
                      <a:r>
                        <a:rPr lang="zh-CN" altLang="en-US"/>
                        <a:t>项目计划</a:t>
                      </a:r>
                      <a:endParaRPr lang="zh-CN" altLang="en-US"/>
                    </a:p>
                  </a:txBody>
                  <a:tcPr/>
                </a:tc>
              </a:tr>
              <a:tr h="525780">
                <a:tc>
                  <a:txBody>
                    <a:bodyPr/>
                    <a:p>
                      <a:pPr>
                        <a:buNone/>
                      </a:pPr>
                      <a:r>
                        <a:rPr lang="en-US" altLang="zh-CN"/>
                        <a:t>90</a:t>
                      </a:r>
                      <a:endParaRPr lang="en-US" altLang="zh-CN"/>
                    </a:p>
                  </a:txBody>
                  <a:tcPr/>
                </a:tc>
              </a:tr>
              <a:tr h="802640">
                <a:tc>
                  <a:txBody>
                    <a:bodyPr/>
                    <a:p>
                      <a:pPr>
                        <a:buNone/>
                      </a:pPr>
                      <a:r>
                        <a:rPr lang="en-US" altLang="zh-CN"/>
                        <a:t>82.4</a:t>
                      </a:r>
                      <a:endParaRPr lang="en-US" altLang="zh-CN"/>
                    </a:p>
                  </a:txBody>
                  <a:tcPr/>
                </a:tc>
              </a:tr>
              <a:tr h="800735">
                <a:tc>
                  <a:txBody>
                    <a:bodyPr/>
                    <a:p>
                      <a:pPr>
                        <a:buNone/>
                      </a:pPr>
                      <a:r>
                        <a:rPr lang="en-US" altLang="zh-CN"/>
                        <a:t>85.9</a:t>
                      </a:r>
                      <a:endParaRPr lang="en-US" altLang="zh-CN"/>
                    </a:p>
                  </a:txBody>
                  <a:tcPr/>
                </a:tc>
              </a:tr>
              <a:tr h="802005">
                <a:tc>
                  <a:txBody>
                    <a:bodyPr/>
                    <a:p>
                      <a:pPr>
                        <a:buNone/>
                      </a:pPr>
                      <a:endParaRPr lang="zh-CN" altLang="en-US"/>
                    </a:p>
                  </a:txBody>
                  <a:tcPr/>
                </a:tc>
              </a:tr>
            </a:tbl>
          </a:graphicData>
        </a:graphic>
      </p:graphicFrame>
      <p:graphicFrame>
        <p:nvGraphicFramePr>
          <p:cNvPr id="8" name="表格 7"/>
          <p:cNvGraphicFramePr/>
          <p:nvPr/>
        </p:nvGraphicFramePr>
        <p:xfrm>
          <a:off x="2012950" y="755015"/>
          <a:ext cx="498475" cy="4052570"/>
        </p:xfrm>
        <a:graphic>
          <a:graphicData uri="http://schemas.openxmlformats.org/drawingml/2006/table">
            <a:tbl>
              <a:tblPr firstRow="1" bandRow="1">
                <a:tableStyleId>{5C22544A-7EE6-4342-B048-85BDC9FD1C3A}</a:tableStyleId>
              </a:tblPr>
              <a:tblGrid>
                <a:gridCol w="498475"/>
              </a:tblGrid>
              <a:tr h="1126490">
                <a:tc>
                  <a:txBody>
                    <a:bodyPr/>
                    <a:p>
                      <a:pPr>
                        <a:buNone/>
                      </a:pPr>
                      <a:r>
                        <a:rPr lang="zh-CN" altLang="en-US"/>
                        <a:t>可行性分析</a:t>
                      </a:r>
                      <a:endParaRPr lang="zh-CN" altLang="en-US"/>
                    </a:p>
                  </a:txBody>
                  <a:tcPr/>
                </a:tc>
              </a:tr>
              <a:tr h="525145">
                <a:tc>
                  <a:txBody>
                    <a:bodyPr/>
                    <a:p>
                      <a:pPr>
                        <a:buNone/>
                      </a:pPr>
                      <a:r>
                        <a:rPr lang="en-US" altLang="zh-CN"/>
                        <a:t>90</a:t>
                      </a:r>
                      <a:endParaRPr lang="en-US" altLang="zh-CN"/>
                    </a:p>
                  </a:txBody>
                  <a:tcPr/>
                </a:tc>
              </a:tr>
              <a:tr h="800735">
                <a:tc>
                  <a:txBody>
                    <a:bodyPr/>
                    <a:p>
                      <a:pPr>
                        <a:buNone/>
                      </a:pPr>
                      <a:r>
                        <a:rPr lang="en-US" altLang="zh-CN"/>
                        <a:t>87.4</a:t>
                      </a:r>
                      <a:endParaRPr lang="en-US" altLang="zh-CN"/>
                    </a:p>
                  </a:txBody>
                  <a:tcPr/>
                </a:tc>
              </a:tr>
              <a:tr h="799465">
                <a:tc>
                  <a:txBody>
                    <a:bodyPr/>
                    <a:p>
                      <a:pPr>
                        <a:buNone/>
                      </a:pPr>
                      <a:r>
                        <a:rPr lang="en-US" altLang="zh-CN"/>
                        <a:t>87.3</a:t>
                      </a:r>
                      <a:endParaRPr lang="en-US" altLang="zh-CN"/>
                    </a:p>
                  </a:txBody>
                  <a:tcPr/>
                </a:tc>
              </a:tr>
              <a:tr h="800735">
                <a:tc>
                  <a:txBody>
                    <a:bodyPr/>
                    <a:p>
                      <a:pPr>
                        <a:buNone/>
                      </a:pPr>
                      <a:endParaRPr lang="zh-CN" altLang="en-US"/>
                    </a:p>
                  </a:txBody>
                  <a:tcPr/>
                </a:tc>
              </a:tr>
            </a:tbl>
          </a:graphicData>
        </a:graphic>
      </p:graphicFrame>
      <p:graphicFrame>
        <p:nvGraphicFramePr>
          <p:cNvPr id="9" name="表格 8"/>
          <p:cNvGraphicFramePr/>
          <p:nvPr/>
        </p:nvGraphicFramePr>
        <p:xfrm>
          <a:off x="2511425" y="755015"/>
          <a:ext cx="498475" cy="4071620"/>
        </p:xfrm>
        <a:graphic>
          <a:graphicData uri="http://schemas.openxmlformats.org/drawingml/2006/table">
            <a:tbl>
              <a:tblPr firstRow="1" bandRow="1">
                <a:tableStyleId>{5C22544A-7EE6-4342-B048-85BDC9FD1C3A}</a:tableStyleId>
              </a:tblPr>
              <a:tblGrid>
                <a:gridCol w="498475"/>
              </a:tblGrid>
              <a:tr h="1126490">
                <a:tc>
                  <a:txBody>
                    <a:bodyPr/>
                    <a:p>
                      <a:pPr>
                        <a:buNone/>
                      </a:pPr>
                      <a:r>
                        <a:rPr lang="en-US" altLang="zh-CN"/>
                        <a:t>SRS</a:t>
                      </a:r>
                      <a:endParaRPr lang="en-US" altLang="zh-CN"/>
                    </a:p>
                  </a:txBody>
                  <a:tcPr/>
                </a:tc>
              </a:tr>
              <a:tr h="528320">
                <a:tc>
                  <a:txBody>
                    <a:bodyPr/>
                    <a:p>
                      <a:pPr>
                        <a:buNone/>
                      </a:pPr>
                      <a:r>
                        <a:rPr lang="en-US" altLang="zh-CN"/>
                        <a:t>90.9</a:t>
                      </a:r>
                      <a:endParaRPr lang="en-US" altLang="zh-CN"/>
                    </a:p>
                  </a:txBody>
                  <a:tcPr/>
                </a:tc>
              </a:tr>
              <a:tr h="806450">
                <a:tc>
                  <a:txBody>
                    <a:bodyPr/>
                    <a:p>
                      <a:pPr>
                        <a:buNone/>
                      </a:pPr>
                      <a:r>
                        <a:rPr lang="en-US" altLang="zh-CN"/>
                        <a:t>89.9</a:t>
                      </a:r>
                      <a:endParaRPr lang="en-US" altLang="zh-CN"/>
                    </a:p>
                  </a:txBody>
                  <a:tcPr/>
                </a:tc>
              </a:tr>
              <a:tr h="804545">
                <a:tc>
                  <a:txBody>
                    <a:bodyPr/>
                    <a:p>
                      <a:pPr>
                        <a:buNone/>
                      </a:pPr>
                      <a:r>
                        <a:rPr lang="en-US" altLang="zh-CN"/>
                        <a:t>92.5</a:t>
                      </a:r>
                      <a:endParaRPr lang="en-US" altLang="zh-CN"/>
                    </a:p>
                  </a:txBody>
                  <a:tcPr/>
                </a:tc>
              </a:tr>
              <a:tr h="805815">
                <a:tc>
                  <a:txBody>
                    <a:bodyPr/>
                    <a:p>
                      <a:pPr>
                        <a:buNone/>
                      </a:pPr>
                      <a:endParaRPr lang="zh-CN" altLang="en-US"/>
                    </a:p>
                  </a:txBody>
                  <a:tcPr/>
                </a:tc>
              </a:tr>
            </a:tbl>
          </a:graphicData>
        </a:graphic>
      </p:graphicFrame>
      <p:graphicFrame>
        <p:nvGraphicFramePr>
          <p:cNvPr id="10" name="表格 9"/>
          <p:cNvGraphicFramePr/>
          <p:nvPr/>
        </p:nvGraphicFramePr>
        <p:xfrm>
          <a:off x="3009900" y="755015"/>
          <a:ext cx="498475" cy="4068445"/>
        </p:xfrm>
        <a:graphic>
          <a:graphicData uri="http://schemas.openxmlformats.org/drawingml/2006/table">
            <a:tbl>
              <a:tblPr firstRow="1" bandRow="1">
                <a:tableStyleId>{5C22544A-7EE6-4342-B048-85BDC9FD1C3A}</a:tableStyleId>
              </a:tblPr>
              <a:tblGrid>
                <a:gridCol w="498475"/>
              </a:tblGrid>
              <a:tr h="1123315">
                <a:tc>
                  <a:txBody>
                    <a:bodyPr/>
                    <a:p>
                      <a:pPr>
                        <a:buNone/>
                      </a:pPr>
                      <a:r>
                        <a:rPr lang="zh-CN" altLang="en-US"/>
                        <a:t>总体设计</a:t>
                      </a:r>
                      <a:endParaRPr lang="zh-CN" altLang="en-US"/>
                    </a:p>
                  </a:txBody>
                  <a:tcPr/>
                </a:tc>
              </a:tr>
              <a:tr h="528320">
                <a:tc>
                  <a:txBody>
                    <a:bodyPr/>
                    <a:p>
                      <a:pPr>
                        <a:buNone/>
                      </a:pPr>
                      <a:r>
                        <a:rPr lang="en-US" altLang="zh-CN"/>
                        <a:t>92</a:t>
                      </a:r>
                      <a:endParaRPr lang="en-US" altLang="zh-CN"/>
                    </a:p>
                  </a:txBody>
                  <a:tcPr/>
                </a:tc>
              </a:tr>
              <a:tr h="806450">
                <a:tc>
                  <a:txBody>
                    <a:bodyPr/>
                    <a:p>
                      <a:pPr>
                        <a:buNone/>
                      </a:pPr>
                      <a:r>
                        <a:rPr lang="en-US" altLang="zh-CN"/>
                        <a:t>89.5</a:t>
                      </a:r>
                      <a:endParaRPr lang="en-US" altLang="zh-CN"/>
                    </a:p>
                  </a:txBody>
                  <a:tcPr/>
                </a:tc>
              </a:tr>
              <a:tr h="804545">
                <a:tc>
                  <a:txBody>
                    <a:bodyPr/>
                    <a:p>
                      <a:pPr>
                        <a:buNone/>
                      </a:pPr>
                      <a:r>
                        <a:rPr lang="en-US" altLang="zh-CN"/>
                        <a:t>90.5</a:t>
                      </a:r>
                      <a:endParaRPr lang="en-US" altLang="zh-CN"/>
                    </a:p>
                  </a:txBody>
                  <a:tcPr/>
                </a:tc>
              </a:tr>
              <a:tr h="805815">
                <a:tc>
                  <a:txBody>
                    <a:bodyPr/>
                    <a:p>
                      <a:pPr>
                        <a:buNone/>
                      </a:pPr>
                      <a:endParaRPr lang="zh-CN" altLang="en-US"/>
                    </a:p>
                  </a:txBody>
                  <a:tcPr/>
                </a:tc>
              </a:tr>
            </a:tbl>
          </a:graphicData>
        </a:graphic>
      </p:graphicFrame>
      <p:graphicFrame>
        <p:nvGraphicFramePr>
          <p:cNvPr id="11" name="表格 10"/>
          <p:cNvGraphicFramePr/>
          <p:nvPr/>
        </p:nvGraphicFramePr>
        <p:xfrm>
          <a:off x="3508375" y="755015"/>
          <a:ext cx="498475" cy="4068445"/>
        </p:xfrm>
        <a:graphic>
          <a:graphicData uri="http://schemas.openxmlformats.org/drawingml/2006/table">
            <a:tbl>
              <a:tblPr firstRow="1" bandRow="1">
                <a:tableStyleId>{5C22544A-7EE6-4342-B048-85BDC9FD1C3A}</a:tableStyleId>
              </a:tblPr>
              <a:tblGrid>
                <a:gridCol w="498475"/>
              </a:tblGrid>
              <a:tr h="1123315">
                <a:tc>
                  <a:txBody>
                    <a:bodyPr/>
                    <a:p>
                      <a:pPr>
                        <a:buNone/>
                      </a:pPr>
                      <a:r>
                        <a:rPr lang="zh-CN" altLang="en-US"/>
                        <a:t>详细设计</a:t>
                      </a:r>
                      <a:endParaRPr lang="zh-CN" altLang="en-US"/>
                    </a:p>
                  </a:txBody>
                  <a:tcPr/>
                </a:tc>
              </a:tr>
              <a:tr h="528320">
                <a:tc>
                  <a:txBody>
                    <a:bodyPr/>
                    <a:p>
                      <a:pPr>
                        <a:buNone/>
                      </a:pPr>
                      <a:r>
                        <a:rPr lang="en-US" altLang="zh-CN"/>
                        <a:t>92.7</a:t>
                      </a:r>
                      <a:endParaRPr lang="en-US" altLang="zh-CN"/>
                    </a:p>
                  </a:txBody>
                  <a:tcPr/>
                </a:tc>
              </a:tr>
              <a:tr h="806450">
                <a:tc>
                  <a:txBody>
                    <a:bodyPr/>
                    <a:p>
                      <a:pPr>
                        <a:buNone/>
                      </a:pPr>
                      <a:r>
                        <a:rPr lang="en-US" altLang="zh-CN"/>
                        <a:t>90.2</a:t>
                      </a:r>
                      <a:endParaRPr lang="en-US" altLang="zh-CN"/>
                    </a:p>
                  </a:txBody>
                  <a:tcPr/>
                </a:tc>
              </a:tr>
              <a:tr h="804545">
                <a:tc>
                  <a:txBody>
                    <a:bodyPr/>
                    <a:p>
                      <a:pPr>
                        <a:buNone/>
                      </a:pPr>
                      <a:r>
                        <a:rPr lang="en-US" altLang="zh-CN"/>
                        <a:t>90.8</a:t>
                      </a:r>
                      <a:endParaRPr lang="en-US" altLang="zh-CN"/>
                    </a:p>
                  </a:txBody>
                  <a:tcPr/>
                </a:tc>
              </a:tr>
              <a:tr h="805815">
                <a:tc>
                  <a:txBody>
                    <a:bodyPr/>
                    <a:p>
                      <a:pPr>
                        <a:buNone/>
                      </a:pPr>
                      <a:endParaRPr lang="zh-CN" altLang="en-US"/>
                    </a:p>
                  </a:txBody>
                  <a:tcPr/>
                </a:tc>
              </a:tr>
            </a:tbl>
          </a:graphicData>
        </a:graphic>
      </p:graphicFrame>
      <p:graphicFrame>
        <p:nvGraphicFramePr>
          <p:cNvPr id="12" name="表格 11"/>
          <p:cNvGraphicFramePr/>
          <p:nvPr/>
        </p:nvGraphicFramePr>
        <p:xfrm>
          <a:off x="4006850" y="748030"/>
          <a:ext cx="498475" cy="4075430"/>
        </p:xfrm>
        <a:graphic>
          <a:graphicData uri="http://schemas.openxmlformats.org/drawingml/2006/table">
            <a:tbl>
              <a:tblPr firstRow="1" bandRow="1">
                <a:tableStyleId>{5C22544A-7EE6-4342-B048-85BDC9FD1C3A}</a:tableStyleId>
              </a:tblPr>
              <a:tblGrid>
                <a:gridCol w="498475"/>
              </a:tblGrid>
              <a:tr h="1130300">
                <a:tc>
                  <a:txBody>
                    <a:bodyPr/>
                    <a:p>
                      <a:pPr>
                        <a:buNone/>
                      </a:pPr>
                      <a:r>
                        <a:rPr lang="zh-CN" altLang="en-US"/>
                        <a:t>实现测试</a:t>
                      </a:r>
                      <a:endParaRPr lang="zh-CN" altLang="en-US"/>
                    </a:p>
                  </a:txBody>
                  <a:tcPr/>
                </a:tc>
              </a:tr>
              <a:tr h="528320">
                <a:tc>
                  <a:txBody>
                    <a:bodyPr/>
                    <a:p>
                      <a:pPr>
                        <a:buNone/>
                      </a:pPr>
                      <a:r>
                        <a:rPr lang="en-US" altLang="zh-CN"/>
                        <a:t>90</a:t>
                      </a:r>
                      <a:endParaRPr lang="en-US" altLang="zh-CN"/>
                    </a:p>
                  </a:txBody>
                  <a:tcPr/>
                </a:tc>
              </a:tr>
              <a:tr h="806450">
                <a:tc>
                  <a:txBody>
                    <a:bodyPr/>
                    <a:p>
                      <a:pPr>
                        <a:buNone/>
                      </a:pPr>
                      <a:r>
                        <a:rPr lang="en-US" altLang="zh-CN"/>
                        <a:t>88.8</a:t>
                      </a:r>
                      <a:endParaRPr lang="en-US" altLang="zh-CN"/>
                    </a:p>
                  </a:txBody>
                  <a:tcPr/>
                </a:tc>
              </a:tr>
              <a:tr h="804545">
                <a:tc>
                  <a:txBody>
                    <a:bodyPr/>
                    <a:p>
                      <a:pPr>
                        <a:buNone/>
                      </a:pPr>
                      <a:r>
                        <a:rPr lang="en-US" altLang="zh-CN"/>
                        <a:t>87.4</a:t>
                      </a:r>
                      <a:endParaRPr lang="en-US" altLang="zh-CN"/>
                    </a:p>
                  </a:txBody>
                  <a:tcPr/>
                </a:tc>
              </a:tr>
              <a:tr h="805815">
                <a:tc>
                  <a:txBody>
                    <a:bodyPr/>
                    <a:p>
                      <a:pPr>
                        <a:buNone/>
                      </a:pPr>
                      <a:endParaRPr lang="zh-CN" altLang="en-US"/>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PA_矩形 7"/>
          <p:cNvSpPr/>
          <p:nvPr>
            <p:custDataLst>
              <p:tags r:id="rId1"/>
            </p:custDataLst>
          </p:nvPr>
        </p:nvSpPr>
        <p:spPr>
          <a:xfrm>
            <a:off x="985104" y="1813170"/>
            <a:ext cx="5032147" cy="923330"/>
          </a:xfrm>
          <a:prstGeom prst="rect">
            <a:avLst/>
          </a:prstGeom>
        </p:spPr>
        <p:txBody>
          <a:bodyPr wrap="none">
            <a:spAutoFit/>
          </a:bodyPr>
          <a:lstStyle/>
          <a:p>
            <a:pPr lvl="0" defTabSz="685800">
              <a:defRPr/>
            </a:pPr>
            <a:r>
              <a:rPr lang="zh-CN" altLang="en-US" sz="5400" kern="0" dirty="0">
                <a:solidFill>
                  <a:schemeClr val="accent3"/>
                </a:solidFill>
                <a:latin typeface="方正细谭黑简体" panose="02000000000000000000" pitchFamily="2" charset="-122"/>
                <a:ea typeface="方正细谭黑简体" panose="02000000000000000000" pitchFamily="2" charset="-122"/>
                <a:cs typeface="+mn-ea"/>
                <a:sym typeface="+mn-lt"/>
              </a:rPr>
              <a:t>感</a:t>
            </a:r>
            <a:r>
              <a:rPr lang="zh-CN" altLang="en-US" sz="5400" kern="0" dirty="0" smtClean="0">
                <a:solidFill>
                  <a:schemeClr val="accent3"/>
                </a:solidFill>
                <a:latin typeface="方正细谭黑简体" panose="02000000000000000000" pitchFamily="2" charset="-122"/>
                <a:ea typeface="方正细谭黑简体" panose="02000000000000000000" pitchFamily="2" charset="-122"/>
                <a:cs typeface="+mn-ea"/>
                <a:sym typeface="+mn-lt"/>
              </a:rPr>
              <a:t>谢各位观看！</a:t>
            </a:r>
            <a:endParaRPr lang="zh-CN" altLang="en-US" sz="5400" kern="0" dirty="0">
              <a:solidFill>
                <a:schemeClr val="accent3"/>
              </a:solidFill>
              <a:latin typeface="方正细谭黑简体" panose="02000000000000000000" pitchFamily="2" charset="-122"/>
              <a:ea typeface="方正细谭黑简体" panose="02000000000000000000" pitchFamily="2" charset="-122"/>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ags/tag1.xml><?xml version="1.0" encoding="utf-8"?>
<p:tagLst xmlns:p="http://schemas.openxmlformats.org/presentationml/2006/main">
  <p:tag name="PA" val="v4.1.3"/>
</p:tagLst>
</file>

<file path=ppt/tags/tag2.xml><?xml version="1.0" encoding="utf-8"?>
<p:tagLst xmlns:p="http://schemas.openxmlformats.org/presentationml/2006/main">
  <p:tag name="PA" val="v4.1.3"/>
</p:tagLst>
</file>

<file path=ppt/tags/tag3.xml><?xml version="1.0" encoding="utf-8"?>
<p:tagLst xmlns:p="http://schemas.openxmlformats.org/presentationml/2006/main">
  <p:tag name="KSO_WM_UNIT_PLACING_PICTURE_USER_VIEWPORT" val="{&quot;height&quot;:10860,&quot;width&quot;:10416}"/>
</p:tagLst>
</file>

<file path=ppt/tags/tag4.xml><?xml version="1.0" encoding="utf-8"?>
<p:tagLst xmlns:p="http://schemas.openxmlformats.org/presentationml/2006/main">
  <p:tag name="PA" val="v4.1.3"/>
</p:tagLst>
</file>

<file path=ppt/tags/tag5.xml><?xml version="1.0" encoding="utf-8"?>
<p:tagLst xmlns:p="http://schemas.openxmlformats.org/presentationml/2006/main">
  <p:tag name="PA" val="v4.1.3"/>
</p:tagLst>
</file>

<file path=ppt/tags/tag6.xml><?xml version="1.0" encoding="utf-8"?>
<p:tagLst xmlns:p="http://schemas.openxmlformats.org/presentationml/2006/main">
  <p:tag name="PA" val="v4.1.3"/>
</p:tagLst>
</file>

<file path=ppt/tags/tag7.xml><?xml version="1.0" encoding="utf-8"?>
<p:tagLst xmlns:p="http://schemas.openxmlformats.org/presentationml/2006/main">
  <p:tag name="PA" val="v4.1.3"/>
</p:tagLst>
</file>

<file path=ppt/tags/tag8.xml><?xml version="1.0" encoding="utf-8"?>
<p:tagLst xmlns:p="http://schemas.openxmlformats.org/presentationml/2006/main">
  <p:tag name="PA" val="v4.1.3"/>
</p:tagLst>
</file>

<file path=ppt/tags/tag9.xml><?xml version="1.0" encoding="utf-8"?>
<p:tagLst xmlns:p="http://schemas.openxmlformats.org/presentationml/2006/main">
  <p:tag name="PA" val="v4.1.3"/>
</p:tagLst>
</file>

<file path=ppt/tags/tag10.xml><?xml version="1.0" encoding="utf-8"?>
<p:tagLst xmlns:p="http://schemas.openxmlformats.org/presentationml/2006/main">
  <p:tag name="KSO_WM_UNIT_PLACING_PICTURE_USER_VIEWPORT" val="{&quot;height&quot;:4982,&quot;width&quot;:10827}"/>
</p:tagLst>
</file>

<file path=ppt/tags/tag11.xml><?xml version="1.0" encoding="utf-8"?>
<p:tagLst xmlns:p="http://schemas.openxmlformats.org/presentationml/2006/main">
  <p:tag name="PA" val="v4.1.3"/>
</p:tagLst>
</file>

<file path=ppt/tags/tag12.xml><?xml version="1.0" encoding="utf-8"?>
<p:tagLst xmlns:p="http://schemas.openxmlformats.org/presentationml/2006/main">
  <p:tag name="PA" val="v4.1.3"/>
</p:tagLst>
</file>

<file path=ppt/tags/tag13.xml><?xml version="1.0" encoding="utf-8"?>
<p:tagLst xmlns:p="http://schemas.openxmlformats.org/presentationml/2006/main">
  <p:tag name="KSO_WM_UNIT_TABLE_BEAUTIFY" val="smartTable{c3fac8b2-4a39-44ef-95fb-ccfccc670099}"/>
  <p:tag name="TABLE_ENDDRAG_ORIGIN_RECT" val="399*273"/>
  <p:tag name="TABLE_ENDDRAG_RECT" val="259*89*399*273"/>
</p:tagLst>
</file>

<file path=ppt/tags/tag14.xml><?xml version="1.0" encoding="utf-8"?>
<p:tagLst xmlns:p="http://schemas.openxmlformats.org/presentationml/2006/main">
  <p:tag name="PA" val="v4.1.3"/>
</p:tagLst>
</file>

<file path=ppt/tags/tag15.xml><?xml version="1.0" encoding="utf-8"?>
<p:tagLst xmlns:p="http://schemas.openxmlformats.org/presentationml/2006/main">
  <p:tag name="PA" val="v4.1.3"/>
</p:tagLst>
</file>

<file path=ppt/tags/tag16.xml><?xml version="1.0" encoding="utf-8"?>
<p:tagLst xmlns:p="http://schemas.openxmlformats.org/presentationml/2006/main">
  <p:tag name="KSO_WM_UNIT_PLACING_PICTURE_USER_VIEWPORT" val="{&quot;height&quot;:10956,&quot;width&quot;:8136}"/>
</p:tagLst>
</file>

<file path=ppt/tags/tag17.xml><?xml version="1.0" encoding="utf-8"?>
<p:tagLst xmlns:p="http://schemas.openxmlformats.org/presentationml/2006/main">
  <p:tag name="PA" val="v4.1.3"/>
</p:tagLst>
</file>

<file path=ppt/tags/tag18.xml><?xml version="1.0" encoding="utf-8"?>
<p:tagLst xmlns:p="http://schemas.openxmlformats.org/presentationml/2006/main">
  <p:tag name="PA" val="v4.1.3"/>
</p:tagLst>
</file>

<file path=ppt/tags/tag19.xml><?xml version="1.0" encoding="utf-8"?>
<p:tagLst xmlns:p="http://schemas.openxmlformats.org/presentationml/2006/main">
  <p:tag name="PA" val="v4.1.3"/>
</p:tagLst>
</file>

<file path=ppt/tags/tag20.xml><?xml version="1.0" encoding="utf-8"?>
<p:tagLst xmlns:p="http://schemas.openxmlformats.org/presentationml/2006/main">
  <p:tag name="PA" val="v4.1.3"/>
</p:tagLst>
</file>

<file path=ppt/tags/tag21.xml><?xml version="1.0" encoding="utf-8"?>
<p:tagLst xmlns:p="http://schemas.openxmlformats.org/presentationml/2006/main">
  <p:tag name="KSO_WM_UNIT_PLACING_PICTURE_USER_VIEWPORT" val="{&quot;height&quot;:2741,&quot;width&quot;:8288}"/>
</p:tagLst>
</file>

<file path=ppt/tags/tag22.xml><?xml version="1.0" encoding="utf-8"?>
<p:tagLst xmlns:p="http://schemas.openxmlformats.org/presentationml/2006/main">
  <p:tag name="KSO_WM_UNIT_TABLE_BEAUTIFY" val="smartTable{c45ba30c-8304-4121-ab86-97a74fc5bac7}"/>
</p:tagLst>
</file>

<file path=ppt/tags/tag23.xml><?xml version="1.0" encoding="utf-8"?>
<p:tagLst xmlns:p="http://schemas.openxmlformats.org/presentationml/2006/main">
  <p:tag name="KSO_WM_UNIT_TABLE_BEAUTIFY" val="smartTable{be2e36cd-1b49-4ef0-9e73-559eb57fba75}"/>
  <p:tag name="TABLE_ENDDRAG_ORIGIN_RECT" val="661*203"/>
  <p:tag name="TABLE_ENDDRAG_RECT" val="28*29*661*203"/>
</p:tagLst>
</file>

<file path=ppt/tags/tag24.xml><?xml version="1.0" encoding="utf-8"?>
<p:tagLst xmlns:p="http://schemas.openxmlformats.org/presentationml/2006/main">
  <p:tag name="KSO_WM_UNIT_TABLE_BEAUTIFY" val="smartTable{9672ce4a-1347-4140-be16-4ca21375d15a}"/>
  <p:tag name="TABLE_ENDDRAG_ORIGIN_RECT" val="662*121"/>
  <p:tag name="TABLE_ENDDRAG_RECT" val="27*246*662*121"/>
</p:tagLst>
</file>

<file path=ppt/tags/tag25.xml><?xml version="1.0" encoding="utf-8"?>
<p:tagLst xmlns:p="http://schemas.openxmlformats.org/presentationml/2006/main">
  <p:tag name="KSO_WM_UNIT_TABLE_BEAUTIFY" val="smartTable{fc9b0fbc-0055-4598-9e19-3cdaf208fc43}"/>
</p:tagLst>
</file>

<file path=ppt/tags/tag26.xml><?xml version="1.0" encoding="utf-8"?>
<p:tagLst xmlns:p="http://schemas.openxmlformats.org/presentationml/2006/main">
  <p:tag name="KSO_WM_UNIT_TABLE_BEAUTIFY" val="smartTable{88163e3d-ce78-488d-b9fe-a1736ed5e1a0}"/>
</p:tagLst>
</file>

<file path=ppt/tags/tag27.xml><?xml version="1.0" encoding="utf-8"?>
<p:tagLst xmlns:p="http://schemas.openxmlformats.org/presentationml/2006/main">
  <p:tag name="KSO_WM_UNIT_TABLE_BEAUTIFY" val="smartTable{8828f970-d4ba-46e6-b8f8-6a1dcb8fe5f6}"/>
</p:tagLst>
</file>

<file path=ppt/tags/tag28.xml><?xml version="1.0" encoding="utf-8"?>
<p:tagLst xmlns:p="http://schemas.openxmlformats.org/presentationml/2006/main">
  <p:tag name="KSO_WM_UNIT_TABLE_BEAUTIFY" val="smartTable{2cb92673-7f18-455d-b7b8-c0b0fd534544}"/>
</p:tagLst>
</file>

<file path=ppt/tags/tag29.xml><?xml version="1.0" encoding="utf-8"?>
<p:tagLst xmlns:p="http://schemas.openxmlformats.org/presentationml/2006/main">
  <p:tag name="KSO_WM_UNIT_TABLE_BEAUTIFY" val="smartTable{6252d978-a2f3-49d8-856a-645fb5974a5e}"/>
</p:tagLst>
</file>

<file path=ppt/tags/tag30.xml><?xml version="1.0" encoding="utf-8"?>
<p:tagLst xmlns:p="http://schemas.openxmlformats.org/presentationml/2006/main">
  <p:tag name="KSO_WM_UNIT_TABLE_BEAUTIFY" val="smartTable{0c6374ed-6aa6-4c5c-8f69-75d4ffade702}"/>
</p:tagLst>
</file>

<file path=ppt/tags/tag31.xml><?xml version="1.0" encoding="utf-8"?>
<p:tagLst xmlns:p="http://schemas.openxmlformats.org/presentationml/2006/main">
  <p:tag name="PA" val="v4.1.3"/>
</p:tagLst>
</file>

<file path=ppt/tags/tag32.xml><?xml version="1.0" encoding="utf-8"?>
<p:tagLst xmlns:p="http://schemas.openxmlformats.org/presentationml/2006/main">
  <p:tag name="PA" val="v4.1.3"/>
</p:tagLst>
</file>

<file path=ppt/tags/tag33.xml><?xml version="1.0" encoding="utf-8"?>
<p:tagLst xmlns:p="http://schemas.openxmlformats.org/presentationml/2006/main">
  <p:tag name="PA" val="v4.1.3"/>
</p:tagLst>
</file>

<file path=ppt/tags/tag34.xml><?xml version="1.0" encoding="utf-8"?>
<p:tagLst xmlns:p="http://schemas.openxmlformats.org/presentationml/2006/main">
  <p:tag name="KSO_WM_UNIT_TABLE_BEAUTIFY" val="smartTable{524cdb10-0c98-47fe-8c3a-da1f706a830a}"/>
  <p:tag name="TABLE_ENDDRAG_ORIGIN_RECT" val="98*319"/>
  <p:tag name="TABLE_ENDDRAG_RECT" val="20*59*98*319"/>
</p:tagLst>
</file>

<file path=ppt/tags/tag35.xml><?xml version="1.0" encoding="utf-8"?>
<p:tagLst xmlns:p="http://schemas.openxmlformats.org/presentationml/2006/main">
  <p:tag name="PA" val="v4.1.3"/>
</p:tagLst>
</file>

<file path=ppt/theme/theme1.xml><?xml version="1.0" encoding="utf-8"?>
<a:theme xmlns:a="http://schemas.openxmlformats.org/drawingml/2006/main" name="第一PPT，www.1ppt.com">
  <a:themeElements>
    <a:clrScheme name="12舒服配色">
      <a:dk1>
        <a:sysClr val="windowText" lastClr="000000"/>
      </a:dk1>
      <a:lt1>
        <a:sysClr val="window" lastClr="FFFFFF"/>
      </a:lt1>
      <a:dk2>
        <a:srgbClr val="EEF2F5"/>
      </a:dk2>
      <a:lt2>
        <a:srgbClr val="E7E6E6"/>
      </a:lt2>
      <a:accent1>
        <a:srgbClr val="F7E9E0"/>
      </a:accent1>
      <a:accent2>
        <a:srgbClr val="F4D1CF"/>
      </a:accent2>
      <a:accent3>
        <a:srgbClr val="7787A0"/>
      </a:accent3>
      <a:accent4>
        <a:srgbClr val="A0B0BF"/>
      </a:accent4>
      <a:accent5>
        <a:srgbClr val="C9D2E1"/>
      </a:accent5>
      <a:accent6>
        <a:srgbClr val="70AD47"/>
      </a:accent6>
      <a:hlink>
        <a:srgbClr val="000000"/>
      </a:hlink>
      <a:folHlink>
        <a:srgbClr val="954F72"/>
      </a:folHlink>
    </a:clrScheme>
    <a:fontScheme name="dmo5hqlq">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0</TotalTime>
  <Words>8232</Words>
  <Application>WPS 演示</Application>
  <PresentationFormat>全屏显示(16:9)</PresentationFormat>
  <Paragraphs>1174</Paragraphs>
  <Slides>62</Slides>
  <Notes>10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62</vt:i4>
      </vt:variant>
    </vt:vector>
  </HeadingPairs>
  <TitlesOfParts>
    <vt:vector size="76" baseType="lpstr">
      <vt:lpstr>Arial</vt:lpstr>
      <vt:lpstr>宋体</vt:lpstr>
      <vt:lpstr>Wingdings</vt:lpstr>
      <vt:lpstr>Calibri</vt:lpstr>
      <vt:lpstr>Times New Roman</vt:lpstr>
      <vt:lpstr>方正细谭黑简体</vt:lpstr>
      <vt:lpstr>微软雅黑 Light</vt:lpstr>
      <vt:lpstr>微软雅黑</vt:lpstr>
      <vt:lpstr>黑体</vt:lpstr>
      <vt:lpstr>Arial Unicode MS</vt:lpstr>
      <vt:lpstr>等线</vt:lpstr>
      <vt:lpstr>Calibri</vt:lpstr>
      <vt:lpstr>第一PPT，www.1ppt.com</vt:lpstr>
      <vt:lpstr>Word.Document.8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第一PPT，www.1ppt.com</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淡雅蓝粉</dc:title>
  <dc:creator>第一PPT</dc:creator>
  <cp:keywords>www.1ppt.com</cp:keywords>
  <dc:description>www.1ppt.com</dc:description>
  <cp:lastModifiedBy>米娜拉</cp:lastModifiedBy>
  <cp:revision>863</cp:revision>
  <dcterms:created xsi:type="dcterms:W3CDTF">2019-06-21T02:16:00Z</dcterms:created>
  <dcterms:modified xsi:type="dcterms:W3CDTF">2021-01-07T04:17:28Z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