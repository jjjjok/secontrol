
<file path=[Content_Types].xml><?xml version="1.0" encoding="utf-8"?>
<Types xmlns="http://schemas.openxmlformats.org/package/2006/content-types">
  <Default Extension="vml" ContentType="application/vnd.openxmlformats-officedocument.vmlDrawing"/>
  <Default Extension="doc" ContentType="application/msword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572" r:id="rId3"/>
    <p:sldId id="606" r:id="rId4"/>
    <p:sldId id="647" r:id="rId5"/>
    <p:sldId id="725" r:id="rId6"/>
    <p:sldId id="575" r:id="rId8"/>
    <p:sldId id="648" r:id="rId9"/>
    <p:sldId id="788" r:id="rId10"/>
    <p:sldId id="650" r:id="rId11"/>
    <p:sldId id="831" r:id="rId12"/>
    <p:sldId id="829" r:id="rId13"/>
    <p:sldId id="830" r:id="rId14"/>
    <p:sldId id="854" r:id="rId15"/>
    <p:sldId id="855" r:id="rId16"/>
    <p:sldId id="856" r:id="rId17"/>
    <p:sldId id="789" r:id="rId18"/>
    <p:sldId id="827" r:id="rId19"/>
    <p:sldId id="659" r:id="rId20"/>
    <p:sldId id="728" r:id="rId21"/>
    <p:sldId id="832" r:id="rId22"/>
    <p:sldId id="833" r:id="rId23"/>
    <p:sldId id="834" r:id="rId24"/>
    <p:sldId id="835" r:id="rId25"/>
    <p:sldId id="836" r:id="rId26"/>
    <p:sldId id="837" r:id="rId27"/>
    <p:sldId id="838" r:id="rId28"/>
    <p:sldId id="839" r:id="rId29"/>
    <p:sldId id="677" r:id="rId30"/>
    <p:sldId id="678" r:id="rId31"/>
    <p:sldId id="857" r:id="rId32"/>
    <p:sldId id="858" r:id="rId33"/>
    <p:sldId id="859" r:id="rId34"/>
    <p:sldId id="860" r:id="rId35"/>
    <p:sldId id="861" r:id="rId36"/>
    <p:sldId id="679" r:id="rId37"/>
    <p:sldId id="862" r:id="rId38"/>
    <p:sldId id="620" r:id="rId3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yy" initials="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D1CF"/>
    <a:srgbClr val="7787A0"/>
    <a:srgbClr val="A0B0BF"/>
    <a:srgbClr val="C9D2E1"/>
    <a:srgbClr val="CACEC8"/>
    <a:srgbClr val="E7E9E6"/>
    <a:srgbClr val="E8CDC8"/>
    <a:srgbClr val="F7E9E0"/>
    <a:srgbClr val="FFFFFF"/>
    <a:srgbClr val="EFBA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12" autoAdjust="0"/>
    <p:restoredTop sz="93992" autoAdjust="0"/>
  </p:normalViewPr>
  <p:slideViewPr>
    <p:cSldViewPr snapToGrid="0" showGuides="1">
      <p:cViewPr>
        <p:scale>
          <a:sx n="66" d="100"/>
          <a:sy n="66" d="100"/>
        </p:scale>
        <p:origin x="-378" y="-1728"/>
      </p:cViewPr>
      <p:guideLst>
        <p:guide orient="horz" pos="3211"/>
        <p:guide pos="198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3" Type="http://schemas.openxmlformats.org/officeDocument/2006/relationships/commentAuthors" Target="commentAuthors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0DFCB8-7EF4-48C1-8984-7222E239D7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 userDrawn="1"/>
        </p:nvSpPr>
        <p:spPr>
          <a:xfrm>
            <a:off x="8304710" y="-357181"/>
            <a:ext cx="1678580" cy="1678580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 userDrawn="1"/>
        </p:nvSpPr>
        <p:spPr>
          <a:xfrm>
            <a:off x="7912656" y="4169092"/>
            <a:ext cx="1493964" cy="14939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 userDrawn="1"/>
        </p:nvSpPr>
        <p:spPr>
          <a:xfrm>
            <a:off x="7447494" y="4482353"/>
            <a:ext cx="271986" cy="27198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 userDrawn="1"/>
        </p:nvSpPr>
        <p:spPr>
          <a:xfrm>
            <a:off x="8304710" y="-357181"/>
            <a:ext cx="1678580" cy="1678580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 userDrawn="1"/>
        </p:nvSpPr>
        <p:spPr>
          <a:xfrm>
            <a:off x="7912656" y="4169092"/>
            <a:ext cx="1493964" cy="14939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 userDrawn="1"/>
        </p:nvSpPr>
        <p:spPr>
          <a:xfrm>
            <a:off x="7465500" y="4500359"/>
            <a:ext cx="253980" cy="2539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1009863" y="1344453"/>
            <a:ext cx="1678581" cy="1678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2831630" y="3106775"/>
            <a:ext cx="1678581" cy="1678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4656657" y="1344453"/>
            <a:ext cx="1678581" cy="1678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6475165" y="3106774"/>
            <a:ext cx="1678581" cy="1678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2" name="矩形 1"/>
          <p:cNvSpPr/>
          <p:nvPr userDrawn="1"/>
        </p:nvSpPr>
        <p:spPr>
          <a:xfrm>
            <a:off x="1009863" y="3107235"/>
            <a:ext cx="1678581" cy="1685051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2833260" y="1341448"/>
            <a:ext cx="1678581" cy="16850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4653397" y="3107235"/>
            <a:ext cx="1678581" cy="168505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 userDrawn="1"/>
        </p:nvSpPr>
        <p:spPr>
          <a:xfrm>
            <a:off x="6480055" y="1337983"/>
            <a:ext cx="1678581" cy="168505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7033456" y="4774682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Picture Placeholder 1"/>
          <p:cNvSpPr>
            <a:spLocks noGrp="1"/>
          </p:cNvSpPr>
          <p:nvPr>
            <p:ph type="pic" sz="quarter" idx="13" hasCustomPrompt="1"/>
          </p:nvPr>
        </p:nvSpPr>
        <p:spPr>
          <a:xfrm>
            <a:off x="108000" y="108000"/>
            <a:ext cx="8928900" cy="4545116"/>
          </a:xfrm>
          <a:solidFill>
            <a:schemeClr val="bg1">
              <a:lumMod val="95000"/>
            </a:schemeClr>
          </a:solidFill>
        </p:spPr>
        <p:txBody>
          <a:bodyPr lIns="0" tIns="180000" rIns="0" anchor="t"/>
          <a:lstStyle>
            <a:lvl1pPr marL="0" indent="0" algn="ctr">
              <a:buNone/>
              <a:defRPr sz="9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  <a:endParaRPr lang="en-US" noProof="0" dirty="0"/>
          </a:p>
        </p:txBody>
      </p:sp>
      <p:sp>
        <p:nvSpPr>
          <p:cNvPr id="1048619" name="Title 1"/>
          <p:cNvSpPr>
            <a:spLocks noGrp="1"/>
          </p:cNvSpPr>
          <p:nvPr>
            <p:ph type="ctrTitle" hasCustomPrompt="1"/>
          </p:nvPr>
        </p:nvSpPr>
        <p:spPr>
          <a:xfrm>
            <a:off x="4457700" y="1828799"/>
            <a:ext cx="4039200" cy="2283299"/>
          </a:xfrm>
          <a:gradFill>
            <a:gsLst>
              <a:gs pos="0">
                <a:schemeClr val="accent1">
                  <a:lumMod val="20000"/>
                  <a:lumOff val="80000"/>
                  <a:alpha val="50000"/>
                </a:schemeClr>
              </a:gs>
              <a:gs pos="46000">
                <a:schemeClr val="bg1">
                  <a:alpha val="90000"/>
                </a:schemeClr>
              </a:gs>
              <a:gs pos="83186">
                <a:schemeClr val="bg1"/>
              </a:gs>
            </a:gsLst>
            <a:lin ang="3600000" scaled="0"/>
          </a:gradFill>
        </p:spPr>
        <p:txBody>
          <a:bodyPr lIns="72000" tIns="180000" rIns="180000" bIns="0" anchor="t"/>
          <a:lstStyle>
            <a:lvl1pPr algn="r">
              <a:lnSpc>
                <a:spcPts val="4700"/>
              </a:lnSpc>
              <a:defRPr sz="3375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presentation title</a:t>
            </a:r>
            <a:endParaRPr lang="en-US" noProof="0"/>
          </a:p>
        </p:txBody>
      </p:sp>
      <p:sp>
        <p:nvSpPr>
          <p:cNvPr id="1048620" name="Subtitle 2"/>
          <p:cNvSpPr>
            <a:spLocks noGrp="1"/>
          </p:cNvSpPr>
          <p:nvPr>
            <p:ph type="subTitle" idx="1"/>
          </p:nvPr>
        </p:nvSpPr>
        <p:spPr>
          <a:xfrm>
            <a:off x="6186728" y="3359448"/>
            <a:ext cx="2138722" cy="562151"/>
          </a:xfrm>
          <a:solidFill>
            <a:schemeClr val="bg1">
              <a:alpha val="80000"/>
            </a:schemeClr>
          </a:solidFill>
          <a:ln w="3175"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accent1"/>
                </a:gs>
              </a:gsLst>
              <a:lin ang="10800000" scaled="0"/>
            </a:gradFill>
          </a:ln>
        </p:spPr>
        <p:txBody>
          <a:bodyPr tIns="144000" rIns="180000"/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0"/>
              <a:t>单击此处编辑母版副标题样式</a:t>
            </a:r>
            <a:endParaRPr lang="en-US" noProof="0"/>
          </a:p>
        </p:txBody>
      </p:sp>
      <p:sp>
        <p:nvSpPr>
          <p:cNvPr id="1048621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08000" y="4741799"/>
            <a:ext cx="3086100" cy="273844"/>
          </a:xfrm>
        </p:spPr>
        <p:txBody>
          <a:bodyPr/>
          <a:lstStyle/>
          <a:p>
            <a:r>
              <a:rPr lang="en-US" noProof="0" dirty="0"/>
              <a:t>Add a footer</a:t>
            </a:r>
            <a:endParaRPr lang="en-US" noProof="0" dirty="0"/>
          </a:p>
        </p:txBody>
      </p:sp>
      <p:sp>
        <p:nvSpPr>
          <p:cNvPr id="1048622" name="Slide Number Placeholder 9"/>
          <p:cNvSpPr>
            <a:spLocks noGrp="1"/>
          </p:cNvSpPr>
          <p:nvPr>
            <p:ph type="sldNum" sz="quarter" idx="14"/>
          </p:nvPr>
        </p:nvSpPr>
        <p:spPr>
          <a:xfrm>
            <a:off x="8758069" y="4741799"/>
            <a:ext cx="277931" cy="273844"/>
          </a:xfrm>
        </p:spPr>
        <p:txBody>
          <a:bodyPr/>
          <a:lstStyle/>
          <a:p>
            <a:fld id="{19B51A1E-902D-48AF-9020-955120F399B6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9.xml"/><Relationship Id="rId3" Type="http://schemas.openxmlformats.org/officeDocument/2006/relationships/image" Target="../media/image9.png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wmf"/><Relationship Id="rId2" Type="http://schemas.openxmlformats.org/officeDocument/2006/relationships/oleObject" Target="../embeddings/Document1.doc"/><Relationship Id="rId1" Type="http://schemas.openxmlformats.org/officeDocument/2006/relationships/tags" Target="../tags/tag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wmf"/><Relationship Id="rId2" Type="http://schemas.openxmlformats.org/officeDocument/2006/relationships/oleObject" Target="file:///C:\Users\yy\Documents\SEcontrol\&#25991;&#26723;&#65292;ppt\&#24635;&#20307;&#35774;&#35745;\SE2020-G19-&#24635;&#20307;&#35774;&#35745;v0.12.doc" TargetMode="External"/><Relationship Id="rId1" Type="http://schemas.openxmlformats.org/officeDocument/2006/relationships/tags" Target="../tags/tag2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wmf"/><Relationship Id="rId2" Type="http://schemas.openxmlformats.org/officeDocument/2006/relationships/oleObject" Target="../embeddings/Document2.doc"/><Relationship Id="rId1" Type="http://schemas.openxmlformats.org/officeDocument/2006/relationships/tags" Target="../tags/tag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5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wmf"/><Relationship Id="rId2" Type="http://schemas.openxmlformats.org/officeDocument/2006/relationships/oleObject" Target="../embeddings/Document3.doc"/><Relationship Id="rId1" Type="http://schemas.openxmlformats.org/officeDocument/2006/relationships/tags" Target="../tags/tag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7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wmf"/><Relationship Id="rId2" Type="http://schemas.openxmlformats.org/officeDocument/2006/relationships/oleObject" Target="../embeddings/Document4.doc"/><Relationship Id="rId1" Type="http://schemas.openxmlformats.org/officeDocument/2006/relationships/tags" Target="../tags/tag2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9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tags" Target="../tags/tag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tags" Target="../tags/tag31.xml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1" name="PA_矩形 7"/>
          <p:cNvSpPr/>
          <p:nvPr>
            <p:custDataLst>
              <p:tags r:id="rId1"/>
            </p:custDataLst>
          </p:nvPr>
        </p:nvSpPr>
        <p:spPr>
          <a:xfrm>
            <a:off x="1449070" y="829945"/>
            <a:ext cx="5961380" cy="2061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defTabSz="685800">
              <a:defRPr/>
            </a:pPr>
            <a:r>
              <a:rPr kumimoji="1" lang="zh-CN" altLang="en-US" sz="3600" b="1" kern="0">
                <a:solidFill>
                  <a:schemeClr val="accent3"/>
                </a:solidFill>
                <a:cs typeface="+mn-ea"/>
                <a:sym typeface="+mn-lt"/>
              </a:rPr>
              <a:t>哆啦A梦的口袋网</a:t>
            </a:r>
            <a:r>
              <a:rPr lang="en-US" altLang="zh-CN" sz="2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       </a:t>
            </a:r>
            <a:endParaRPr lang="en-US" altLang="zh-CN" sz="200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  <a:p>
            <a:pPr lvl="0" algn="l" defTabSz="685800">
              <a:defRPr/>
            </a:pPr>
            <a:r>
              <a:rPr lang="en-US" altLang="zh-CN" sz="2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                   ------基于web的大学生二手交易平台</a:t>
            </a:r>
            <a:endParaRPr lang="en-US" altLang="zh-CN" sz="200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  <a:p>
            <a:pPr lvl="0" algn="l" defTabSz="685800">
              <a:defRPr/>
            </a:pPr>
            <a:r>
              <a:rPr kumimoji="1" lang="zh-CN" altLang="en-US" sz="3200" b="1" kern="0">
                <a:solidFill>
                  <a:schemeClr val="accent3"/>
                </a:solidFill>
                <a:cs typeface="+mn-ea"/>
                <a:sym typeface="+mn-lt"/>
              </a:rPr>
              <a:t>总体设计</a:t>
            </a:r>
            <a:endParaRPr kumimoji="1" lang="zh-CN" altLang="en-US" sz="3200" b="1" kern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85800">
              <a:defRPr/>
            </a:pPr>
            <a:endParaRPr lang="en-US" altLang="zh-CN" sz="200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  <a:p>
            <a:pPr lvl="0" algn="l" defTabSz="685800">
              <a:defRPr/>
            </a:pPr>
            <a:endParaRPr lang="zh-CN" altLang="en-US" sz="2000" kern="0" dirty="0">
              <a:solidFill>
                <a:schemeClr val="accent3"/>
              </a:solidFill>
              <a:latin typeface="方正细谭黑简体" panose="02000000000000000000" pitchFamily="2" charset="-122"/>
              <a:ea typeface="方正细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2624455" y="3194685"/>
            <a:ext cx="2385060" cy="113665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ym typeface="+mn-ea"/>
              </a:rPr>
              <a:t>SSE2020</a:t>
            </a:r>
            <a:r>
              <a:rPr lang="zh-CN" altLang="en-US" sz="1400" b="1" dirty="0" smtClean="0">
                <a:sym typeface="+mn-ea"/>
              </a:rPr>
              <a:t>秋</a:t>
            </a:r>
            <a:r>
              <a:rPr lang="en-US" altLang="zh-CN" sz="1400" b="1" dirty="0" smtClean="0">
                <a:sym typeface="+mn-ea"/>
              </a:rPr>
              <a:t>-G19</a:t>
            </a:r>
            <a:r>
              <a:rPr lang="zh-CN" altLang="en-US" sz="1400" b="1" dirty="0" smtClean="0">
                <a:sym typeface="+mn-ea"/>
              </a:rPr>
              <a:t>组</a:t>
            </a:r>
            <a:endParaRPr lang="zh-CN" altLang="en-US" sz="1400" b="1" dirty="0" smtClean="0">
              <a:sym typeface="+mn-ea"/>
            </a:endParaRPr>
          </a:p>
          <a:p>
            <a:pPr algn="ctr">
              <a:defRPr>
                <a:solidFill>
                  <a:srgbClr val="3F403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微软雅黑 Light" panose="020B0502040204020203" pitchFamily="34" charset="-122"/>
              </a:defRPr>
            </a:pPr>
            <a:r>
              <a:rPr lang="zh-CN" altLang="en-US" sz="1400" b="1" dirty="0" smtClean="0">
                <a:sym typeface="+mn-ea"/>
              </a:rPr>
              <a:t>组长：牛旷野</a:t>
            </a:r>
            <a:endParaRPr lang="en-US" altLang="zh-CN" sz="1400" b="1" dirty="0" smtClean="0"/>
          </a:p>
          <a:p>
            <a:pPr algn="ctr">
              <a:defRPr>
                <a:solidFill>
                  <a:srgbClr val="3F403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微软雅黑 Light" panose="020B0502040204020203" pitchFamily="34" charset="-122"/>
              </a:defRPr>
            </a:pPr>
            <a:r>
              <a:rPr lang="zh-CN" altLang="en-US" sz="1400" b="1" dirty="0" smtClean="0">
                <a:sym typeface="+mn-ea"/>
              </a:rPr>
              <a:t>组员：卢世逸、孟闻凯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5384087" y="1459209"/>
            <a:ext cx="1929877" cy="192987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933284" y="473990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620042" y="510019"/>
            <a:ext cx="1706880" cy="41541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选择最佳方案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功能分解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数据库设计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总体设计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用户手册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测试计划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详细计划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会议纪要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甘特图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课程进度更新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评价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671327" y="1776232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lvl="0" defTabSz="685800">
              <a:defRPr sz="4400" b="1" kern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目录</a:t>
            </a:r>
            <a:endParaRPr lang="zh-CN" altLang="en-US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5515836" y="2495913"/>
            <a:ext cx="16241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defTabSz="609600">
              <a:defRPr/>
            </a:pPr>
            <a:r>
              <a:rPr kumimoji="1" lang="en-US" altLang="zh-CN" sz="2000" b="1" kern="0">
                <a:solidFill>
                  <a:schemeClr val="bg1"/>
                </a:solidFill>
                <a:cs typeface="+mn-ea"/>
                <a:sym typeface="+mn-lt"/>
              </a:rPr>
              <a:t>CONTENTS</a:t>
            </a:r>
            <a:endParaRPr kumimoji="1" lang="zh-CN" altLang="en-US" sz="2000" b="1" kern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6169209" y="2990398"/>
            <a:ext cx="31741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3363179" y="2018999"/>
            <a:ext cx="2418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最佳方案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211705" y="2105660"/>
            <a:ext cx="7937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cs typeface="+mn-ea"/>
                <a:sym typeface="+mn-lt"/>
              </a:rPr>
              <a:t>壹</a:t>
            </a:r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1297940" y="476250"/>
            <a:ext cx="694563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2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sz="2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不使用框架，后端采用原生</a:t>
            </a:r>
            <a:r>
              <a:rPr lang="en-US" sz="2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servlet+jdbc</a:t>
            </a:r>
            <a:r>
              <a:rPr lang="zh-CN" sz="2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，前端采用</a:t>
            </a:r>
            <a:r>
              <a:rPr lang="en-US" sz="2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css+html+JavaScript</a:t>
            </a:r>
            <a:r>
              <a:rPr lang="zh-CN" sz="2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开发，部署在校网。组成系统的物理元素清单：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003300" y="1440180"/>
          <a:ext cx="7194550" cy="14636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96005"/>
                <a:gridCol w="3598545"/>
              </a:tblGrid>
              <a:tr h="2927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元素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功能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27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数据库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存放数据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27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后端业务代码模块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后端处理业务的代码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27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前端页面代码模块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渲染前端页面与进行数据交互的代码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27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校内服务器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将项目进行校网部署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003300" y="2903855"/>
            <a:ext cx="7194550" cy="18148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</a:t>
            </a:r>
            <a:r>
              <a:rPr lang="en-US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效益分析：</a:t>
            </a:r>
            <a:r>
              <a:rPr lang="en-US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jdbc</a:t>
            </a: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之前在数据库课程中已经学过，</a:t>
            </a:r>
            <a:r>
              <a:rPr lang="en-US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servlet</a:t>
            </a: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进行网页开发最原始的方法，也可以通过自学进行掌握。前端方面采用页面原生语言可以降低学习成本。由于成员之前都没进行过网页开发，故而不使用框架能将成本降到最低。部署在校网可以和老师谈一谈，比购买服务器成本要低。不使用框架降低学习成本的同时导致的问题是配置繁琐，业务代码不清晰。</a:t>
            </a:r>
            <a:r>
              <a:rPr lang="en-US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servlet</a:t>
            </a: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jdbc</a:t>
            </a: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的使用都有繁琐的缺点，各个功能代码之间不能有效减少耦合，会导致后期维护的困难。部署在校网导致的问题就是用户增加困难，而且校网不是很稳定，有时会有进不去的风险。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1186180" y="537210"/>
            <a:ext cx="7122160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2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sz="2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使用框架，后端采用</a:t>
            </a:r>
            <a:r>
              <a:rPr lang="en-US" sz="2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springmvc+jdbc</a:t>
            </a:r>
            <a:r>
              <a:rPr lang="zh-CN" sz="2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，前端采用</a:t>
            </a:r>
            <a:r>
              <a:rPr lang="en-US" sz="2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css+html+vue.js</a:t>
            </a:r>
            <a:r>
              <a:rPr lang="zh-CN" sz="2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开发，部署到阿里云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026160" y="1256030"/>
          <a:ext cx="6775450" cy="121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86455"/>
                <a:gridCol w="3388995"/>
              </a:tblGrid>
              <a:tr h="1524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元素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功能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00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数据库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存放数据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24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后端业务代码模块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后端处理业务的代码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24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前端页面代码模块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渲染前端页面与进行数据交互的代码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24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阿里云服务器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将项目进行外网部署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026160" y="2475230"/>
            <a:ext cx="6775450" cy="2306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效益分析：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springmvc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虽然也要学习，但如果学会了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servlet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的话其很容易上手。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vue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框架也不是非常的难，可以在摸索中学习。部署到阿里云虽然成本要比部署到校网高一些，但也可以接受。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springmvc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servlet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封装好了给我们使用，我们能省去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servlet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的频繁配置，只需配置一次就可。同时其清晰的结构能让代码变得更加易读，编写代码也更加简单，后期维护要更加方便。采用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vue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框架也能让前端的开发更加方便。部署项目到外网虽然成本高一些，但可以避免部署到内网导致的一些问题。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1231900" y="474980"/>
            <a:ext cx="7045325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2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lang="zh-CN" sz="2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使用框架，后端采用</a:t>
            </a:r>
            <a:r>
              <a:rPr lang="en-US" sz="2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ssm+springboot</a:t>
            </a:r>
            <a:r>
              <a:rPr lang="zh-CN" sz="2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，前端采用</a:t>
            </a:r>
            <a:r>
              <a:rPr lang="en-US" sz="2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css+html+vue.js</a:t>
            </a:r>
            <a:r>
              <a:rPr lang="zh-CN" sz="2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开发，部署到阿里云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049020" y="1170940"/>
          <a:ext cx="7058025" cy="1206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28060"/>
                <a:gridCol w="3529965"/>
              </a:tblGrid>
              <a:tr h="2413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元素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功能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数据库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存放数据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后端业务代码模块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后端处理业务的代码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前端页面代码模块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渲染前端页面与进行数据交互的代码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阿里云服务器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将项目进行外网部署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049020" y="2565400"/>
            <a:ext cx="7058025" cy="20612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效益分析：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spring+springmvc+mybatis+springboot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虽然是当前主流的框架，但其学习成本过高，对于没有相关基础的小组成员来说难以接受。采用该方案能让代码的业务逻辑最简洁清晰，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springboot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也能简化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ssm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繁琐的配置，但成本效益比不高。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 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最佳方案：后端采用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springmvc+jdbc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，前端采用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css+html+vue.js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，部署到阿里云。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3363179" y="2018999"/>
            <a:ext cx="2418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功能分解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211705" y="2105660"/>
            <a:ext cx="7937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cs typeface="+mn-ea"/>
                <a:sym typeface="+mn-lt"/>
              </a:rPr>
              <a:t>贰</a:t>
            </a:r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_矩形 7"/>
          <p:cNvSpPr/>
          <p:nvPr>
            <p:custDataLst>
              <p:tags r:id="rId1"/>
            </p:custDataLst>
          </p:nvPr>
        </p:nvSpPr>
        <p:spPr>
          <a:xfrm>
            <a:off x="3108325" y="331470"/>
            <a:ext cx="2929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>
                <a:solidFill>
                  <a:srgbClr val="7787A0"/>
                </a:solidFill>
                <a:cs typeface="+mn-ea"/>
                <a:sym typeface="+mn-lt"/>
              </a:rPr>
              <a:t>功能分解</a:t>
            </a:r>
            <a:endParaRPr lang="zh-CN" altLang="en-US" sz="24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381988" y="861068"/>
            <a:ext cx="381295" cy="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280" y="861060"/>
            <a:ext cx="6858000" cy="381571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15315" y="86106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chemeClr val="accent4">
                    <a:lumMod val="75000"/>
                  </a:schemeClr>
                </a:solidFill>
              </a:rPr>
              <a:t>业务流图</a:t>
            </a:r>
            <a:endParaRPr lang="zh-CN" altLang="en-US">
              <a:solidFill>
                <a:schemeClr val="accent4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_矩形 7"/>
          <p:cNvSpPr/>
          <p:nvPr>
            <p:custDataLst>
              <p:tags r:id="rId1"/>
            </p:custDataLst>
          </p:nvPr>
        </p:nvSpPr>
        <p:spPr>
          <a:xfrm>
            <a:off x="3108325" y="331470"/>
            <a:ext cx="2929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>
                <a:solidFill>
                  <a:srgbClr val="7787A0"/>
                </a:solidFill>
                <a:cs typeface="+mn-ea"/>
                <a:sym typeface="+mn-lt"/>
              </a:rPr>
              <a:t>功能分解</a:t>
            </a:r>
            <a:endParaRPr lang="zh-CN" altLang="en-US" sz="24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381988" y="861068"/>
            <a:ext cx="381295" cy="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615315" y="861060"/>
            <a:ext cx="9810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>
                <a:solidFill>
                  <a:schemeClr val="accent4">
                    <a:lumMod val="75000"/>
                  </a:schemeClr>
                </a:solidFill>
              </a:rPr>
              <a:t>HIPO</a:t>
            </a:r>
            <a:r>
              <a:rPr lang="zh-CN" altLang="en-US">
                <a:solidFill>
                  <a:schemeClr val="accent4">
                    <a:lumMod val="75000"/>
                  </a:schemeClr>
                </a:solidFill>
              </a:rPr>
              <a:t>图</a:t>
            </a:r>
            <a:endParaRPr lang="zh-CN" altLang="en-US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390" y="989965"/>
            <a:ext cx="6989445" cy="3657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_矩形 7"/>
          <p:cNvSpPr/>
          <p:nvPr>
            <p:custDataLst>
              <p:tags r:id="rId1"/>
            </p:custDataLst>
          </p:nvPr>
        </p:nvSpPr>
        <p:spPr>
          <a:xfrm>
            <a:off x="3108325" y="331470"/>
            <a:ext cx="2929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>
                <a:solidFill>
                  <a:srgbClr val="7787A0"/>
                </a:solidFill>
                <a:cs typeface="+mn-ea"/>
                <a:sym typeface="+mn-lt"/>
              </a:rPr>
              <a:t>功能分解</a:t>
            </a:r>
            <a:endParaRPr lang="zh-CN" altLang="en-US" sz="24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381988" y="861068"/>
            <a:ext cx="381295" cy="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615315" y="861060"/>
            <a:ext cx="8045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>
                <a:solidFill>
                  <a:schemeClr val="accent4">
                    <a:lumMod val="75000"/>
                  </a:schemeClr>
                </a:solidFill>
              </a:rPr>
              <a:t>IPO</a:t>
            </a:r>
            <a:r>
              <a:rPr lang="zh-CN" altLang="en-US">
                <a:solidFill>
                  <a:schemeClr val="accent4">
                    <a:lumMod val="75000"/>
                  </a:schemeClr>
                </a:solidFill>
              </a:rPr>
              <a:t>图</a:t>
            </a:r>
            <a:endParaRPr lang="zh-CN" altLang="en-US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15" y="1303655"/>
            <a:ext cx="8110220" cy="34778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_矩形 7"/>
          <p:cNvSpPr/>
          <p:nvPr>
            <p:custDataLst>
              <p:tags r:id="rId1"/>
            </p:custDataLst>
          </p:nvPr>
        </p:nvSpPr>
        <p:spPr>
          <a:xfrm>
            <a:off x="3108325" y="331470"/>
            <a:ext cx="2929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>
                <a:solidFill>
                  <a:srgbClr val="7787A0"/>
                </a:solidFill>
                <a:cs typeface="+mn-ea"/>
                <a:sym typeface="+mn-lt"/>
              </a:rPr>
              <a:t>功能分解</a:t>
            </a:r>
            <a:endParaRPr lang="zh-CN" altLang="en-US" sz="24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381988" y="861068"/>
            <a:ext cx="381295" cy="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615315" y="861060"/>
            <a:ext cx="8045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>
                <a:solidFill>
                  <a:schemeClr val="accent4">
                    <a:lumMod val="75000"/>
                  </a:schemeClr>
                </a:solidFill>
              </a:rPr>
              <a:t>IPO</a:t>
            </a:r>
            <a:r>
              <a:rPr lang="zh-CN" altLang="en-US">
                <a:solidFill>
                  <a:schemeClr val="accent4">
                    <a:lumMod val="75000"/>
                  </a:schemeClr>
                </a:solidFill>
              </a:rPr>
              <a:t>图</a:t>
            </a:r>
            <a:endParaRPr lang="zh-CN" altLang="en-US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905" y="1313815"/>
            <a:ext cx="8126095" cy="3390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_矩形 7"/>
          <p:cNvSpPr/>
          <p:nvPr>
            <p:custDataLst>
              <p:tags r:id="rId1"/>
            </p:custDataLst>
          </p:nvPr>
        </p:nvSpPr>
        <p:spPr>
          <a:xfrm>
            <a:off x="3108325" y="331470"/>
            <a:ext cx="2929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>
                <a:solidFill>
                  <a:srgbClr val="7787A0"/>
                </a:solidFill>
                <a:cs typeface="+mn-ea"/>
                <a:sym typeface="+mn-lt"/>
              </a:rPr>
              <a:t>功能分解</a:t>
            </a:r>
            <a:endParaRPr lang="zh-CN" altLang="en-US" sz="24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381988" y="861068"/>
            <a:ext cx="381295" cy="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615315" y="861060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chemeClr val="accent4">
                    <a:lumMod val="75000"/>
                  </a:schemeClr>
                </a:solidFill>
              </a:rPr>
              <a:t>出售数据流图</a:t>
            </a:r>
            <a:endParaRPr lang="zh-CN" altLang="en-US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-2147482615" name="图片 -21474826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170" y="929005"/>
            <a:ext cx="4045585" cy="38296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_矩形 7"/>
          <p:cNvSpPr/>
          <p:nvPr>
            <p:custDataLst>
              <p:tags r:id="rId1"/>
            </p:custDataLst>
          </p:nvPr>
        </p:nvSpPr>
        <p:spPr>
          <a:xfrm>
            <a:off x="3108325" y="331470"/>
            <a:ext cx="2929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>
                <a:solidFill>
                  <a:srgbClr val="7787A0"/>
                </a:solidFill>
                <a:cs typeface="+mn-ea"/>
                <a:sym typeface="+mn-lt"/>
              </a:rPr>
              <a:t>功能分解</a:t>
            </a:r>
            <a:endParaRPr lang="zh-CN" altLang="en-US" sz="24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381988" y="861068"/>
            <a:ext cx="381295" cy="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615315" y="861060"/>
            <a:ext cx="2011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chemeClr val="accent4">
                    <a:lumMod val="75000"/>
                  </a:schemeClr>
                </a:solidFill>
              </a:rPr>
              <a:t>查看订单数据流图</a:t>
            </a:r>
            <a:endParaRPr lang="zh-CN" altLang="en-US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-2147482614" name="图片 -2147482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735" y="1005205"/>
            <a:ext cx="4714875" cy="36620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_矩形 7"/>
          <p:cNvSpPr/>
          <p:nvPr>
            <p:custDataLst>
              <p:tags r:id="rId1"/>
            </p:custDataLst>
          </p:nvPr>
        </p:nvSpPr>
        <p:spPr>
          <a:xfrm>
            <a:off x="3108325" y="331470"/>
            <a:ext cx="2929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>
                <a:solidFill>
                  <a:srgbClr val="7787A0"/>
                </a:solidFill>
                <a:cs typeface="+mn-ea"/>
                <a:sym typeface="+mn-lt"/>
              </a:rPr>
              <a:t>功能分解</a:t>
            </a:r>
            <a:endParaRPr lang="zh-CN" altLang="en-US" sz="24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381988" y="861068"/>
            <a:ext cx="381295" cy="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615315" y="861060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chemeClr val="accent4">
                    <a:lumMod val="75000"/>
                  </a:schemeClr>
                </a:solidFill>
              </a:rPr>
              <a:t>购买数据流图</a:t>
            </a:r>
            <a:endParaRPr lang="zh-CN" altLang="en-US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-2147482613" name="图片 -21474826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260" y="1272858"/>
            <a:ext cx="5273040" cy="29635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3363179" y="2018999"/>
            <a:ext cx="29768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数据库设计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211705" y="2105660"/>
            <a:ext cx="7937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cs typeface="+mn-ea"/>
                <a:sym typeface="+mn-lt"/>
              </a:rPr>
              <a:t>叁</a:t>
            </a:r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_矩形 7"/>
          <p:cNvSpPr/>
          <p:nvPr>
            <p:custDataLst>
              <p:tags r:id="rId1"/>
            </p:custDataLst>
          </p:nvPr>
        </p:nvSpPr>
        <p:spPr>
          <a:xfrm>
            <a:off x="3107055" y="331470"/>
            <a:ext cx="2929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>
                <a:solidFill>
                  <a:srgbClr val="7787A0"/>
                </a:solidFill>
                <a:cs typeface="+mn-ea"/>
                <a:sym typeface="+mn-lt"/>
              </a:rPr>
              <a:t>数据库设计</a:t>
            </a:r>
            <a:endParaRPr lang="zh-CN" altLang="en-US" sz="24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381988" y="861068"/>
            <a:ext cx="381295" cy="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-214748262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867535" y="1206500"/>
            <a:ext cx="6875145" cy="31635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614045" y="983615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chemeClr val="accent4">
                    <a:lumMod val="75000"/>
                  </a:schemeClr>
                </a:solidFill>
              </a:rPr>
              <a:t>物理数据模型</a:t>
            </a:r>
            <a:endParaRPr lang="zh-CN" altLang="en-US">
              <a:solidFill>
                <a:schemeClr val="accent4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510858" y="75027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PA_矩形 7"/>
          <p:cNvSpPr/>
          <p:nvPr>
            <p:custDataLst>
              <p:tags r:id="rId1"/>
            </p:custDataLst>
          </p:nvPr>
        </p:nvSpPr>
        <p:spPr>
          <a:xfrm>
            <a:off x="-317500" y="932180"/>
            <a:ext cx="4081780" cy="321945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500" b="1" kern="0">
                <a:solidFill>
                  <a:srgbClr val="7787A0"/>
                </a:solidFill>
                <a:cs typeface="+mn-ea"/>
                <a:sym typeface="+mn-lt"/>
              </a:rPr>
              <a:t>表结构及说明</a:t>
            </a:r>
            <a:endParaRPr lang="zh-CN" altLang="en-US" sz="15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835025" y="1304290"/>
            <a:ext cx="1771015" cy="762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A_矩形 7"/>
          <p:cNvSpPr/>
          <p:nvPr>
            <p:custDataLst>
              <p:tags r:id="rId2"/>
            </p:custDataLst>
          </p:nvPr>
        </p:nvSpPr>
        <p:spPr>
          <a:xfrm>
            <a:off x="3107055" y="331470"/>
            <a:ext cx="2929255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>
                <a:solidFill>
                  <a:srgbClr val="7787A0"/>
                </a:solidFill>
                <a:cs typeface="+mn-ea"/>
                <a:sym typeface="+mn-lt"/>
              </a:rPr>
              <a:t>数据库设计</a:t>
            </a:r>
            <a:endParaRPr lang="zh-CN" altLang="en-US" sz="24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4381988" y="861068"/>
            <a:ext cx="381295" cy="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-21474826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055" y="1691640"/>
            <a:ext cx="2286000" cy="218694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7" name="表格 6"/>
          <p:cNvGraphicFramePr/>
          <p:nvPr>
            <p:custDataLst>
              <p:tags r:id="rId4"/>
            </p:custDataLst>
          </p:nvPr>
        </p:nvGraphicFramePr>
        <p:xfrm>
          <a:off x="3294698" y="1139825"/>
          <a:ext cx="5073650" cy="34823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8435"/>
                <a:gridCol w="3625215"/>
              </a:tblGrid>
              <a:tr h="2901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表名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作用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1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collect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存放用户收藏信息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1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fl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存放商品分类信息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1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item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存放商品信息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1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link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存放商品和分类关联信息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1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manager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存放管理员信息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1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orderinf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存放订单信息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1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sell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存放用户发布信息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1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tousu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存放用户投诉信息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1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tuikuan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存放用户退款信息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1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userinf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存放用户信息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1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wuliu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存放订单物流信息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_矩形 7"/>
          <p:cNvSpPr/>
          <p:nvPr>
            <p:custDataLst>
              <p:tags r:id="rId1"/>
            </p:custDataLst>
          </p:nvPr>
        </p:nvSpPr>
        <p:spPr>
          <a:xfrm>
            <a:off x="266700" y="400685"/>
            <a:ext cx="2929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>
                <a:solidFill>
                  <a:srgbClr val="7787A0"/>
                </a:solidFill>
                <a:cs typeface="+mn-ea"/>
                <a:sym typeface="+mn-lt"/>
              </a:rPr>
              <a:t>数据库详细设计</a:t>
            </a:r>
            <a:endParaRPr lang="zh-CN" altLang="en-US" sz="24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381988" y="861068"/>
            <a:ext cx="381295" cy="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909695" y="2328545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" showAsIcon="1" r:id="rId2" imgW="971550" imgH="800100" progId="Word.Document.8">
                  <p:embed/>
                </p:oleObj>
              </mc:Choice>
              <mc:Fallback>
                <p:oleObj name="" showAsIcon="1" r:id="rId2" imgW="971550" imgH="800100" progId="Word.Document.8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909695" y="2328545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2912964" y="2056464"/>
            <a:ext cx="2418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总体设计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3147060" y="1207135"/>
            <a:ext cx="19494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cs typeface="+mn-ea"/>
                <a:sym typeface="+mn-lt"/>
              </a:rPr>
              <a:t>叁</a:t>
            </a:r>
            <a:endParaRPr lang="zh-CN" altLang="en-US" sz="20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_矩形 7"/>
          <p:cNvSpPr/>
          <p:nvPr>
            <p:custDataLst>
              <p:tags r:id="rId1"/>
            </p:custDataLst>
          </p:nvPr>
        </p:nvSpPr>
        <p:spPr>
          <a:xfrm>
            <a:off x="358775" y="400685"/>
            <a:ext cx="2929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>
                <a:solidFill>
                  <a:srgbClr val="7787A0"/>
                </a:solidFill>
                <a:cs typeface="+mn-ea"/>
                <a:sym typeface="+mn-lt"/>
              </a:rPr>
              <a:t>总体设计</a:t>
            </a:r>
            <a:endParaRPr lang="zh-CN" altLang="en-US" sz="24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381988" y="861068"/>
            <a:ext cx="381295" cy="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086225" y="2171700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showAsIcon="1" r:id="rId2" imgW="971550" imgH="800100" progId="Word.Document.8">
                  <p:link updateAutomatic="1"/>
                </p:oleObj>
              </mc:Choice>
              <mc:Fallback>
                <p:oleObj name="" showAsIcon="1" r:id="rId2" imgW="971550" imgH="800100" progId="Word.Document.8">
                  <p:link updateAutomatic="1"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86225" y="2171700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2912964" y="2056464"/>
            <a:ext cx="2418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用户手册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3147060" y="1207135"/>
            <a:ext cx="19494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cs typeface="+mn-ea"/>
                <a:sym typeface="+mn-lt"/>
              </a:rPr>
              <a:t>肆</a:t>
            </a:r>
            <a:endParaRPr lang="en-US" altLang="zh-CN" sz="20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_矩形 7"/>
          <p:cNvSpPr/>
          <p:nvPr>
            <p:custDataLst>
              <p:tags r:id="rId1"/>
            </p:custDataLst>
          </p:nvPr>
        </p:nvSpPr>
        <p:spPr>
          <a:xfrm>
            <a:off x="3107055" y="331470"/>
            <a:ext cx="2929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>
                <a:solidFill>
                  <a:srgbClr val="7787A0"/>
                </a:solidFill>
                <a:cs typeface="+mn-ea"/>
                <a:sym typeface="+mn-lt"/>
              </a:rPr>
              <a:t>用户手册</a:t>
            </a:r>
            <a:endParaRPr lang="zh-CN" altLang="en-US" sz="24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381988" y="861068"/>
            <a:ext cx="381295" cy="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086225" y="2171700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" showAsIcon="1" r:id="rId2" imgW="971550" imgH="800100" progId="Word.Document.8">
                  <p:embed/>
                </p:oleObj>
              </mc:Choice>
              <mc:Fallback>
                <p:oleObj name="" showAsIcon="1" r:id="rId2" imgW="971550" imgH="800100" progId="Word.Document.8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86225" y="2171700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2912964" y="2056464"/>
            <a:ext cx="2418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测试计划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3147060" y="1207135"/>
            <a:ext cx="19494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000">
                <a:cs typeface="+mn-ea"/>
                <a:sym typeface="+mn-lt"/>
              </a:rPr>
              <a:t>伍</a:t>
            </a:r>
            <a:endParaRPr lang="zh-CN" sz="20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_矩形 7"/>
          <p:cNvSpPr/>
          <p:nvPr>
            <p:custDataLst>
              <p:tags r:id="rId1"/>
            </p:custDataLst>
          </p:nvPr>
        </p:nvSpPr>
        <p:spPr>
          <a:xfrm>
            <a:off x="3107055" y="331470"/>
            <a:ext cx="2929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>
                <a:solidFill>
                  <a:srgbClr val="7787A0"/>
                </a:solidFill>
                <a:cs typeface="+mn-ea"/>
                <a:sym typeface="+mn-lt"/>
              </a:rPr>
              <a:t>测试计划</a:t>
            </a:r>
            <a:endParaRPr lang="zh-CN" altLang="en-US" sz="24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381988" y="861068"/>
            <a:ext cx="381295" cy="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086225" y="2171700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" showAsIcon="1" r:id="rId2" imgW="971550" imgH="800100" progId="Word.Document.8">
                  <p:embed/>
                </p:oleObj>
              </mc:Choice>
              <mc:Fallback>
                <p:oleObj name="" showAsIcon="1" r:id="rId2" imgW="971550" imgH="800100" progId="Word.Document.8">
                  <p:embed/>
                  <p:pic>
                    <p:nvPicPr>
                      <p:cNvPr id="0" name="图片 409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86225" y="2171700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2912964" y="2056464"/>
            <a:ext cx="2418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详细计划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3147060" y="1207135"/>
            <a:ext cx="19494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000">
                <a:cs typeface="+mn-ea"/>
                <a:sym typeface="+mn-lt"/>
              </a:rPr>
              <a:t>陆</a:t>
            </a:r>
            <a:endParaRPr lang="zh-CN" sz="20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_矩形 7"/>
          <p:cNvSpPr/>
          <p:nvPr>
            <p:custDataLst>
              <p:tags r:id="rId1"/>
            </p:custDataLst>
          </p:nvPr>
        </p:nvSpPr>
        <p:spPr>
          <a:xfrm>
            <a:off x="3107055" y="331470"/>
            <a:ext cx="2929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>
                <a:solidFill>
                  <a:srgbClr val="7787A0"/>
                </a:solidFill>
                <a:cs typeface="+mn-ea"/>
                <a:sym typeface="+mn-lt"/>
              </a:rPr>
              <a:t>详细计划</a:t>
            </a:r>
            <a:endParaRPr lang="zh-CN" altLang="en-US" sz="24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381988" y="861068"/>
            <a:ext cx="381295" cy="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086225" y="2171700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" showAsIcon="1" r:id="rId2" imgW="971550" imgH="800100" progId="Word.Document.8">
                  <p:embed/>
                </p:oleObj>
              </mc:Choice>
              <mc:Fallback>
                <p:oleObj name="" showAsIcon="1" r:id="rId2" imgW="971550" imgH="800100" progId="Word.Document.8">
                  <p:embed/>
                  <p:pic>
                    <p:nvPicPr>
                      <p:cNvPr id="0" name="图片 512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86225" y="2171700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978754" y="2187274"/>
            <a:ext cx="74472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会议记录，甘特图及进程更新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3147060" y="1207135"/>
            <a:ext cx="19494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cs typeface="+mn-ea"/>
                <a:sym typeface="+mn-lt"/>
              </a:rPr>
              <a:t>柒</a:t>
            </a:r>
            <a:endParaRPr lang="zh-CN" altLang="en-US" sz="20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7473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2291080"/>
            <a:ext cx="1913890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会议记录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0035" y="1087120"/>
            <a:ext cx="4766310" cy="37795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480" y="387350"/>
            <a:ext cx="6675120" cy="807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711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1720215"/>
            <a:ext cx="102806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甘特图</a:t>
            </a:r>
            <a:endParaRPr 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7140" y="629285"/>
            <a:ext cx="6939280" cy="3885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711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1720215"/>
            <a:ext cx="102806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甘特图</a:t>
            </a:r>
            <a:endParaRPr 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51330" y="444500"/>
            <a:ext cx="5432425" cy="42551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711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2922270"/>
            <a:ext cx="2254250" cy="1245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项目计划与可行性分析更新</a:t>
            </a:r>
            <a:endParaRPr lang="zh-CN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49855" y="3075940"/>
            <a:ext cx="52152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项目计划主要是更新总体设计阶段的</a:t>
            </a:r>
            <a:r>
              <a:rPr lang="en-US" altLang="zh-CN"/>
              <a:t>WBS</a:t>
            </a:r>
            <a:r>
              <a:rPr lang="zh-CN" altLang="en-US"/>
              <a:t>图</a:t>
            </a:r>
            <a:endParaRPr lang="zh-CN" altLang="en-US"/>
          </a:p>
          <a:p>
            <a:r>
              <a:rPr lang="zh-CN" altLang="en-US"/>
              <a:t>可行性分析根据目前的进度更改了预算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3905" y="317500"/>
            <a:ext cx="5894070" cy="24980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711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1750695"/>
            <a:ext cx="22542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SRS</a:t>
            </a:r>
            <a:r>
              <a:rPr lang="zh-CN" b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更新</a:t>
            </a:r>
            <a:endParaRPr lang="zh-CN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480185" y="670560"/>
          <a:ext cx="2172970" cy="37223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6485"/>
                <a:gridCol w="1086485"/>
              </a:tblGrid>
              <a:tr h="51943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姓名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巫涵林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性别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男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19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身份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浙大城院大三学生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802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特点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作为管理员用户，参与我们对用户的调查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240" y="551180"/>
            <a:ext cx="4043045" cy="3758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711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1720215"/>
            <a:ext cx="25044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项目计划与可行性更新</a:t>
            </a:r>
            <a:endParaRPr lang="zh-CN" b="1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5605" y="2493010"/>
            <a:ext cx="43776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>
                <a:latin typeface="宋体" panose="02010600030101010101" pitchFamily="2" charset="-122"/>
                <a:ea typeface="宋体" panose="02010600030101010101" pitchFamily="2" charset="-122"/>
              </a:rPr>
              <a:t>可行性分析主要是根据需求说明书更新了数据流程和处理流程，用户使用可行性增加了原型找用户反馈并修改这一条</a:t>
            </a:r>
            <a:endParaRPr 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382905"/>
            <a:ext cx="3589655" cy="10591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" y="439420"/>
            <a:ext cx="2918460" cy="11969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660" y="1387475"/>
            <a:ext cx="3876040" cy="266763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6570" y="3546475"/>
            <a:ext cx="3176270" cy="7372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4485859" y="2085674"/>
            <a:ext cx="2418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绩效评价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045335" y="2172335"/>
            <a:ext cx="19494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cs typeface="+mn-ea"/>
                <a:sym typeface="+mn-lt"/>
              </a:rPr>
              <a:t>捌</a:t>
            </a:r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07100" y="108000"/>
            <a:ext cx="8518880" cy="4491629"/>
          </a:xfrm>
        </p:spPr>
        <p:txBody>
          <a:bodyPr/>
          <a:lstStyle/>
          <a:p>
            <a:pPr algn="l"/>
            <a:r>
              <a:rPr lang="zh-CN" altLang="en-US" sz="2700" dirty="0"/>
              <a:t>当前阶段成员打分</a:t>
            </a:r>
            <a:endParaRPr lang="zh-CN" altLang="en-US" sz="27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z="1350" noProof="0" smtClean="0"/>
            </a:fld>
            <a:endParaRPr lang="en-US" sz="1350" noProof="0" dirty="0"/>
          </a:p>
        </p:txBody>
      </p:sp>
      <p:graphicFrame>
        <p:nvGraphicFramePr>
          <p:cNvPr id="6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97180" y="881063"/>
          <a:ext cx="8332470" cy="3439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8745"/>
                <a:gridCol w="3634740"/>
                <a:gridCol w="916940"/>
                <a:gridCol w="786765"/>
                <a:gridCol w="840740"/>
                <a:gridCol w="764540"/>
              </a:tblGrid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小组成员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分工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牛旷野打分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卢世逸打分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孟闻凯打分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得分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</a:tr>
              <a:tr h="13030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/>
                        <a:t>牛旷野</a:t>
                      </a:r>
                      <a:endParaRPr lang="zh-CN" alt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/>
                        <a:t>文档编写，确定最佳方案，设计数据库，更新课程成果</a:t>
                      </a:r>
                      <a:endParaRPr lang="zh-CN" altLang="en-US" sz="1015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/>
                        <a:t>完成情况：文档初步编写完成，完成数据库设计，</a:t>
                      </a:r>
                      <a:r>
                        <a:rPr lang="zh-CN" sz="1015" dirty="0"/>
                        <a:t>课程成果有更新</a:t>
                      </a:r>
                      <a:endParaRPr lang="zh-CN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15" dirty="0"/>
                        <a:t>92</a:t>
                      </a:r>
                      <a:endParaRPr 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015" dirty="0"/>
                        <a:t>91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15" dirty="0"/>
                        <a:t>93</a:t>
                      </a:r>
                      <a:endParaRPr 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15" dirty="0"/>
                        <a:t>92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</a:tr>
              <a:tr h="99441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/>
                        <a:t>卢世逸</a:t>
                      </a:r>
                      <a:endParaRPr lang="zh-CN" alt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015" dirty="0"/>
                        <a:t>PPT</a:t>
                      </a:r>
                      <a:r>
                        <a:rPr lang="zh-CN" altLang="en-US" sz="1015" dirty="0"/>
                        <a:t>制作，</a:t>
                      </a:r>
                      <a:r>
                        <a:rPr lang="zh-CN" altLang="en-US" sz="1010" dirty="0">
                          <a:sym typeface="+mn-ea"/>
                        </a:rPr>
                        <a:t>功能分解，设计软件结构，</a:t>
                      </a:r>
                      <a:endParaRPr lang="zh-CN" altLang="en-US" sz="1010" dirty="0">
                        <a:sym typeface="+mn-ea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0" dirty="0">
                          <a:sym typeface="+mn-ea"/>
                        </a:rPr>
                        <a:t>完成情况：</a:t>
                      </a:r>
                      <a:r>
                        <a:rPr lang="en-US" altLang="zh-CN" sz="1010" dirty="0">
                          <a:sym typeface="+mn-ea"/>
                        </a:rPr>
                        <a:t>ppt</a:t>
                      </a:r>
                      <a:r>
                        <a:rPr lang="zh-CN" altLang="en-US" sz="1010" dirty="0">
                          <a:sym typeface="+mn-ea"/>
                        </a:rPr>
                        <a:t>制作完成，完成</a:t>
                      </a:r>
                      <a:r>
                        <a:rPr lang="en-US" altLang="zh-CN" sz="1010" dirty="0">
                          <a:sym typeface="+mn-ea"/>
                        </a:rPr>
                        <a:t>HIPO</a:t>
                      </a:r>
                      <a:r>
                        <a:rPr lang="zh-CN" altLang="en-US" sz="1010" dirty="0">
                          <a:sym typeface="+mn-ea"/>
                        </a:rPr>
                        <a:t>图与</a:t>
                      </a:r>
                      <a:r>
                        <a:rPr lang="en-US" altLang="zh-CN" sz="1010" dirty="0">
                          <a:sym typeface="+mn-ea"/>
                        </a:rPr>
                        <a:t>IPO</a:t>
                      </a:r>
                      <a:r>
                        <a:rPr lang="zh-CN" altLang="en-US" sz="1010" dirty="0">
                          <a:sym typeface="+mn-ea"/>
                        </a:rPr>
                        <a:t>图的绘制。</a:t>
                      </a:r>
                      <a:endParaRPr lang="zh-CN" altLang="en-US" sz="1010" dirty="0">
                        <a:sym typeface="+mn-e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015" dirty="0"/>
                        <a:t>89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015" dirty="0"/>
                        <a:t>90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15" dirty="0"/>
                        <a:t>90</a:t>
                      </a:r>
                      <a:endParaRPr 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15" dirty="0"/>
                        <a:t>89.5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/>
                        <a:t>孟闻凯</a:t>
                      </a:r>
                      <a:endParaRPr lang="zh-CN" alt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sz="1015" dirty="0"/>
                        <a:t>制定测试计划，编写用户手册</a:t>
                      </a:r>
                      <a:endParaRPr lang="zh-CN" sz="1015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sz="1015" dirty="0"/>
                        <a:t>完成情况：完成用户手册初步编写，完成测试计划初步编写</a:t>
                      </a:r>
                      <a:endParaRPr lang="zh-CN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15" dirty="0">
                          <a:ea typeface="宋体" panose="02010600030101010101" pitchFamily="2" charset="-122"/>
                        </a:rPr>
                        <a:t>90</a:t>
                      </a:r>
                      <a:endParaRPr 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015" dirty="0"/>
                        <a:t>91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15" dirty="0"/>
                        <a:t>91</a:t>
                      </a:r>
                      <a:endParaRPr 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15" dirty="0"/>
                        <a:t>90.5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286544" y="4599464"/>
            <a:ext cx="8160544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350"/>
              <a:t>打分规则：组长分数组成为：自评占0.4，组员评价占0.3，组员分数组成为：自评占0.2，组长评价占0.5，另一个组员评价占0.3.</a:t>
            </a:r>
            <a:endParaRPr lang="zh-CN" alt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1" name="PA_矩形 7"/>
          <p:cNvSpPr/>
          <p:nvPr>
            <p:custDataLst>
              <p:tags r:id="rId1"/>
            </p:custDataLst>
          </p:nvPr>
        </p:nvSpPr>
        <p:spPr>
          <a:xfrm>
            <a:off x="985104" y="1813170"/>
            <a:ext cx="503214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685800">
              <a:defRPr/>
            </a:pPr>
            <a:r>
              <a:rPr lang="zh-CN" altLang="en-US" sz="5400" kern="0" dirty="0">
                <a:solidFill>
                  <a:schemeClr val="accent3"/>
                </a:solidFill>
                <a:latin typeface="方正细谭黑简体" panose="02000000000000000000" pitchFamily="2" charset="-122"/>
                <a:ea typeface="方正细谭黑简体" panose="02000000000000000000" pitchFamily="2" charset="-122"/>
                <a:cs typeface="+mn-ea"/>
                <a:sym typeface="+mn-lt"/>
              </a:rPr>
              <a:t>感</a:t>
            </a:r>
            <a:r>
              <a:rPr lang="zh-CN" altLang="en-US" sz="5400" kern="0" dirty="0" smtClean="0">
                <a:solidFill>
                  <a:schemeClr val="accent3"/>
                </a:solidFill>
                <a:latin typeface="方正细谭黑简体" panose="02000000000000000000" pitchFamily="2" charset="-122"/>
                <a:ea typeface="方正细谭黑简体" panose="02000000000000000000" pitchFamily="2" charset="-122"/>
                <a:cs typeface="+mn-ea"/>
                <a:sym typeface="+mn-lt"/>
              </a:rPr>
              <a:t>谢各位观看！</a:t>
            </a:r>
            <a:endParaRPr lang="zh-CN" altLang="en-US" sz="5400" kern="0" dirty="0">
              <a:solidFill>
                <a:schemeClr val="accent3"/>
              </a:solidFill>
              <a:latin typeface="方正细谭黑简体" panose="02000000000000000000" pitchFamily="2" charset="-122"/>
              <a:ea typeface="方正细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ags/tag1.xml><?xml version="1.0" encoding="utf-8"?>
<p:tagLst xmlns:p="http://schemas.openxmlformats.org/presentationml/2006/main">
  <p:tag name="PA" val="v4.1.3"/>
</p:tagLst>
</file>

<file path=ppt/tags/tag2.xml><?xml version="1.0" encoding="utf-8"?>
<p:tagLst xmlns:p="http://schemas.openxmlformats.org/presentationml/2006/main">
  <p:tag name="PA" val="v4.1.3"/>
</p:tagLst>
</file>

<file path=ppt/tags/tag3.xml><?xml version="1.0" encoding="utf-8"?>
<p:tagLst xmlns:p="http://schemas.openxmlformats.org/presentationml/2006/main">
  <p:tag name="KSO_WM_UNIT_TABLE_BEAUTIFY" val="smartTable{5e9648a0-ad79-4183-8054-4e22256b02ca}"/>
  <p:tag name="TABLE_ENDDRAG_ORIGIN_RECT" val="566*115"/>
  <p:tag name="TABLE_ENDDRAG_RECT" val="76*120*566*115"/>
</p:tagLst>
</file>

<file path=ppt/tags/tag4.xml><?xml version="1.0" encoding="utf-8"?>
<p:tagLst xmlns:p="http://schemas.openxmlformats.org/presentationml/2006/main">
  <p:tag name="KSO_WM_UNIT_TABLE_BEAUTIFY" val="smartTable{9fd7f72b-a2c4-41f5-ab22-f1a63188deae}"/>
  <p:tag name="TABLE_ENDDRAG_ORIGIN_RECT" val="533*60"/>
  <p:tag name="TABLE_ENDDRAG_RECT" val="80*107*533*60"/>
</p:tagLst>
</file>

<file path=ppt/tags/tag5.xml><?xml version="1.0" encoding="utf-8"?>
<p:tagLst xmlns:p="http://schemas.openxmlformats.org/presentationml/2006/main">
  <p:tag name="KSO_WM_UNIT_TABLE_BEAUTIFY" val="smartTable{d80897cf-ba0e-4881-8623-95552e475c54}"/>
  <p:tag name="TABLE_ENDDRAG_ORIGIN_RECT" val="555*94"/>
  <p:tag name="TABLE_ENDDRAG_RECT" val="82*92*555*94"/>
</p:tagLst>
</file>

<file path=ppt/tags/tag6.xml><?xml version="1.0" encoding="utf-8"?>
<p:tagLst xmlns:p="http://schemas.openxmlformats.org/presentationml/2006/main">
  <p:tag name="PA" val="v4.1.3"/>
</p:tagLst>
</file>

<file path=ppt/tags/tag7.xml><?xml version="1.0" encoding="utf-8"?>
<p:tagLst xmlns:p="http://schemas.openxmlformats.org/presentationml/2006/main">
  <p:tag name="PA" val="v4.1.3"/>
</p:tagLst>
</file>

<file path=ppt/tags/tag8.xml><?xml version="1.0" encoding="utf-8"?>
<p:tagLst xmlns:p="http://schemas.openxmlformats.org/presentationml/2006/main">
  <p:tag name="PA" val="v4.1.3"/>
</p:tagLst>
</file>

<file path=ppt/tags/tag9.xml><?xml version="1.0" encoding="utf-8"?>
<p:tagLst xmlns:p="http://schemas.openxmlformats.org/presentationml/2006/main">
  <p:tag name="PA" val="v4.1.3"/>
</p:tagLst>
</file>

<file path=ppt/tags/tag10.xml><?xml version="1.0" encoding="utf-8"?>
<p:tagLst xmlns:p="http://schemas.openxmlformats.org/presentationml/2006/main">
  <p:tag name="PA" val="v4.1.3"/>
</p:tagLst>
</file>

<file path=ppt/tags/tag11.xml><?xml version="1.0" encoding="utf-8"?>
<p:tagLst xmlns:p="http://schemas.openxmlformats.org/presentationml/2006/main">
  <p:tag name="PA" val="v4.1.3"/>
</p:tagLst>
</file>

<file path=ppt/tags/tag12.xml><?xml version="1.0" encoding="utf-8"?>
<p:tagLst xmlns:p="http://schemas.openxmlformats.org/presentationml/2006/main">
  <p:tag name="PA" val="v4.1.3"/>
</p:tagLst>
</file>

<file path=ppt/tags/tag13.xml><?xml version="1.0" encoding="utf-8"?>
<p:tagLst xmlns:p="http://schemas.openxmlformats.org/presentationml/2006/main">
  <p:tag name="PA" val="v4.1.3"/>
</p:tagLst>
</file>

<file path=ppt/tags/tag14.xml><?xml version="1.0" encoding="utf-8"?>
<p:tagLst xmlns:p="http://schemas.openxmlformats.org/presentationml/2006/main">
  <p:tag name="PA" val="v4.1.3"/>
</p:tagLst>
</file>

<file path=ppt/tags/tag15.xml><?xml version="1.0" encoding="utf-8"?>
<p:tagLst xmlns:p="http://schemas.openxmlformats.org/presentationml/2006/main">
  <p:tag name="PA" val="v4.1.3"/>
</p:tagLst>
</file>

<file path=ppt/tags/tag16.xml><?xml version="1.0" encoding="utf-8"?>
<p:tagLst xmlns:p="http://schemas.openxmlformats.org/presentationml/2006/main">
  <p:tag name="KSO_WM_UNIT_PLACING_PICTURE_USER_VIEWPORT" val="{&quot;height&quot;:4982,&quot;width&quot;:10827}"/>
</p:tagLst>
</file>

<file path=ppt/tags/tag17.xml><?xml version="1.0" encoding="utf-8"?>
<p:tagLst xmlns:p="http://schemas.openxmlformats.org/presentationml/2006/main">
  <p:tag name="PA" val="v4.1.3"/>
</p:tagLst>
</file>

<file path=ppt/tags/tag18.xml><?xml version="1.0" encoding="utf-8"?>
<p:tagLst xmlns:p="http://schemas.openxmlformats.org/presentationml/2006/main">
  <p:tag name="PA" val="v4.1.3"/>
</p:tagLst>
</file>

<file path=ppt/tags/tag19.xml><?xml version="1.0" encoding="utf-8"?>
<p:tagLst xmlns:p="http://schemas.openxmlformats.org/presentationml/2006/main">
  <p:tag name="KSO_WM_UNIT_TABLE_BEAUTIFY" val="smartTable{c3fac8b2-4a39-44ef-95fb-ccfccc670099}"/>
  <p:tag name="TABLE_ENDDRAG_ORIGIN_RECT" val="399*273"/>
  <p:tag name="TABLE_ENDDRAG_RECT" val="259*89*399*273"/>
</p:tagLst>
</file>

<file path=ppt/tags/tag20.xml><?xml version="1.0" encoding="utf-8"?>
<p:tagLst xmlns:p="http://schemas.openxmlformats.org/presentationml/2006/main">
  <p:tag name="PA" val="v4.1.3"/>
</p:tagLst>
</file>

<file path=ppt/tags/tag21.xml><?xml version="1.0" encoding="utf-8"?>
<p:tagLst xmlns:p="http://schemas.openxmlformats.org/presentationml/2006/main">
  <p:tag name="PA" val="v4.1.3"/>
</p:tagLst>
</file>

<file path=ppt/tags/tag22.xml><?xml version="1.0" encoding="utf-8"?>
<p:tagLst xmlns:p="http://schemas.openxmlformats.org/presentationml/2006/main">
  <p:tag name="PA" val="v4.1.3"/>
</p:tagLst>
</file>

<file path=ppt/tags/tag23.xml><?xml version="1.0" encoding="utf-8"?>
<p:tagLst xmlns:p="http://schemas.openxmlformats.org/presentationml/2006/main">
  <p:tag name="PA" val="v4.1.3"/>
</p:tagLst>
</file>

<file path=ppt/tags/tag24.xml><?xml version="1.0" encoding="utf-8"?>
<p:tagLst xmlns:p="http://schemas.openxmlformats.org/presentationml/2006/main">
  <p:tag name="PA" val="v4.1.3"/>
</p:tagLst>
</file>

<file path=ppt/tags/tag25.xml><?xml version="1.0" encoding="utf-8"?>
<p:tagLst xmlns:p="http://schemas.openxmlformats.org/presentationml/2006/main">
  <p:tag name="PA" val="v4.1.3"/>
</p:tagLst>
</file>

<file path=ppt/tags/tag26.xml><?xml version="1.0" encoding="utf-8"?>
<p:tagLst xmlns:p="http://schemas.openxmlformats.org/presentationml/2006/main">
  <p:tag name="PA" val="v4.1.3"/>
</p:tagLst>
</file>

<file path=ppt/tags/tag27.xml><?xml version="1.0" encoding="utf-8"?>
<p:tagLst xmlns:p="http://schemas.openxmlformats.org/presentationml/2006/main">
  <p:tag name="PA" val="v4.1.3"/>
</p:tagLst>
</file>

<file path=ppt/tags/tag28.xml><?xml version="1.0" encoding="utf-8"?>
<p:tagLst xmlns:p="http://schemas.openxmlformats.org/presentationml/2006/main">
  <p:tag name="PA" val="v4.1.3"/>
</p:tagLst>
</file>

<file path=ppt/tags/tag29.xml><?xml version="1.0" encoding="utf-8"?>
<p:tagLst xmlns:p="http://schemas.openxmlformats.org/presentationml/2006/main">
  <p:tag name="PA" val="v4.1.3"/>
</p:tagLst>
</file>

<file path=ppt/tags/tag30.xml><?xml version="1.0" encoding="utf-8"?>
<p:tagLst xmlns:p="http://schemas.openxmlformats.org/presentationml/2006/main">
  <p:tag name="KSO_WM_UNIT_PLACING_PICTURE_USER_VIEWPORT" val="{&quot;height&quot;:8976,&quot;width&quot;:8700}"/>
</p:tagLst>
</file>

<file path=ppt/tags/tag31.xml><?xml version="1.0" encoding="utf-8"?>
<p:tagLst xmlns:p="http://schemas.openxmlformats.org/presentationml/2006/main">
  <p:tag name="KSO_WM_UNIT_TABLE_BEAUTIFY" val="smartTable{3c710b1d-8dfa-40d2-9e72-6f25ace08cbb}"/>
  <p:tag name="TABLE_ENDDRAG_ORIGIN_RECT" val="171*293"/>
  <p:tag name="TABLE_ENDDRAG_RECT" val="115*71*171*293"/>
</p:tagLst>
</file>

<file path=ppt/tags/tag32.xml><?xml version="1.0" encoding="utf-8"?>
<p:tagLst xmlns:p="http://schemas.openxmlformats.org/presentationml/2006/main">
  <p:tag name="PA" val="v4.1.3"/>
</p:tagLst>
</file>

<file path=ppt/tags/tag33.xml><?xml version="1.0" encoding="utf-8"?>
<p:tagLst xmlns:p="http://schemas.openxmlformats.org/presentationml/2006/main">
  <p:tag name="KSO_WM_UNIT_TABLE_BEAUTIFY" val="smartTable{ab41c473-45b7-48b2-b9f0-75195b46ce51}"/>
</p:tagLst>
</file>

<file path=ppt/tags/tag34.xml><?xml version="1.0" encoding="utf-8"?>
<p:tagLst xmlns:p="http://schemas.openxmlformats.org/presentationml/2006/main">
  <p:tag name="PA" val="v4.1.3"/>
</p:tagLst>
</file>

<file path=ppt/theme/theme1.xml><?xml version="1.0" encoding="utf-8"?>
<a:theme xmlns:a="http://schemas.openxmlformats.org/drawingml/2006/main" name="第一PPT，www.1ppt.com">
  <a:themeElements>
    <a:clrScheme name="12舒服配色">
      <a:dk1>
        <a:sysClr val="windowText" lastClr="000000"/>
      </a:dk1>
      <a:lt1>
        <a:sysClr val="window" lastClr="FFFFFF"/>
      </a:lt1>
      <a:dk2>
        <a:srgbClr val="EEF2F5"/>
      </a:dk2>
      <a:lt2>
        <a:srgbClr val="E7E6E6"/>
      </a:lt2>
      <a:accent1>
        <a:srgbClr val="F7E9E0"/>
      </a:accent1>
      <a:accent2>
        <a:srgbClr val="F4D1CF"/>
      </a:accent2>
      <a:accent3>
        <a:srgbClr val="7787A0"/>
      </a:accent3>
      <a:accent4>
        <a:srgbClr val="A0B0BF"/>
      </a:accent4>
      <a:accent5>
        <a:srgbClr val="C9D2E1"/>
      </a:accent5>
      <a:accent6>
        <a:srgbClr val="70AD47"/>
      </a:accent6>
      <a:hlink>
        <a:srgbClr val="000000"/>
      </a:hlink>
      <a:folHlink>
        <a:srgbClr val="954F72"/>
      </a:folHlink>
    </a:clrScheme>
    <a:fontScheme name="dmo5hqlq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2766</Words>
  <Application>WPS 演示</Application>
  <PresentationFormat>全屏显示(16:9)</PresentationFormat>
  <Paragraphs>391</Paragraphs>
  <Slides>36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36</vt:i4>
      </vt:variant>
    </vt:vector>
  </HeadingPairs>
  <TitlesOfParts>
    <vt:vector size="52" baseType="lpstr">
      <vt:lpstr>Arial</vt:lpstr>
      <vt:lpstr>宋体</vt:lpstr>
      <vt:lpstr>Wingdings</vt:lpstr>
      <vt:lpstr>Calibri</vt:lpstr>
      <vt:lpstr>Times New Roman</vt:lpstr>
      <vt:lpstr>方正细谭黑简体</vt:lpstr>
      <vt:lpstr>微软雅黑 Light</vt:lpstr>
      <vt:lpstr>微软雅黑</vt:lpstr>
      <vt:lpstr>黑体</vt:lpstr>
      <vt:lpstr>Arial Unicode MS</vt:lpstr>
      <vt:lpstr>等线</vt:lpstr>
      <vt:lpstr>第一PPT，www.1ppt.com</vt:lpstr>
      <vt:lpstr>Word.Document.8</vt:lpstr>
      <vt:lpstr>Word.Document.8</vt:lpstr>
      <vt:lpstr>Word.Document.8</vt:lpstr>
      <vt:lpstr>Word.Document.8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当前阶段成员打分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  <Manager>第一PPT，www.1ppt.com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淡雅蓝粉</dc:title>
  <dc:creator>第一PPT</dc:creator>
  <cp:keywords>www.1ppt.com</cp:keywords>
  <dc:description>www.1ppt.com</dc:description>
  <cp:lastModifiedBy>米娜拉</cp:lastModifiedBy>
  <cp:revision>845</cp:revision>
  <dcterms:created xsi:type="dcterms:W3CDTF">2019-06-21T02:16:00Z</dcterms:created>
  <dcterms:modified xsi:type="dcterms:W3CDTF">2020-11-26T04:57:57Z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2052-11.1.0.10132</vt:lpwstr>
  </property>
</Properties>
</file>