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7"/>
  </p:notesMasterIdLst>
  <p:sldIdLst>
    <p:sldId id="572" r:id="rId3"/>
    <p:sldId id="606" r:id="rId4"/>
    <p:sldId id="679" r:id="rId5"/>
    <p:sldId id="1417" r:id="rId6"/>
    <p:sldId id="1418" r:id="rId8"/>
    <p:sldId id="898" r:id="rId9"/>
    <p:sldId id="1412" r:id="rId10"/>
    <p:sldId id="1414" r:id="rId11"/>
    <p:sldId id="1415" r:id="rId12"/>
    <p:sldId id="1416" r:id="rId13"/>
    <p:sldId id="1411" r:id="rId14"/>
    <p:sldId id="1406" r:id="rId15"/>
    <p:sldId id="1407" r:id="rId16"/>
    <p:sldId id="1408" r:id="rId17"/>
    <p:sldId id="1409" r:id="rId18"/>
    <p:sldId id="1410" r:id="rId19"/>
    <p:sldId id="1420" r:id="rId20"/>
    <p:sldId id="1157" r:id="rId21"/>
    <p:sldId id="1434" r:id="rId22"/>
    <p:sldId id="1158" r:id="rId23"/>
    <p:sldId id="1435" r:id="rId24"/>
    <p:sldId id="1436" r:id="rId25"/>
    <p:sldId id="1421" r:id="rId26"/>
    <p:sldId id="1422" r:id="rId27"/>
    <p:sldId id="1423" r:id="rId28"/>
    <p:sldId id="1424" r:id="rId29"/>
    <p:sldId id="897" r:id="rId30"/>
    <p:sldId id="1426" r:id="rId31"/>
    <p:sldId id="1425" r:id="rId32"/>
    <p:sldId id="1427" r:id="rId33"/>
    <p:sldId id="1428" r:id="rId34"/>
    <p:sldId id="1430" r:id="rId35"/>
    <p:sldId id="1431" r:id="rId36"/>
    <p:sldId id="1432" r:id="rId37"/>
    <p:sldId id="1433" r:id="rId38"/>
    <p:sldId id="620" r:id="rId39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作者" initials="A" lastIdx="0" clrIdx="1"/>
  <p:cmAuthor id="1" name="yy" initials="y" lastIdx="1" clrIdx="0"/>
  <p:cmAuthor id="3" name="梦在想你" initials="梦" lastIdx="2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4D1CF"/>
    <a:srgbClr val="7787A0"/>
    <a:srgbClr val="A0B0BF"/>
    <a:srgbClr val="C9D2E1"/>
    <a:srgbClr val="CACEC8"/>
    <a:srgbClr val="E7E9E6"/>
    <a:srgbClr val="E8CDC8"/>
    <a:srgbClr val="F7E9E0"/>
    <a:srgbClr val="FFFFFF"/>
    <a:srgbClr val="EFBAB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712" autoAdjust="0"/>
    <p:restoredTop sz="93992" autoAdjust="0"/>
  </p:normalViewPr>
  <p:slideViewPr>
    <p:cSldViewPr snapToGrid="0" showGuides="1">
      <p:cViewPr>
        <p:scale>
          <a:sx n="66" d="100"/>
          <a:sy n="66" d="100"/>
        </p:scale>
        <p:origin x="-378" y="-1728"/>
      </p:cViewPr>
      <p:guideLst>
        <p:guide orient="horz" pos="3196"/>
        <p:guide pos="1982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86" d="100"/>
        <a:sy n="18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3" Type="http://schemas.openxmlformats.org/officeDocument/2006/relationships/commentAuthors" Target="commentAuthors.xml"/><Relationship Id="rId42" Type="http://schemas.openxmlformats.org/officeDocument/2006/relationships/tableStyles" Target="tableStyles.xml"/><Relationship Id="rId41" Type="http://schemas.openxmlformats.org/officeDocument/2006/relationships/viewProps" Target="viewProps.xml"/><Relationship Id="rId40" Type="http://schemas.openxmlformats.org/officeDocument/2006/relationships/presProps" Target="presProps.xml"/><Relationship Id="rId4" Type="http://schemas.openxmlformats.org/officeDocument/2006/relationships/slide" Target="slides/slide2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0DFCB8-7EF4-48C1-8984-7222E239D7E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3A3BA41-6BA2-47AC-9C1D-5ECEA0A6E282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A3BA41-6BA2-47AC-9C1D-5ECEA0A6E28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A3BA41-6BA2-47AC-9C1D-5ECEA0A6E28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A3BA41-6BA2-47AC-9C1D-5ECEA0A6E28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A3BA41-6BA2-47AC-9C1D-5ECEA0A6E28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A3BA41-6BA2-47AC-9C1D-5ECEA0A6E28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A3BA41-6BA2-47AC-9C1D-5ECEA0A6E28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A3BA41-6BA2-47AC-9C1D-5ECEA0A6E28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A3BA41-6BA2-47AC-9C1D-5ECEA0A6E28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A3BA41-6BA2-47AC-9C1D-5ECEA0A6E28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A3BA41-6BA2-47AC-9C1D-5ECEA0A6E28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A3BA41-6BA2-47AC-9C1D-5ECEA0A6E28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A3BA41-6BA2-47AC-9C1D-5ECEA0A6E28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A3BA41-6BA2-47AC-9C1D-5ECEA0A6E28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A3BA41-6BA2-47AC-9C1D-5ECEA0A6E28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A3BA41-6BA2-47AC-9C1D-5ECEA0A6E28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A3BA41-6BA2-47AC-9C1D-5ECEA0A6E28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A3BA41-6BA2-47AC-9C1D-5ECEA0A6E28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椭圆 9"/>
          <p:cNvSpPr/>
          <p:nvPr userDrawn="1"/>
        </p:nvSpPr>
        <p:spPr>
          <a:xfrm>
            <a:off x="8304710" y="-357181"/>
            <a:ext cx="1678580" cy="1678580"/>
          </a:xfrm>
          <a:prstGeom prst="ellipse">
            <a:avLst/>
          </a:prstGeom>
          <a:solidFill>
            <a:srgbClr val="7787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椭圆 10"/>
          <p:cNvSpPr/>
          <p:nvPr userDrawn="1"/>
        </p:nvSpPr>
        <p:spPr>
          <a:xfrm>
            <a:off x="7912656" y="4169092"/>
            <a:ext cx="1493964" cy="1493964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椭圆 11"/>
          <p:cNvSpPr/>
          <p:nvPr userDrawn="1"/>
        </p:nvSpPr>
        <p:spPr>
          <a:xfrm>
            <a:off x="393996" y="-243597"/>
            <a:ext cx="916465" cy="916465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椭圆 12"/>
          <p:cNvSpPr/>
          <p:nvPr userDrawn="1"/>
        </p:nvSpPr>
        <p:spPr>
          <a:xfrm>
            <a:off x="-190611" y="4331467"/>
            <a:ext cx="1169214" cy="1169214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椭圆 13"/>
          <p:cNvSpPr/>
          <p:nvPr userDrawn="1"/>
        </p:nvSpPr>
        <p:spPr>
          <a:xfrm>
            <a:off x="7447494" y="4482353"/>
            <a:ext cx="271986" cy="271986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/>
          <p:cNvSpPr/>
          <p:nvPr userDrawn="1"/>
        </p:nvSpPr>
        <p:spPr>
          <a:xfrm>
            <a:off x="215153" y="274405"/>
            <a:ext cx="8713694" cy="4594690"/>
          </a:xfrm>
          <a:prstGeom prst="rect">
            <a:avLst/>
          </a:prstGeom>
          <a:noFill/>
          <a:ln w="285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椭圆 9"/>
          <p:cNvSpPr/>
          <p:nvPr userDrawn="1"/>
        </p:nvSpPr>
        <p:spPr>
          <a:xfrm>
            <a:off x="8304710" y="-357181"/>
            <a:ext cx="1678580" cy="1678580"/>
          </a:xfrm>
          <a:prstGeom prst="ellipse">
            <a:avLst/>
          </a:prstGeom>
          <a:solidFill>
            <a:srgbClr val="7787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椭圆 10"/>
          <p:cNvSpPr/>
          <p:nvPr userDrawn="1"/>
        </p:nvSpPr>
        <p:spPr>
          <a:xfrm>
            <a:off x="7912656" y="4169092"/>
            <a:ext cx="1493964" cy="1493964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椭圆 11"/>
          <p:cNvSpPr/>
          <p:nvPr userDrawn="1"/>
        </p:nvSpPr>
        <p:spPr>
          <a:xfrm>
            <a:off x="393996" y="-243597"/>
            <a:ext cx="916465" cy="916465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椭圆 12"/>
          <p:cNvSpPr/>
          <p:nvPr userDrawn="1"/>
        </p:nvSpPr>
        <p:spPr>
          <a:xfrm>
            <a:off x="-190611" y="4331467"/>
            <a:ext cx="1169214" cy="1169214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椭圆 13"/>
          <p:cNvSpPr/>
          <p:nvPr userDrawn="1"/>
        </p:nvSpPr>
        <p:spPr>
          <a:xfrm>
            <a:off x="7465500" y="4500359"/>
            <a:ext cx="253980" cy="25398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/>
          <p:cNvSpPr/>
          <p:nvPr userDrawn="1"/>
        </p:nvSpPr>
        <p:spPr>
          <a:xfrm>
            <a:off x="215153" y="274405"/>
            <a:ext cx="8713694" cy="4594690"/>
          </a:xfrm>
          <a:prstGeom prst="rect">
            <a:avLst/>
          </a:prstGeom>
          <a:noFill/>
          <a:ln w="285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4"/>
          </p:nvPr>
        </p:nvSpPr>
        <p:spPr>
          <a:xfrm>
            <a:off x="1009863" y="1344453"/>
            <a:ext cx="1678581" cy="167858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>
            <a:lvl1pPr marL="0" indent="0">
              <a:buFontTx/>
              <a:buNone/>
              <a:defRPr lang="en-US" sz="105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marL="0" lvl="0" algn="ctr"/>
            <a:endParaRPr lang="en-US"/>
          </a:p>
        </p:txBody>
      </p:sp>
      <p:sp>
        <p:nvSpPr>
          <p:cNvPr id="9" name="Picture Placeholder 7"/>
          <p:cNvSpPr>
            <a:spLocks noGrp="1"/>
          </p:cNvSpPr>
          <p:nvPr>
            <p:ph type="pic" sz="quarter" idx="15"/>
          </p:nvPr>
        </p:nvSpPr>
        <p:spPr>
          <a:xfrm>
            <a:off x="2831630" y="3106775"/>
            <a:ext cx="1678581" cy="167858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>
            <a:lvl1pPr marL="0" indent="0">
              <a:buFontTx/>
              <a:buNone/>
              <a:defRPr lang="en-US" sz="105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marL="0" lvl="0" algn="ctr"/>
            <a:endParaRPr lang="en-US"/>
          </a:p>
        </p:txBody>
      </p:sp>
      <p:sp>
        <p:nvSpPr>
          <p:cNvPr id="16" name="Picture Placeholder 7"/>
          <p:cNvSpPr>
            <a:spLocks noGrp="1"/>
          </p:cNvSpPr>
          <p:nvPr>
            <p:ph type="pic" sz="quarter" idx="16"/>
          </p:nvPr>
        </p:nvSpPr>
        <p:spPr>
          <a:xfrm>
            <a:off x="4656657" y="1344453"/>
            <a:ext cx="1678581" cy="167858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>
            <a:lvl1pPr marL="0" indent="0">
              <a:buFontTx/>
              <a:buNone/>
              <a:defRPr lang="en-US" sz="105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marL="0" lvl="0" algn="ctr"/>
            <a:endParaRPr lang="en-US"/>
          </a:p>
        </p:txBody>
      </p:sp>
      <p:sp>
        <p:nvSpPr>
          <p:cNvPr id="17" name="Picture Placeholder 7"/>
          <p:cNvSpPr>
            <a:spLocks noGrp="1"/>
          </p:cNvSpPr>
          <p:nvPr>
            <p:ph type="pic" sz="quarter" idx="17"/>
          </p:nvPr>
        </p:nvSpPr>
        <p:spPr>
          <a:xfrm>
            <a:off x="6475165" y="3106774"/>
            <a:ext cx="1678581" cy="167858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>
            <a:lvl1pPr marL="0" indent="0">
              <a:buFontTx/>
              <a:buNone/>
              <a:defRPr lang="en-US" sz="105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marL="0" lvl="0" algn="ctr"/>
            <a:endParaRPr lang="en-US"/>
          </a:p>
        </p:txBody>
      </p:sp>
      <p:sp>
        <p:nvSpPr>
          <p:cNvPr id="2" name="矩形 1"/>
          <p:cNvSpPr/>
          <p:nvPr userDrawn="1"/>
        </p:nvSpPr>
        <p:spPr>
          <a:xfrm>
            <a:off x="1009863" y="3107235"/>
            <a:ext cx="1678581" cy="1685051"/>
          </a:xfrm>
          <a:prstGeom prst="rect">
            <a:avLst/>
          </a:prstGeom>
          <a:solidFill>
            <a:schemeClr val="accent1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 17"/>
          <p:cNvSpPr/>
          <p:nvPr userDrawn="1"/>
        </p:nvSpPr>
        <p:spPr>
          <a:xfrm>
            <a:off x="2833260" y="1341448"/>
            <a:ext cx="1678581" cy="168505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矩形 18"/>
          <p:cNvSpPr/>
          <p:nvPr userDrawn="1"/>
        </p:nvSpPr>
        <p:spPr>
          <a:xfrm>
            <a:off x="4653397" y="3107235"/>
            <a:ext cx="1678581" cy="1685051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/>
          <p:cNvSpPr/>
          <p:nvPr userDrawn="1"/>
        </p:nvSpPr>
        <p:spPr>
          <a:xfrm>
            <a:off x="6480055" y="1337983"/>
            <a:ext cx="1678581" cy="168505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D669989D-4831-4E99-B76E-9A53CB0F3A88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EE3F9CDB-1F21-4789-A81E-8FEA25CE194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D669989D-4831-4E99-B76E-9A53CB0F3A88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EE3F9CDB-1F21-4789-A81E-8FEA25CE194B}" type="slidenum">
              <a:rPr lang="zh-CN" altLang="en-US" smtClean="0"/>
            </a:fld>
            <a:endParaRPr lang="zh-CN" altLang="en-US"/>
          </a:p>
        </p:txBody>
      </p:sp>
      <p:sp>
        <p:nvSpPr>
          <p:cNvPr id="9" name="矩形 8"/>
          <p:cNvSpPr/>
          <p:nvPr userDrawn="1"/>
        </p:nvSpPr>
        <p:spPr>
          <a:xfrm>
            <a:off x="7033456" y="4774682"/>
            <a:ext cx="775136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400"/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模板下载：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www.1ppt.com/moban/          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行业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模板：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www.1ppt.com/hangye/ </a:t>
            </a:r>
            <a:endParaRPr lang="en-US" altLang="zh-CN" sz="100" dirty="0">
              <a:solidFill>
                <a:prstClr val="white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pPr defTabSz="914400"/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节日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模板：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www.1ppt.com/jieri/          PPT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素材：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www.1ppt.com/sucai/</a:t>
            </a:r>
            <a:endParaRPr lang="en-US" altLang="zh-CN" sz="100" dirty="0">
              <a:solidFill>
                <a:prstClr val="white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pPr defTabSz="914400"/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背景图片：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www.1ppt.com/beijing/        PPT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图表：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www.1ppt.com/tubiao/      </a:t>
            </a:r>
            <a:endParaRPr lang="en-US" altLang="zh-CN" sz="100" dirty="0">
              <a:solidFill>
                <a:prstClr val="white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pPr defTabSz="914400"/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精美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下载：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www.1ppt.com/xiazai/         PPT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教程： 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www.1ppt.com/powerpoint/      </a:t>
            </a:r>
            <a:endParaRPr lang="en-US" altLang="zh-CN" sz="100" dirty="0">
              <a:solidFill>
                <a:prstClr val="white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pPr defTabSz="914400"/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课件：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www.1ppt.com/kejian/             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字体下载：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www.1ppt.com/ziti/</a:t>
            </a:r>
            <a:endParaRPr lang="en-US" altLang="zh-CN" sz="100" dirty="0">
              <a:solidFill>
                <a:prstClr val="white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pPr defTabSz="914400"/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工作总结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www.1ppt.com/xiazai/zongjie/ 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工作计划：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www.1ppt.com/xiazai/jihua/</a:t>
            </a:r>
            <a:endParaRPr lang="en-US" altLang="zh-CN" sz="100" dirty="0">
              <a:solidFill>
                <a:prstClr val="white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pPr defTabSz="914400"/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商务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模板：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www.1ppt.com/moban/shangwu/  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个人简历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www.1ppt.com/xiazai/jianli/  </a:t>
            </a:r>
            <a:endParaRPr lang="en-US" altLang="zh-CN" sz="100" dirty="0">
              <a:solidFill>
                <a:prstClr val="white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pPr defTabSz="914400"/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毕业答辩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www.1ppt.com/xiazai/dabian/  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工作汇报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www.1ppt.com/xiazai/huibao/    </a:t>
            </a:r>
            <a:endParaRPr lang="en-US" altLang="zh-CN" sz="100" dirty="0">
              <a:solidFill>
                <a:prstClr val="white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pPr defTabSz="914400"/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 </a:t>
            </a:r>
            <a:endParaRPr lang="en-US" altLang="zh-CN" sz="100" dirty="0">
              <a:solidFill>
                <a:prstClr val="white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D669989D-4831-4E99-B76E-9A53CB0F3A88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EE3F9CDB-1F21-4789-A81E-8FEA25CE194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D669989D-4831-4E99-B76E-9A53CB0F3A8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EE3F9CDB-1F21-4789-A81E-8FEA25CE194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D669989D-4831-4E99-B76E-9A53CB0F3A8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EE3F9CDB-1F21-4789-A81E-8FEA25CE194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8" name="Picture Placeholder 1"/>
          <p:cNvSpPr>
            <a:spLocks noGrp="1"/>
          </p:cNvSpPr>
          <p:nvPr>
            <p:ph type="pic" sz="quarter" idx="13" hasCustomPrompt="1"/>
          </p:nvPr>
        </p:nvSpPr>
        <p:spPr>
          <a:xfrm>
            <a:off x="108000" y="108000"/>
            <a:ext cx="8928900" cy="4545116"/>
          </a:xfrm>
          <a:solidFill>
            <a:schemeClr val="bg1">
              <a:lumMod val="95000"/>
            </a:schemeClr>
          </a:solidFill>
        </p:spPr>
        <p:txBody>
          <a:bodyPr lIns="0" tIns="180000" rIns="0" anchor="t"/>
          <a:lstStyle>
            <a:lvl1pPr marL="0" indent="0" algn="ctr">
              <a:buNone/>
              <a:defRPr sz="9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noProof="0" dirty="0"/>
              <a:t>Insert or Drag &amp; Drop your photo</a:t>
            </a:r>
            <a:endParaRPr lang="en-US" noProof="0" dirty="0"/>
          </a:p>
        </p:txBody>
      </p:sp>
      <p:sp>
        <p:nvSpPr>
          <p:cNvPr id="1048619" name="Title 1"/>
          <p:cNvSpPr>
            <a:spLocks noGrp="1"/>
          </p:cNvSpPr>
          <p:nvPr>
            <p:ph type="ctrTitle" hasCustomPrompt="1"/>
          </p:nvPr>
        </p:nvSpPr>
        <p:spPr>
          <a:xfrm>
            <a:off x="4457700" y="1828799"/>
            <a:ext cx="4039200" cy="2283299"/>
          </a:xfrm>
          <a:gradFill>
            <a:gsLst>
              <a:gs pos="0">
                <a:schemeClr val="accent1">
                  <a:lumMod val="20000"/>
                  <a:lumOff val="80000"/>
                  <a:alpha val="50000"/>
                </a:schemeClr>
              </a:gs>
              <a:gs pos="46000">
                <a:schemeClr val="bg1">
                  <a:alpha val="90000"/>
                </a:schemeClr>
              </a:gs>
              <a:gs pos="83186">
                <a:schemeClr val="bg1"/>
              </a:gs>
            </a:gsLst>
            <a:lin ang="3600000" scaled="0"/>
          </a:gradFill>
        </p:spPr>
        <p:txBody>
          <a:bodyPr lIns="72000" tIns="180000" rIns="180000" bIns="0" anchor="t"/>
          <a:lstStyle>
            <a:lvl1pPr algn="r">
              <a:lnSpc>
                <a:spcPts val="4700"/>
              </a:lnSpc>
              <a:defRPr sz="3375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Click to edit presentation title</a:t>
            </a:r>
            <a:endParaRPr lang="en-US" noProof="0"/>
          </a:p>
        </p:txBody>
      </p:sp>
      <p:sp>
        <p:nvSpPr>
          <p:cNvPr id="1048620" name="Subtitle 2"/>
          <p:cNvSpPr>
            <a:spLocks noGrp="1"/>
          </p:cNvSpPr>
          <p:nvPr>
            <p:ph type="subTitle" idx="1"/>
          </p:nvPr>
        </p:nvSpPr>
        <p:spPr>
          <a:xfrm>
            <a:off x="6186728" y="3359448"/>
            <a:ext cx="2138722" cy="562151"/>
          </a:xfrm>
          <a:solidFill>
            <a:schemeClr val="bg1">
              <a:alpha val="80000"/>
            </a:schemeClr>
          </a:solidFill>
          <a:ln w="3175">
            <a:gradFill>
              <a:gsLst>
                <a:gs pos="0">
                  <a:schemeClr val="bg1">
                    <a:lumMod val="95000"/>
                  </a:schemeClr>
                </a:gs>
                <a:gs pos="100000">
                  <a:schemeClr val="accent1"/>
                </a:gs>
              </a:gsLst>
              <a:lin ang="10800000" scaled="0"/>
            </a:gradFill>
          </a:ln>
        </p:spPr>
        <p:txBody>
          <a:bodyPr tIns="144000" rIns="180000"/>
          <a:lstStyle>
            <a:lvl1pPr marL="0" indent="0" algn="r">
              <a:buNone/>
              <a:defRPr sz="1350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noProof="0"/>
              <a:t>单击此处编辑母版副标题样式</a:t>
            </a:r>
            <a:endParaRPr lang="en-US" noProof="0"/>
          </a:p>
        </p:txBody>
      </p:sp>
      <p:sp>
        <p:nvSpPr>
          <p:cNvPr id="1048621" name="Footer Placeholder 4"/>
          <p:cNvSpPr>
            <a:spLocks noGrp="1"/>
          </p:cNvSpPr>
          <p:nvPr>
            <p:ph type="ftr" sz="quarter" idx="12"/>
          </p:nvPr>
        </p:nvSpPr>
        <p:spPr>
          <a:xfrm>
            <a:off x="108000" y="4741799"/>
            <a:ext cx="3086100" cy="273844"/>
          </a:xfrm>
        </p:spPr>
        <p:txBody>
          <a:bodyPr/>
          <a:lstStyle/>
          <a:p>
            <a:r>
              <a:rPr lang="en-US" noProof="0" dirty="0"/>
              <a:t>Add a footer</a:t>
            </a:r>
            <a:endParaRPr lang="en-US" noProof="0" dirty="0"/>
          </a:p>
        </p:txBody>
      </p:sp>
      <p:sp>
        <p:nvSpPr>
          <p:cNvPr id="1048622" name="Slide Number Placeholder 9"/>
          <p:cNvSpPr>
            <a:spLocks noGrp="1"/>
          </p:cNvSpPr>
          <p:nvPr>
            <p:ph type="sldNum" sz="quarter" idx="14"/>
          </p:nvPr>
        </p:nvSpPr>
        <p:spPr>
          <a:xfrm>
            <a:off x="8758069" y="4741799"/>
            <a:ext cx="277931" cy="273844"/>
          </a:xfrm>
        </p:spPr>
        <p:txBody>
          <a:bodyPr/>
          <a:lstStyle/>
          <a:p>
            <a:fld id="{19B51A1E-902D-48AF-9020-955120F399B6}" type="slidenum">
              <a:rPr lang="en-US" noProof="0" smtClean="0"/>
            </a:fld>
            <a:endParaRPr lang="en-US" noProof="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3.xml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1" Type="http://schemas.openxmlformats.org/officeDocument/2006/relationships/tags" Target="../tags/tag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8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9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1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13.xml"/></Relationships>
</file>

<file path=ppt/slides/_rels/slide2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3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14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3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4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5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15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tags" Target="../tags/tag16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椭圆 4"/>
          <p:cNvSpPr/>
          <p:nvPr/>
        </p:nvSpPr>
        <p:spPr>
          <a:xfrm>
            <a:off x="-807511" y="563665"/>
            <a:ext cx="477014" cy="477014"/>
          </a:xfrm>
          <a:prstGeom prst="ellipse">
            <a:avLst/>
          </a:prstGeom>
          <a:solidFill>
            <a:srgbClr val="F7E9E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6" name="椭圆 15"/>
          <p:cNvSpPr/>
          <p:nvPr/>
        </p:nvSpPr>
        <p:spPr>
          <a:xfrm>
            <a:off x="-807511" y="1455830"/>
            <a:ext cx="477014" cy="477014"/>
          </a:xfrm>
          <a:prstGeom prst="ellipse">
            <a:avLst/>
          </a:prstGeom>
          <a:solidFill>
            <a:srgbClr val="F4D1C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7" name="椭圆 16"/>
          <p:cNvSpPr/>
          <p:nvPr/>
        </p:nvSpPr>
        <p:spPr>
          <a:xfrm>
            <a:off x="-807511" y="2347995"/>
            <a:ext cx="477014" cy="477014"/>
          </a:xfrm>
          <a:prstGeom prst="ellipse">
            <a:avLst/>
          </a:prstGeom>
          <a:solidFill>
            <a:srgbClr val="7787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8" name="椭圆 17"/>
          <p:cNvSpPr/>
          <p:nvPr/>
        </p:nvSpPr>
        <p:spPr>
          <a:xfrm>
            <a:off x="-807511" y="3240159"/>
            <a:ext cx="477014" cy="477014"/>
          </a:xfrm>
          <a:prstGeom prst="ellipse">
            <a:avLst/>
          </a:prstGeom>
          <a:solidFill>
            <a:srgbClr val="A0B0B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9" name="椭圆 18"/>
          <p:cNvSpPr/>
          <p:nvPr/>
        </p:nvSpPr>
        <p:spPr>
          <a:xfrm>
            <a:off x="-807511" y="4132323"/>
            <a:ext cx="477014" cy="477014"/>
          </a:xfrm>
          <a:prstGeom prst="ellipse">
            <a:avLst/>
          </a:prstGeom>
          <a:solidFill>
            <a:srgbClr val="C9D2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1" name="椭圆 20"/>
          <p:cNvSpPr/>
          <p:nvPr/>
        </p:nvSpPr>
        <p:spPr>
          <a:xfrm>
            <a:off x="7836421" y="-394388"/>
            <a:ext cx="2197265" cy="2197265"/>
          </a:xfrm>
          <a:prstGeom prst="ellipse">
            <a:avLst/>
          </a:prstGeom>
          <a:solidFill>
            <a:srgbClr val="7787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5" name="椭圆 24"/>
          <p:cNvSpPr/>
          <p:nvPr/>
        </p:nvSpPr>
        <p:spPr>
          <a:xfrm>
            <a:off x="6292646" y="3615378"/>
            <a:ext cx="2038210" cy="203821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6" name="椭圆 25"/>
          <p:cNvSpPr/>
          <p:nvPr/>
        </p:nvSpPr>
        <p:spPr>
          <a:xfrm>
            <a:off x="8083405" y="2850102"/>
            <a:ext cx="673979" cy="673979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7" name="椭圆 26"/>
          <p:cNvSpPr/>
          <p:nvPr/>
        </p:nvSpPr>
        <p:spPr>
          <a:xfrm>
            <a:off x="393996" y="-243597"/>
            <a:ext cx="916465" cy="916465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8" name="椭圆 27"/>
          <p:cNvSpPr/>
          <p:nvPr/>
        </p:nvSpPr>
        <p:spPr>
          <a:xfrm>
            <a:off x="-190611" y="4331467"/>
            <a:ext cx="1169214" cy="1169214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0" name="椭圆 29"/>
          <p:cNvSpPr/>
          <p:nvPr/>
        </p:nvSpPr>
        <p:spPr>
          <a:xfrm>
            <a:off x="4865658" y="3809246"/>
            <a:ext cx="769442" cy="769442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1" name="PA_矩形 7"/>
          <p:cNvSpPr/>
          <p:nvPr>
            <p:custDataLst>
              <p:tags r:id="rId1"/>
            </p:custDataLst>
          </p:nvPr>
        </p:nvSpPr>
        <p:spPr>
          <a:xfrm>
            <a:off x="1449070" y="829945"/>
            <a:ext cx="5961380" cy="14452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l" defTabSz="685800">
              <a:defRPr/>
            </a:pPr>
            <a:r>
              <a:rPr kumimoji="1" lang="en-US" sz="3600" b="1" kern="0">
                <a:solidFill>
                  <a:schemeClr val="accent3"/>
                </a:solidFill>
                <a:cs typeface="+mn-ea"/>
                <a:sym typeface="+mn-lt"/>
              </a:rPr>
              <a:t>SE2020-G19-</a:t>
            </a:r>
            <a:r>
              <a:rPr kumimoji="1" lang="zh-CN" altLang="en-US" sz="3600" b="1" kern="0">
                <a:solidFill>
                  <a:schemeClr val="accent3"/>
                </a:solidFill>
                <a:cs typeface="+mn-ea"/>
                <a:sym typeface="+mn-lt"/>
              </a:rPr>
              <a:t>翻转课堂</a:t>
            </a:r>
            <a:r>
              <a:rPr lang="en-US" altLang="zh-CN" sz="200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      </a:t>
            </a:r>
            <a:endParaRPr lang="en-US" altLang="zh-CN" sz="2000">
              <a:solidFill>
                <a:schemeClr val="tx1">
                  <a:lumMod val="50000"/>
                  <a:lumOff val="50000"/>
                </a:schemeClr>
              </a:solidFill>
              <a:cs typeface="+mn-ea"/>
              <a:sym typeface="+mn-lt"/>
            </a:endParaRPr>
          </a:p>
          <a:p>
            <a:pPr lvl="0" algn="l" defTabSz="685800">
              <a:defRPr/>
            </a:pPr>
            <a:r>
              <a:rPr lang="en-US" altLang="zh-CN" sz="200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                    </a:t>
            </a:r>
            <a:r>
              <a:rPr kumimoji="1" lang="zh-CN" altLang="en-US" sz="3200" b="1" kern="0">
                <a:solidFill>
                  <a:schemeClr val="accent3"/>
                </a:solidFill>
                <a:cs typeface="+mn-ea"/>
                <a:sym typeface="+mn-lt"/>
              </a:rPr>
              <a:t>实现测试</a:t>
            </a:r>
            <a:endParaRPr lang="en-US" altLang="zh-CN" sz="2000">
              <a:solidFill>
                <a:schemeClr val="tx1">
                  <a:lumMod val="50000"/>
                  <a:lumOff val="50000"/>
                </a:schemeClr>
              </a:solidFill>
              <a:cs typeface="+mn-ea"/>
              <a:sym typeface="+mn-lt"/>
            </a:endParaRPr>
          </a:p>
          <a:p>
            <a:pPr lvl="0" algn="l" defTabSz="685800">
              <a:defRPr/>
            </a:pPr>
            <a:endParaRPr lang="zh-CN" altLang="en-US" sz="2000" kern="0" dirty="0">
              <a:solidFill>
                <a:schemeClr val="accent3"/>
              </a:solidFill>
              <a:latin typeface="方正细谭黑简体" panose="02000000000000000000" pitchFamily="2" charset="-122"/>
              <a:ea typeface="方正细谭黑简体" panose="02000000000000000000" pitchFamily="2" charset="-122"/>
              <a:cs typeface="+mn-ea"/>
              <a:sym typeface="+mn-lt"/>
            </a:endParaRPr>
          </a:p>
        </p:txBody>
      </p:sp>
      <p:sp>
        <p:nvSpPr>
          <p:cNvPr id="33" name="矩形: 圆角 32"/>
          <p:cNvSpPr/>
          <p:nvPr/>
        </p:nvSpPr>
        <p:spPr>
          <a:xfrm>
            <a:off x="2624455" y="3194685"/>
            <a:ext cx="2385060" cy="113665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smtClean="0">
                <a:sym typeface="+mn-ea"/>
              </a:rPr>
              <a:t>SSE2020</a:t>
            </a:r>
            <a:r>
              <a:rPr lang="zh-CN" altLang="en-US" sz="1400" b="1" dirty="0" smtClean="0">
                <a:sym typeface="+mn-ea"/>
              </a:rPr>
              <a:t>秋</a:t>
            </a:r>
            <a:r>
              <a:rPr lang="en-US" altLang="zh-CN" sz="1400" b="1" dirty="0" smtClean="0">
                <a:sym typeface="+mn-ea"/>
              </a:rPr>
              <a:t>-G19</a:t>
            </a:r>
            <a:r>
              <a:rPr lang="zh-CN" altLang="en-US" sz="1400" b="1" dirty="0" smtClean="0">
                <a:sym typeface="+mn-ea"/>
              </a:rPr>
              <a:t>组</a:t>
            </a:r>
            <a:endParaRPr lang="zh-CN" altLang="en-US" sz="1400" b="1" dirty="0" smtClean="0">
              <a:sym typeface="+mn-ea"/>
            </a:endParaRPr>
          </a:p>
          <a:p>
            <a:pPr algn="ctr">
              <a:defRPr>
                <a:solidFill>
                  <a:srgbClr val="3F403E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 Light" panose="020B0502040204020203" pitchFamily="34" charset="-122"/>
                <a:sym typeface="微软雅黑 Light" panose="020B0502040204020203" pitchFamily="34" charset="-122"/>
              </a:defRPr>
            </a:pPr>
            <a:r>
              <a:rPr lang="zh-CN" altLang="en-US" sz="1400" b="1" dirty="0" smtClean="0">
                <a:sym typeface="+mn-ea"/>
              </a:rPr>
              <a:t>组长：牛旷野</a:t>
            </a:r>
            <a:endParaRPr lang="en-US" altLang="zh-CN" sz="1400" b="1" dirty="0" smtClean="0"/>
          </a:p>
          <a:p>
            <a:pPr algn="ctr">
              <a:defRPr>
                <a:solidFill>
                  <a:srgbClr val="3F403E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 Light" panose="020B0502040204020203" pitchFamily="34" charset="-122"/>
                <a:sym typeface="微软雅黑 Light" panose="020B0502040204020203" pitchFamily="34" charset="-122"/>
              </a:defRPr>
            </a:pPr>
            <a:r>
              <a:rPr lang="zh-CN" altLang="en-US" sz="1400" b="1" dirty="0" smtClean="0">
                <a:sym typeface="+mn-ea"/>
              </a:rPr>
              <a:t>组员：卢世逸、孟闻凯</a:t>
            </a:r>
            <a:endParaRPr lang="zh-CN" altLang="en-US" sz="1400" dirty="0">
              <a:cs typeface="+mn-ea"/>
              <a:sym typeface="+mn-lt"/>
            </a:endParaRPr>
          </a:p>
        </p:txBody>
      </p:sp>
      <p:sp>
        <p:nvSpPr>
          <p:cNvPr id="37" name="矩形 36"/>
          <p:cNvSpPr/>
          <p:nvPr/>
        </p:nvSpPr>
        <p:spPr>
          <a:xfrm>
            <a:off x="215153" y="274405"/>
            <a:ext cx="8713694" cy="4594690"/>
          </a:xfrm>
          <a:prstGeom prst="rect">
            <a:avLst/>
          </a:prstGeom>
          <a:noFill/>
          <a:ln w="285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6" name="矩形 35"/>
          <p:cNvSpPr/>
          <p:nvPr/>
        </p:nvSpPr>
        <p:spPr>
          <a:xfrm rot="5400000">
            <a:off x="-848148" y="1598602"/>
            <a:ext cx="2172390" cy="338554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en-US" altLang="zh-CN" sz="1600" kern="0" dirty="0">
                <a:solidFill>
                  <a:prstClr val="black">
                    <a:lumMod val="65000"/>
                    <a:lumOff val="35000"/>
                  </a:prstClr>
                </a:solidFill>
                <a:cs typeface="+mn-ea"/>
                <a:sym typeface="+mn-lt"/>
              </a:rPr>
              <a:t>SUMMARY REPORT </a:t>
            </a:r>
            <a:endParaRPr lang="zh-CN" altLang="en-US" dirty="0"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椭圆 6"/>
          <p:cNvSpPr/>
          <p:nvPr/>
        </p:nvSpPr>
        <p:spPr>
          <a:xfrm>
            <a:off x="5384087" y="1459209"/>
            <a:ext cx="1929877" cy="1929877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5" name="椭圆 4"/>
          <p:cNvSpPr/>
          <p:nvPr/>
        </p:nvSpPr>
        <p:spPr>
          <a:xfrm>
            <a:off x="-807511" y="563665"/>
            <a:ext cx="477014" cy="477014"/>
          </a:xfrm>
          <a:prstGeom prst="ellipse">
            <a:avLst/>
          </a:prstGeom>
          <a:solidFill>
            <a:srgbClr val="F7E9E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6" name="椭圆 15"/>
          <p:cNvSpPr/>
          <p:nvPr/>
        </p:nvSpPr>
        <p:spPr>
          <a:xfrm>
            <a:off x="-807511" y="1455830"/>
            <a:ext cx="477014" cy="477014"/>
          </a:xfrm>
          <a:prstGeom prst="ellipse">
            <a:avLst/>
          </a:prstGeom>
          <a:solidFill>
            <a:srgbClr val="F4D1C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7" name="椭圆 16"/>
          <p:cNvSpPr/>
          <p:nvPr/>
        </p:nvSpPr>
        <p:spPr>
          <a:xfrm>
            <a:off x="-807511" y="2347995"/>
            <a:ext cx="477014" cy="477014"/>
          </a:xfrm>
          <a:prstGeom prst="ellipse">
            <a:avLst/>
          </a:prstGeom>
          <a:solidFill>
            <a:srgbClr val="7787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8" name="椭圆 17"/>
          <p:cNvSpPr/>
          <p:nvPr/>
        </p:nvSpPr>
        <p:spPr>
          <a:xfrm>
            <a:off x="-807511" y="3240159"/>
            <a:ext cx="477014" cy="477014"/>
          </a:xfrm>
          <a:prstGeom prst="ellipse">
            <a:avLst/>
          </a:prstGeom>
          <a:solidFill>
            <a:srgbClr val="A0B0B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9" name="椭圆 18"/>
          <p:cNvSpPr/>
          <p:nvPr/>
        </p:nvSpPr>
        <p:spPr>
          <a:xfrm>
            <a:off x="-807511" y="4132323"/>
            <a:ext cx="477014" cy="477014"/>
          </a:xfrm>
          <a:prstGeom prst="ellipse">
            <a:avLst/>
          </a:prstGeom>
          <a:solidFill>
            <a:srgbClr val="C9D2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1" name="椭圆 20"/>
          <p:cNvSpPr/>
          <p:nvPr/>
        </p:nvSpPr>
        <p:spPr>
          <a:xfrm>
            <a:off x="7836421" y="-394388"/>
            <a:ext cx="2197265" cy="2197265"/>
          </a:xfrm>
          <a:prstGeom prst="ellipse">
            <a:avLst/>
          </a:prstGeom>
          <a:solidFill>
            <a:srgbClr val="7787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5" name="椭圆 24"/>
          <p:cNvSpPr/>
          <p:nvPr/>
        </p:nvSpPr>
        <p:spPr>
          <a:xfrm>
            <a:off x="6292646" y="3615378"/>
            <a:ext cx="2038210" cy="203821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6" name="椭圆 25"/>
          <p:cNvSpPr/>
          <p:nvPr/>
        </p:nvSpPr>
        <p:spPr>
          <a:xfrm>
            <a:off x="8083405" y="2850102"/>
            <a:ext cx="673979" cy="673979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7" name="椭圆 26"/>
          <p:cNvSpPr/>
          <p:nvPr/>
        </p:nvSpPr>
        <p:spPr>
          <a:xfrm>
            <a:off x="393996" y="-243597"/>
            <a:ext cx="916465" cy="916465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8" name="椭圆 27"/>
          <p:cNvSpPr/>
          <p:nvPr/>
        </p:nvSpPr>
        <p:spPr>
          <a:xfrm>
            <a:off x="-190611" y="4331467"/>
            <a:ext cx="1169214" cy="1169214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0" name="椭圆 29"/>
          <p:cNvSpPr/>
          <p:nvPr/>
        </p:nvSpPr>
        <p:spPr>
          <a:xfrm>
            <a:off x="4865658" y="3809246"/>
            <a:ext cx="769442" cy="769442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7" name="矩形 36"/>
          <p:cNvSpPr/>
          <p:nvPr/>
        </p:nvSpPr>
        <p:spPr>
          <a:xfrm>
            <a:off x="215153" y="274405"/>
            <a:ext cx="8713694" cy="4594690"/>
          </a:xfrm>
          <a:prstGeom prst="rect">
            <a:avLst/>
          </a:prstGeom>
          <a:noFill/>
          <a:ln w="285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6" name="矩形 35"/>
          <p:cNvSpPr/>
          <p:nvPr/>
        </p:nvSpPr>
        <p:spPr>
          <a:xfrm rot="5400000">
            <a:off x="-848148" y="1598602"/>
            <a:ext cx="2172390" cy="338554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en-US" altLang="zh-CN" sz="1600" kern="0">
                <a:solidFill>
                  <a:prstClr val="black">
                    <a:lumMod val="65000"/>
                    <a:lumOff val="35000"/>
                  </a:prstClr>
                </a:solidFill>
                <a:cs typeface="+mn-ea"/>
                <a:sym typeface="+mn-lt"/>
              </a:rPr>
              <a:t>SUMMARY REPORT </a:t>
            </a:r>
            <a:endParaRPr lang="zh-CN" altLang="en-US">
              <a:cs typeface="+mn-ea"/>
              <a:sym typeface="+mn-lt"/>
            </a:endParaRPr>
          </a:p>
        </p:txBody>
      </p:sp>
      <p:sp>
        <p:nvSpPr>
          <p:cNvPr id="38" name="椭圆 37"/>
          <p:cNvSpPr/>
          <p:nvPr/>
        </p:nvSpPr>
        <p:spPr>
          <a:xfrm>
            <a:off x="6933284" y="473990"/>
            <a:ext cx="460508" cy="46050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1741327" y="510019"/>
            <a:ext cx="2214880" cy="41541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algn="l" defTabSz="609600">
              <a:lnSpc>
                <a:spcPct val="120000"/>
              </a:lnSpc>
              <a:defRPr/>
            </a:pPr>
            <a:r>
              <a:rPr kumimoji="1" lang="zh-CN" altLang="en-US" sz="2000" b="1" kern="0" dirty="0">
                <a:solidFill>
                  <a:schemeClr val="accent3"/>
                </a:solidFill>
                <a:cs typeface="+mn-ea"/>
                <a:sym typeface="+mn-lt"/>
              </a:rPr>
              <a:t>程序清单</a:t>
            </a:r>
            <a:endParaRPr kumimoji="1" lang="zh-CN" altLang="en-US" sz="2000" b="1" kern="0" dirty="0">
              <a:solidFill>
                <a:schemeClr val="accent3"/>
              </a:solidFill>
              <a:cs typeface="+mn-ea"/>
              <a:sym typeface="+mn-lt"/>
            </a:endParaRPr>
          </a:p>
          <a:p>
            <a:pPr lvl="0" algn="l" defTabSz="609600">
              <a:lnSpc>
                <a:spcPct val="120000"/>
              </a:lnSpc>
              <a:defRPr/>
            </a:pPr>
            <a:r>
              <a:rPr kumimoji="1" lang="zh-CN" altLang="en-US" sz="2000" b="1" kern="0" dirty="0">
                <a:solidFill>
                  <a:schemeClr val="accent3"/>
                </a:solidFill>
                <a:cs typeface="+mn-ea"/>
                <a:sym typeface="+mn-lt"/>
              </a:rPr>
              <a:t>编码规范</a:t>
            </a:r>
            <a:endParaRPr kumimoji="1" lang="zh-CN" altLang="en-US" sz="2000" b="1" kern="0" dirty="0">
              <a:solidFill>
                <a:schemeClr val="accent3"/>
              </a:solidFill>
              <a:cs typeface="+mn-ea"/>
              <a:sym typeface="+mn-lt"/>
            </a:endParaRPr>
          </a:p>
          <a:p>
            <a:pPr lvl="0" algn="l" defTabSz="609600">
              <a:lnSpc>
                <a:spcPct val="120000"/>
              </a:lnSpc>
              <a:defRPr/>
            </a:pPr>
            <a:r>
              <a:rPr kumimoji="1" lang="zh-CN" altLang="en-US" sz="2000" b="1" kern="0" dirty="0">
                <a:solidFill>
                  <a:schemeClr val="accent3"/>
                </a:solidFill>
                <a:cs typeface="+mn-ea"/>
                <a:sym typeface="+mn-lt"/>
              </a:rPr>
              <a:t>代码走查</a:t>
            </a:r>
            <a:endParaRPr kumimoji="1" lang="zh-CN" altLang="en-US" sz="2000" b="1" kern="0" dirty="0">
              <a:solidFill>
                <a:schemeClr val="accent3"/>
              </a:solidFill>
              <a:cs typeface="+mn-ea"/>
              <a:sym typeface="+mn-lt"/>
            </a:endParaRPr>
          </a:p>
          <a:p>
            <a:pPr lvl="0" algn="l" defTabSz="609600">
              <a:lnSpc>
                <a:spcPct val="120000"/>
              </a:lnSpc>
              <a:defRPr/>
            </a:pPr>
            <a:r>
              <a:rPr kumimoji="1" lang="zh-CN" altLang="en-US" sz="2000" b="1" kern="0" dirty="0">
                <a:solidFill>
                  <a:schemeClr val="accent3"/>
                </a:solidFill>
                <a:cs typeface="+mn-ea"/>
                <a:sym typeface="+mn-lt"/>
              </a:rPr>
              <a:t>测试计划</a:t>
            </a:r>
            <a:endParaRPr kumimoji="1" lang="zh-CN" altLang="en-US" sz="2000" b="1" kern="0" dirty="0">
              <a:solidFill>
                <a:schemeClr val="accent3"/>
              </a:solidFill>
              <a:cs typeface="+mn-ea"/>
              <a:sym typeface="+mn-lt"/>
            </a:endParaRPr>
          </a:p>
          <a:p>
            <a:pPr lvl="0" algn="l" defTabSz="609600">
              <a:lnSpc>
                <a:spcPct val="120000"/>
              </a:lnSpc>
              <a:defRPr/>
            </a:pPr>
            <a:r>
              <a:rPr kumimoji="1" lang="zh-CN" altLang="en-US" sz="2000" b="1" kern="0" dirty="0">
                <a:solidFill>
                  <a:schemeClr val="accent3"/>
                </a:solidFill>
                <a:cs typeface="+mn-ea"/>
                <a:sym typeface="+mn-lt"/>
              </a:rPr>
              <a:t>测试用例</a:t>
            </a:r>
            <a:endParaRPr kumimoji="1" lang="zh-CN" altLang="en-US" sz="2000" b="1" kern="0" dirty="0">
              <a:solidFill>
                <a:schemeClr val="accent3"/>
              </a:solidFill>
              <a:cs typeface="+mn-ea"/>
              <a:sym typeface="+mn-lt"/>
            </a:endParaRPr>
          </a:p>
          <a:p>
            <a:pPr lvl="0" algn="l" defTabSz="609600">
              <a:lnSpc>
                <a:spcPct val="120000"/>
              </a:lnSpc>
              <a:defRPr/>
            </a:pPr>
            <a:r>
              <a:rPr kumimoji="1" lang="zh-CN" altLang="en-US" sz="2000" b="1" kern="0" dirty="0">
                <a:solidFill>
                  <a:schemeClr val="accent3"/>
                </a:solidFill>
                <a:cs typeface="+mn-ea"/>
                <a:sym typeface="+mn-lt"/>
              </a:rPr>
              <a:t>用户反馈</a:t>
            </a:r>
            <a:endParaRPr kumimoji="1" lang="zh-CN" altLang="en-US" sz="2000" b="1" kern="0" dirty="0">
              <a:solidFill>
                <a:schemeClr val="accent3"/>
              </a:solidFill>
              <a:cs typeface="+mn-ea"/>
              <a:sym typeface="+mn-lt"/>
            </a:endParaRPr>
          </a:p>
          <a:p>
            <a:pPr lvl="0" algn="l" defTabSz="609600">
              <a:lnSpc>
                <a:spcPct val="120000"/>
              </a:lnSpc>
              <a:defRPr/>
            </a:pPr>
            <a:r>
              <a:rPr kumimoji="1" lang="zh-CN" altLang="en-US" sz="2000" b="1" kern="0" dirty="0">
                <a:solidFill>
                  <a:schemeClr val="accent3"/>
                </a:solidFill>
                <a:cs typeface="+mn-ea"/>
                <a:sym typeface="+mn-lt"/>
              </a:rPr>
              <a:t>实现阶段分工</a:t>
            </a:r>
            <a:endParaRPr kumimoji="1" lang="zh-CN" altLang="en-US" sz="2000" b="1" kern="0" dirty="0">
              <a:solidFill>
                <a:schemeClr val="accent3"/>
              </a:solidFill>
              <a:cs typeface="+mn-ea"/>
              <a:sym typeface="+mn-lt"/>
            </a:endParaRPr>
          </a:p>
          <a:p>
            <a:pPr lvl="0" algn="l" defTabSz="609600">
              <a:lnSpc>
                <a:spcPct val="120000"/>
              </a:lnSpc>
              <a:defRPr/>
            </a:pPr>
            <a:r>
              <a:rPr kumimoji="1" lang="zh-CN" altLang="en-US" sz="2000" b="1" kern="0" dirty="0">
                <a:solidFill>
                  <a:schemeClr val="accent3"/>
                </a:solidFill>
                <a:cs typeface="+mn-ea"/>
                <a:sym typeface="+mn-lt"/>
              </a:rPr>
              <a:t>测试阶段分工</a:t>
            </a:r>
            <a:endParaRPr kumimoji="1" lang="zh-CN" altLang="en-US" sz="2000" b="1" kern="0" dirty="0">
              <a:solidFill>
                <a:schemeClr val="accent3"/>
              </a:solidFill>
              <a:cs typeface="+mn-ea"/>
              <a:sym typeface="+mn-lt"/>
            </a:endParaRPr>
          </a:p>
          <a:p>
            <a:pPr lvl="0" algn="l" defTabSz="609600">
              <a:lnSpc>
                <a:spcPct val="120000"/>
              </a:lnSpc>
              <a:defRPr/>
            </a:pPr>
            <a:r>
              <a:rPr kumimoji="1" lang="zh-CN" altLang="en-US" sz="2000" b="1" kern="0" dirty="0">
                <a:solidFill>
                  <a:schemeClr val="accent3"/>
                </a:solidFill>
                <a:cs typeface="+mn-ea"/>
                <a:sym typeface="+mn-lt"/>
              </a:rPr>
              <a:t>会议记录</a:t>
            </a:r>
            <a:endParaRPr kumimoji="1" lang="zh-CN" altLang="en-US" sz="2000" b="1" kern="0" dirty="0">
              <a:solidFill>
                <a:schemeClr val="accent3"/>
              </a:solidFill>
              <a:cs typeface="+mn-ea"/>
              <a:sym typeface="+mn-lt"/>
            </a:endParaRPr>
          </a:p>
          <a:p>
            <a:pPr lvl="0" algn="l" defTabSz="609600">
              <a:lnSpc>
                <a:spcPct val="120000"/>
              </a:lnSpc>
              <a:defRPr/>
            </a:pPr>
            <a:r>
              <a:rPr lang="zh-CN" altLang="en-US" sz="2000" b="1" kern="0">
                <a:solidFill>
                  <a:schemeClr val="accent3"/>
                </a:solidFill>
                <a:cs typeface="+mn-ea"/>
                <a:sym typeface="+mn-lt"/>
              </a:rPr>
              <a:t>甘特图及进程更新</a:t>
            </a:r>
            <a:endParaRPr kumimoji="1" lang="zh-CN" altLang="en-US" sz="2000" b="1" kern="0" dirty="0">
              <a:solidFill>
                <a:schemeClr val="accent3"/>
              </a:solidFill>
              <a:cs typeface="+mn-ea"/>
              <a:sym typeface="+mn-lt"/>
            </a:endParaRPr>
          </a:p>
          <a:p>
            <a:pPr lvl="0" algn="l" defTabSz="609600">
              <a:lnSpc>
                <a:spcPct val="120000"/>
              </a:lnSpc>
              <a:defRPr/>
            </a:pPr>
            <a:r>
              <a:rPr kumimoji="1" lang="zh-CN" altLang="en-US" sz="2000" b="1" kern="0" dirty="0">
                <a:solidFill>
                  <a:schemeClr val="accent3"/>
                </a:solidFill>
                <a:cs typeface="+mn-ea"/>
                <a:sym typeface="+mn-lt"/>
              </a:rPr>
              <a:t>绩效评价</a:t>
            </a:r>
            <a:endParaRPr kumimoji="1" lang="en-US" altLang="zh-CN" sz="2000" b="1" kern="0" dirty="0">
              <a:solidFill>
                <a:schemeClr val="accent3"/>
              </a:solidFill>
              <a:cs typeface="+mn-ea"/>
              <a:sym typeface="+mn-lt"/>
            </a:endParaRPr>
          </a:p>
        </p:txBody>
      </p:sp>
      <p:sp>
        <p:nvSpPr>
          <p:cNvPr id="55" name="文本框 54"/>
          <p:cNvSpPr txBox="1"/>
          <p:nvPr/>
        </p:nvSpPr>
        <p:spPr>
          <a:xfrm>
            <a:off x="5671327" y="1776232"/>
            <a:ext cx="1313180" cy="769441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lvl="0" defTabSz="685800">
              <a:defRPr sz="4400" b="1" kern="0">
                <a:solidFill>
                  <a:schemeClr val="accent3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rPr>
              <a:t>目录</a:t>
            </a:r>
            <a:endParaRPr lang="zh-CN" altLang="en-US">
              <a:solidFill>
                <a:schemeClr val="bg1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56" name="文本框 55"/>
          <p:cNvSpPr txBox="1"/>
          <p:nvPr/>
        </p:nvSpPr>
        <p:spPr>
          <a:xfrm>
            <a:off x="5515836" y="2495913"/>
            <a:ext cx="162416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algn="ctr" defTabSz="609600">
              <a:defRPr/>
            </a:pPr>
            <a:r>
              <a:rPr kumimoji="1" lang="en-US" altLang="zh-CN" sz="2000" b="1" kern="0">
                <a:solidFill>
                  <a:schemeClr val="bg1"/>
                </a:solidFill>
                <a:cs typeface="+mn-ea"/>
                <a:sym typeface="+mn-lt"/>
              </a:rPr>
              <a:t>CONTENTS</a:t>
            </a:r>
            <a:endParaRPr kumimoji="1" lang="zh-CN" altLang="en-US" sz="2000" b="1" kern="0">
              <a:solidFill>
                <a:schemeClr val="bg1"/>
              </a:solidFill>
              <a:cs typeface="+mn-ea"/>
              <a:sym typeface="+mn-lt"/>
            </a:endParaRPr>
          </a:p>
        </p:txBody>
      </p:sp>
      <p:cxnSp>
        <p:nvCxnSpPr>
          <p:cNvPr id="4" name="直接连接符 3"/>
          <p:cNvCxnSpPr/>
          <p:nvPr/>
        </p:nvCxnSpPr>
        <p:spPr>
          <a:xfrm>
            <a:off x="6169209" y="2990398"/>
            <a:ext cx="317417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椭圆 4"/>
          <p:cNvSpPr/>
          <p:nvPr/>
        </p:nvSpPr>
        <p:spPr>
          <a:xfrm>
            <a:off x="-807511" y="563665"/>
            <a:ext cx="477014" cy="477014"/>
          </a:xfrm>
          <a:prstGeom prst="ellipse">
            <a:avLst/>
          </a:prstGeom>
          <a:solidFill>
            <a:srgbClr val="F7E9E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6" name="椭圆 15"/>
          <p:cNvSpPr/>
          <p:nvPr/>
        </p:nvSpPr>
        <p:spPr>
          <a:xfrm>
            <a:off x="-807511" y="1455830"/>
            <a:ext cx="477014" cy="477014"/>
          </a:xfrm>
          <a:prstGeom prst="ellipse">
            <a:avLst/>
          </a:prstGeom>
          <a:solidFill>
            <a:srgbClr val="F4D1C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7" name="椭圆 16"/>
          <p:cNvSpPr/>
          <p:nvPr/>
        </p:nvSpPr>
        <p:spPr>
          <a:xfrm>
            <a:off x="-807511" y="2347995"/>
            <a:ext cx="477014" cy="477014"/>
          </a:xfrm>
          <a:prstGeom prst="ellipse">
            <a:avLst/>
          </a:prstGeom>
          <a:solidFill>
            <a:srgbClr val="7787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8" name="椭圆 17"/>
          <p:cNvSpPr/>
          <p:nvPr/>
        </p:nvSpPr>
        <p:spPr>
          <a:xfrm>
            <a:off x="-807511" y="3240159"/>
            <a:ext cx="477014" cy="477014"/>
          </a:xfrm>
          <a:prstGeom prst="ellipse">
            <a:avLst/>
          </a:prstGeom>
          <a:solidFill>
            <a:srgbClr val="A0B0B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9" name="椭圆 18"/>
          <p:cNvSpPr/>
          <p:nvPr/>
        </p:nvSpPr>
        <p:spPr>
          <a:xfrm>
            <a:off x="-807511" y="4132323"/>
            <a:ext cx="477014" cy="477014"/>
          </a:xfrm>
          <a:prstGeom prst="ellipse">
            <a:avLst/>
          </a:prstGeom>
          <a:solidFill>
            <a:srgbClr val="C9D2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1" name="椭圆 20"/>
          <p:cNvSpPr/>
          <p:nvPr/>
        </p:nvSpPr>
        <p:spPr>
          <a:xfrm>
            <a:off x="7836421" y="-394388"/>
            <a:ext cx="2197265" cy="2197265"/>
          </a:xfrm>
          <a:prstGeom prst="ellipse">
            <a:avLst/>
          </a:prstGeom>
          <a:solidFill>
            <a:srgbClr val="7787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5" name="椭圆 24"/>
          <p:cNvSpPr/>
          <p:nvPr/>
        </p:nvSpPr>
        <p:spPr>
          <a:xfrm>
            <a:off x="6292646" y="3615378"/>
            <a:ext cx="2038210" cy="203821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6" name="椭圆 25"/>
          <p:cNvSpPr/>
          <p:nvPr/>
        </p:nvSpPr>
        <p:spPr>
          <a:xfrm>
            <a:off x="8083405" y="2850102"/>
            <a:ext cx="673979" cy="673979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7" name="椭圆 26"/>
          <p:cNvSpPr/>
          <p:nvPr/>
        </p:nvSpPr>
        <p:spPr>
          <a:xfrm>
            <a:off x="393996" y="-243597"/>
            <a:ext cx="916465" cy="916465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8" name="椭圆 27"/>
          <p:cNvSpPr/>
          <p:nvPr/>
        </p:nvSpPr>
        <p:spPr>
          <a:xfrm>
            <a:off x="-190611" y="4331467"/>
            <a:ext cx="1169214" cy="1169214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0" name="椭圆 29"/>
          <p:cNvSpPr/>
          <p:nvPr/>
        </p:nvSpPr>
        <p:spPr>
          <a:xfrm>
            <a:off x="4865658" y="3809246"/>
            <a:ext cx="769442" cy="769442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7" name="矩形 36"/>
          <p:cNvSpPr/>
          <p:nvPr/>
        </p:nvSpPr>
        <p:spPr>
          <a:xfrm>
            <a:off x="215153" y="274405"/>
            <a:ext cx="8713694" cy="4594690"/>
          </a:xfrm>
          <a:prstGeom prst="rect">
            <a:avLst/>
          </a:prstGeom>
          <a:noFill/>
          <a:ln w="285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6" name="矩形 35"/>
          <p:cNvSpPr/>
          <p:nvPr/>
        </p:nvSpPr>
        <p:spPr>
          <a:xfrm rot="5400000">
            <a:off x="-848148" y="1598602"/>
            <a:ext cx="2172390" cy="338554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en-US" altLang="zh-CN" sz="1600" kern="0">
                <a:solidFill>
                  <a:prstClr val="black">
                    <a:lumMod val="65000"/>
                    <a:lumOff val="35000"/>
                  </a:prstClr>
                </a:solidFill>
                <a:cs typeface="+mn-ea"/>
                <a:sym typeface="+mn-lt"/>
              </a:rPr>
              <a:t>SUMMARY REPORT </a:t>
            </a:r>
            <a:endParaRPr lang="zh-CN" altLang="en-US">
              <a:cs typeface="+mn-ea"/>
              <a:sym typeface="+mn-lt"/>
            </a:endParaRPr>
          </a:p>
        </p:txBody>
      </p:sp>
      <p:sp>
        <p:nvSpPr>
          <p:cNvPr id="38" name="椭圆 37"/>
          <p:cNvSpPr/>
          <p:nvPr/>
        </p:nvSpPr>
        <p:spPr>
          <a:xfrm>
            <a:off x="6355614" y="993263"/>
            <a:ext cx="460508" cy="46050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2" name="PA_矩形 7"/>
          <p:cNvSpPr/>
          <p:nvPr>
            <p:custDataLst>
              <p:tags r:id="rId1"/>
            </p:custDataLst>
          </p:nvPr>
        </p:nvSpPr>
        <p:spPr>
          <a:xfrm>
            <a:off x="4485859" y="2085674"/>
            <a:ext cx="2418080" cy="76835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l" defTabSz="685800">
              <a:defRPr/>
            </a:pPr>
            <a:r>
              <a:rPr lang="zh-CN" altLang="en-US" sz="4400" b="1" kern="0">
                <a:solidFill>
                  <a:schemeClr val="accent3"/>
                </a:solidFill>
                <a:cs typeface="+mn-ea"/>
                <a:sym typeface="+mn-lt"/>
              </a:rPr>
              <a:t>程序清单</a:t>
            </a:r>
            <a:endParaRPr lang="zh-CN" altLang="en-US" sz="4400" b="1" kern="0">
              <a:solidFill>
                <a:schemeClr val="accent3"/>
              </a:solidFill>
              <a:cs typeface="+mn-ea"/>
              <a:sym typeface="+mn-lt"/>
            </a:endParaRPr>
          </a:p>
        </p:txBody>
      </p:sp>
      <p:sp>
        <p:nvSpPr>
          <p:cNvPr id="24" name="矩形: 圆角 23"/>
          <p:cNvSpPr/>
          <p:nvPr/>
        </p:nvSpPr>
        <p:spPr>
          <a:xfrm>
            <a:off x="2045335" y="2172335"/>
            <a:ext cx="1949450" cy="59563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矩形 29" descr="e7d195523061f1c09e9d68d7cf438b91ef959ecb14fc25d26BBA7F7DBC18E55DFF4014AF651F0BF2569D4B6C1DA7F1A4683A481403BD872FC687266AD13265C1DE7C373772FD8728ABDD69ADD03BFF5BE2862BC891DBB79E898246E26A37A7D7E7C9DC44FE43D1F30388553B00347CD837D51A8797480C6AF68527F3A808E66C70F7F7545EF53EA9DBB2923F8DF110717A250568B4EE1FE8"/>
          <p:cNvSpPr/>
          <p:nvPr/>
        </p:nvSpPr>
        <p:spPr>
          <a:xfrm>
            <a:off x="395288" y="861400"/>
            <a:ext cx="2424223" cy="3643242"/>
          </a:xfrm>
          <a:prstGeom prst="rect">
            <a:avLst/>
          </a:prstGeom>
          <a:solidFill>
            <a:schemeClr val="accent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36" name="文本框 35" descr="e7d195523061f1c09e9d68d7cf438b91ef959ecb14fc25d26BBA7F7DBC18E55DFF4014AF651F0BF2569D4B6C1DA7F1A4683A481403BD872FC687266AD13265C1DE7C373772FD8728ABDD69ADD03BFF5BE2862BC891DBB79EF84BF418A889B226CF9C0CB1BFFED779B0ECBE1C944F05400A013ADFFA7A2B3CCAAF7701251FF12675319688C370005A869A8358FC9497EA"/>
          <p:cNvSpPr txBox="1"/>
          <p:nvPr/>
        </p:nvSpPr>
        <p:spPr>
          <a:xfrm>
            <a:off x="3811191" y="1999602"/>
            <a:ext cx="84807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>
                <a:solidFill>
                  <a:schemeClr val="bg1"/>
                </a:solidFill>
                <a:cs typeface="+mn-ea"/>
                <a:sym typeface="+mn-lt"/>
              </a:rPr>
              <a:t>80</a:t>
            </a:r>
            <a:r>
              <a:rPr lang="en-US" altLang="zh-CN">
                <a:solidFill>
                  <a:schemeClr val="bg1"/>
                </a:solidFill>
                <a:cs typeface="+mn-ea"/>
                <a:sym typeface="+mn-lt"/>
              </a:rPr>
              <a:t>%</a:t>
            </a:r>
            <a:endParaRPr lang="en-US" altLang="zh-CN" sz="320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51" name="矩形 50" descr="e7d195523061f1c09e9d68d7cf438b91ef959ecb14fc25d26BBA7F7DBC18E55DFF4014AF651F0BF2569D4B6C1DA7F1A4683A481403BD872FC687266AD13265C1DE7C373772FD8728ABDD69ADD03BFF5BE2862BC891DBB79EC884C45A5F465464F4471A44E2E9B6024498CDCB4F20168DAB66C7FAB51F4DF2191988BC51E8947C5543912A7B2AB33F8B6FFDD33C59E19B"/>
          <p:cNvSpPr/>
          <p:nvPr/>
        </p:nvSpPr>
        <p:spPr>
          <a:xfrm>
            <a:off x="3501756" y="3351289"/>
            <a:ext cx="1440979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1400">
                <a:solidFill>
                  <a:schemeClr val="bg1"/>
                </a:solidFill>
                <a:cs typeface="+mn-ea"/>
                <a:sym typeface="+mn-lt"/>
              </a:rPr>
              <a:t>市场数据分析</a:t>
            </a:r>
            <a:endParaRPr lang="zh-CN" altLang="en-US" sz="140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52" name="矩形 51" descr="e7d195523061f1c09e9d68d7cf438b91ef959ecb14fc25d26BBA7F7DBC18E55DFF4014AF651F0BF2569D4B6C1DA7F1A4683A481403BD872FC687266AD13265C1DE7C373772FD8728ABDD69ADD03BFF5BE2862BC891DBB79E48D68EAF9BC0B135F08CB3AA261467E47643FBA29D38A9757F7FFD5B7023D39A21F358D3BB12D2D6D548E32EE07CB42717034D7FAE5F42C8"/>
          <p:cNvSpPr/>
          <p:nvPr/>
        </p:nvSpPr>
        <p:spPr>
          <a:xfrm>
            <a:off x="3383213" y="3659066"/>
            <a:ext cx="1678064" cy="13042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050">
                <a:solidFill>
                  <a:schemeClr val="bg1"/>
                </a:solidFill>
                <a:cs typeface="+mn-ea"/>
                <a:sym typeface="+mn-lt"/>
              </a:rPr>
              <a:t>Lorem ipsum dolor sit amet, consectetuer adipiscing elit. Aenean commodo ligula eget dolor. </a:t>
            </a:r>
            <a:endParaRPr lang="en-US" altLang="zh-CN" sz="105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57225" y="1682750"/>
            <a:ext cx="1913890" cy="115316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endParaRPr lang="en-US" altLang="zh-CN" sz="1400">
              <a:solidFill>
                <a:schemeClr val="accent3"/>
              </a:solidFill>
              <a:cs typeface="+mn-ea"/>
              <a:sym typeface="+mn-lt"/>
            </a:endParaRPr>
          </a:p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3200">
                <a:solidFill>
                  <a:schemeClr val="accent3"/>
                </a:solidFill>
                <a:effectLst/>
                <a:cs typeface="+mn-ea"/>
                <a:sym typeface="+mn-lt"/>
              </a:rPr>
              <a:t>程序清单</a:t>
            </a:r>
            <a:endParaRPr lang="zh-CN" altLang="en-US" sz="3200">
              <a:solidFill>
                <a:schemeClr val="accent3"/>
              </a:solidFill>
              <a:effectLst/>
              <a:cs typeface="+mn-ea"/>
              <a:sym typeface="+mn-lt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33395" y="488950"/>
            <a:ext cx="3794760" cy="401574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矩形 29" descr="e7d195523061f1c09e9d68d7cf438b91ef959ecb14fc25d26BBA7F7DBC18E55DFF4014AF651F0BF2569D4B6C1DA7F1A4683A481403BD872FC687266AD13265C1DE7C373772FD8728ABDD69ADD03BFF5BE2862BC891DBB79E898246E26A37A7D7E7C9DC44FE43D1F30388553B00347CD837D51A8797480C6AF68527F3A808E66C70F7F7545EF53EA9DBB2923F8DF110717A250568B4EE1FE8"/>
          <p:cNvSpPr/>
          <p:nvPr/>
        </p:nvSpPr>
        <p:spPr>
          <a:xfrm>
            <a:off x="395288" y="861400"/>
            <a:ext cx="2424223" cy="3643242"/>
          </a:xfrm>
          <a:prstGeom prst="rect">
            <a:avLst/>
          </a:prstGeom>
          <a:solidFill>
            <a:schemeClr val="accent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36" name="文本框 35" descr="e7d195523061f1c09e9d68d7cf438b91ef959ecb14fc25d26BBA7F7DBC18E55DFF4014AF651F0BF2569D4B6C1DA7F1A4683A481403BD872FC687266AD13265C1DE7C373772FD8728ABDD69ADD03BFF5BE2862BC891DBB79EF84BF418A889B226CF9C0CB1BFFED779B0ECBE1C944F05400A013ADFFA7A2B3CCAAF7701251FF12675319688C370005A869A8358FC9497EA"/>
          <p:cNvSpPr txBox="1"/>
          <p:nvPr/>
        </p:nvSpPr>
        <p:spPr>
          <a:xfrm>
            <a:off x="3811191" y="1999602"/>
            <a:ext cx="84807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>
                <a:solidFill>
                  <a:schemeClr val="bg1"/>
                </a:solidFill>
                <a:cs typeface="+mn-ea"/>
                <a:sym typeface="+mn-lt"/>
              </a:rPr>
              <a:t>80</a:t>
            </a:r>
            <a:r>
              <a:rPr lang="en-US" altLang="zh-CN">
                <a:solidFill>
                  <a:schemeClr val="bg1"/>
                </a:solidFill>
                <a:cs typeface="+mn-ea"/>
                <a:sym typeface="+mn-lt"/>
              </a:rPr>
              <a:t>%</a:t>
            </a:r>
            <a:endParaRPr lang="en-US" altLang="zh-CN" sz="320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51" name="矩形 50" descr="e7d195523061f1c09e9d68d7cf438b91ef959ecb14fc25d26BBA7F7DBC18E55DFF4014AF651F0BF2569D4B6C1DA7F1A4683A481403BD872FC687266AD13265C1DE7C373772FD8728ABDD69ADD03BFF5BE2862BC891DBB79EC884C45A5F465464F4471A44E2E9B6024498CDCB4F20168DAB66C7FAB51F4DF2191988BC51E8947C5543912A7B2AB33F8B6FFDD33C59E19B"/>
          <p:cNvSpPr/>
          <p:nvPr/>
        </p:nvSpPr>
        <p:spPr>
          <a:xfrm>
            <a:off x="3501756" y="3351289"/>
            <a:ext cx="1440979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1400">
                <a:solidFill>
                  <a:schemeClr val="bg1"/>
                </a:solidFill>
                <a:cs typeface="+mn-ea"/>
                <a:sym typeface="+mn-lt"/>
              </a:rPr>
              <a:t>市场数据分析</a:t>
            </a:r>
            <a:endParaRPr lang="zh-CN" altLang="en-US" sz="140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52" name="矩形 51" descr="e7d195523061f1c09e9d68d7cf438b91ef959ecb14fc25d26BBA7F7DBC18E55DFF4014AF651F0BF2569D4B6C1DA7F1A4683A481403BD872FC687266AD13265C1DE7C373772FD8728ABDD69ADD03BFF5BE2862BC891DBB79E48D68EAF9BC0B135F08CB3AA261467E47643FBA29D38A9757F7FFD5B7023D39A21F358D3BB12D2D6D548E32EE07CB42717034D7FAE5F42C8"/>
          <p:cNvSpPr/>
          <p:nvPr/>
        </p:nvSpPr>
        <p:spPr>
          <a:xfrm>
            <a:off x="3383213" y="3659066"/>
            <a:ext cx="1678064" cy="13042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050">
                <a:solidFill>
                  <a:schemeClr val="bg1"/>
                </a:solidFill>
                <a:cs typeface="+mn-ea"/>
                <a:sym typeface="+mn-lt"/>
              </a:rPr>
              <a:t>Lorem ipsum dolor sit amet, consectetuer adipiscing elit. Aenean commodo ligula eget dolor. </a:t>
            </a:r>
            <a:endParaRPr lang="en-US" altLang="zh-CN" sz="105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43890" y="1682750"/>
            <a:ext cx="1913890" cy="115316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endParaRPr lang="en-US" altLang="zh-CN" sz="1400">
              <a:solidFill>
                <a:schemeClr val="accent3"/>
              </a:solidFill>
              <a:cs typeface="+mn-ea"/>
              <a:sym typeface="+mn-lt"/>
            </a:endParaRPr>
          </a:p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3200">
                <a:solidFill>
                  <a:schemeClr val="accent3"/>
                </a:solidFill>
                <a:effectLst/>
                <a:cs typeface="+mn-ea"/>
                <a:sym typeface="+mn-lt"/>
              </a:rPr>
              <a:t>程序清单</a:t>
            </a:r>
            <a:endParaRPr lang="zh-CN" altLang="en-US" sz="3200">
              <a:solidFill>
                <a:schemeClr val="accent3"/>
              </a:solidFill>
              <a:effectLst/>
              <a:cs typeface="+mn-ea"/>
              <a:sym typeface="+mn-lt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51175" y="299085"/>
            <a:ext cx="3041015" cy="454533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88005" y="358140"/>
            <a:ext cx="2395855" cy="4426585"/>
          </a:xfrm>
          <a:prstGeom prst="rect">
            <a:avLst/>
          </a:prstGeom>
        </p:spPr>
      </p:pic>
      <p:sp>
        <p:nvSpPr>
          <p:cNvPr id="30" name="矩形 29" descr="e7d195523061f1c09e9d68d7cf438b91ef959ecb14fc25d26BBA7F7DBC18E55DFF4014AF651F0BF2569D4B6C1DA7F1A4683A481403BD872FC687266AD13265C1DE7C373772FD8728ABDD69ADD03BFF5BE2862BC891DBB79E898246E26A37A7D7E7C9DC44FE43D1F30388553B00347CD837D51A8797480C6AF68527F3A808E66C70F7F7545EF53EA9DBB2923F8DF110717A250568B4EE1FE8"/>
          <p:cNvSpPr/>
          <p:nvPr/>
        </p:nvSpPr>
        <p:spPr>
          <a:xfrm>
            <a:off x="395288" y="861400"/>
            <a:ext cx="2424223" cy="3643242"/>
          </a:xfrm>
          <a:prstGeom prst="rect">
            <a:avLst/>
          </a:prstGeom>
          <a:solidFill>
            <a:schemeClr val="accent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50875" y="1682750"/>
            <a:ext cx="1913890" cy="115316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endParaRPr lang="en-US" altLang="zh-CN" sz="1400">
              <a:solidFill>
                <a:schemeClr val="accent3"/>
              </a:solidFill>
              <a:cs typeface="+mn-ea"/>
              <a:sym typeface="+mn-lt"/>
            </a:endParaRPr>
          </a:p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3200">
                <a:solidFill>
                  <a:schemeClr val="accent3"/>
                </a:solidFill>
                <a:effectLst/>
                <a:cs typeface="+mn-ea"/>
                <a:sym typeface="+mn-lt"/>
              </a:rPr>
              <a:t>程序清单</a:t>
            </a:r>
            <a:endParaRPr lang="zh-CN" altLang="en-US" sz="3200">
              <a:solidFill>
                <a:schemeClr val="accent3"/>
              </a:solidFill>
              <a:effectLst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椭圆 4"/>
          <p:cNvSpPr/>
          <p:nvPr/>
        </p:nvSpPr>
        <p:spPr>
          <a:xfrm>
            <a:off x="-807511" y="563665"/>
            <a:ext cx="477014" cy="477014"/>
          </a:xfrm>
          <a:prstGeom prst="ellipse">
            <a:avLst/>
          </a:prstGeom>
          <a:solidFill>
            <a:srgbClr val="F7E9E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6" name="椭圆 15"/>
          <p:cNvSpPr/>
          <p:nvPr/>
        </p:nvSpPr>
        <p:spPr>
          <a:xfrm>
            <a:off x="-807511" y="1455830"/>
            <a:ext cx="477014" cy="477014"/>
          </a:xfrm>
          <a:prstGeom prst="ellipse">
            <a:avLst/>
          </a:prstGeom>
          <a:solidFill>
            <a:srgbClr val="F4D1C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7" name="椭圆 16"/>
          <p:cNvSpPr/>
          <p:nvPr/>
        </p:nvSpPr>
        <p:spPr>
          <a:xfrm>
            <a:off x="-807511" y="2347995"/>
            <a:ext cx="477014" cy="477014"/>
          </a:xfrm>
          <a:prstGeom prst="ellipse">
            <a:avLst/>
          </a:prstGeom>
          <a:solidFill>
            <a:srgbClr val="7787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8" name="椭圆 17"/>
          <p:cNvSpPr/>
          <p:nvPr/>
        </p:nvSpPr>
        <p:spPr>
          <a:xfrm>
            <a:off x="-807511" y="3240159"/>
            <a:ext cx="477014" cy="477014"/>
          </a:xfrm>
          <a:prstGeom prst="ellipse">
            <a:avLst/>
          </a:prstGeom>
          <a:solidFill>
            <a:srgbClr val="A0B0B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9" name="椭圆 18"/>
          <p:cNvSpPr/>
          <p:nvPr/>
        </p:nvSpPr>
        <p:spPr>
          <a:xfrm>
            <a:off x="-807511" y="4132323"/>
            <a:ext cx="477014" cy="477014"/>
          </a:xfrm>
          <a:prstGeom prst="ellipse">
            <a:avLst/>
          </a:prstGeom>
          <a:solidFill>
            <a:srgbClr val="C9D2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1" name="椭圆 20"/>
          <p:cNvSpPr/>
          <p:nvPr/>
        </p:nvSpPr>
        <p:spPr>
          <a:xfrm>
            <a:off x="7836421" y="-394388"/>
            <a:ext cx="2197265" cy="2197265"/>
          </a:xfrm>
          <a:prstGeom prst="ellipse">
            <a:avLst/>
          </a:prstGeom>
          <a:solidFill>
            <a:srgbClr val="7787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5" name="椭圆 24"/>
          <p:cNvSpPr/>
          <p:nvPr/>
        </p:nvSpPr>
        <p:spPr>
          <a:xfrm>
            <a:off x="6292646" y="3615378"/>
            <a:ext cx="2038210" cy="203821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6" name="椭圆 25"/>
          <p:cNvSpPr/>
          <p:nvPr/>
        </p:nvSpPr>
        <p:spPr>
          <a:xfrm>
            <a:off x="8083405" y="2850102"/>
            <a:ext cx="673979" cy="673979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7" name="椭圆 26"/>
          <p:cNvSpPr/>
          <p:nvPr/>
        </p:nvSpPr>
        <p:spPr>
          <a:xfrm>
            <a:off x="393996" y="-243597"/>
            <a:ext cx="916465" cy="916465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8" name="椭圆 27"/>
          <p:cNvSpPr/>
          <p:nvPr/>
        </p:nvSpPr>
        <p:spPr>
          <a:xfrm>
            <a:off x="-190611" y="4331467"/>
            <a:ext cx="1169214" cy="1169214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0" name="椭圆 29"/>
          <p:cNvSpPr/>
          <p:nvPr/>
        </p:nvSpPr>
        <p:spPr>
          <a:xfrm>
            <a:off x="4865658" y="3809246"/>
            <a:ext cx="769442" cy="769442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7" name="矩形 36"/>
          <p:cNvSpPr/>
          <p:nvPr/>
        </p:nvSpPr>
        <p:spPr>
          <a:xfrm>
            <a:off x="215153" y="274405"/>
            <a:ext cx="8713694" cy="4594690"/>
          </a:xfrm>
          <a:prstGeom prst="rect">
            <a:avLst/>
          </a:prstGeom>
          <a:noFill/>
          <a:ln w="285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6" name="矩形 35"/>
          <p:cNvSpPr/>
          <p:nvPr/>
        </p:nvSpPr>
        <p:spPr>
          <a:xfrm rot="5400000">
            <a:off x="-848148" y="1598602"/>
            <a:ext cx="2172390" cy="338554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en-US" altLang="zh-CN" sz="1600" kern="0">
                <a:solidFill>
                  <a:prstClr val="black">
                    <a:lumMod val="65000"/>
                    <a:lumOff val="35000"/>
                  </a:prstClr>
                </a:solidFill>
                <a:cs typeface="+mn-ea"/>
                <a:sym typeface="+mn-lt"/>
              </a:rPr>
              <a:t>SUMMARY REPORT </a:t>
            </a:r>
            <a:endParaRPr lang="zh-CN" altLang="en-US">
              <a:cs typeface="+mn-ea"/>
              <a:sym typeface="+mn-lt"/>
            </a:endParaRPr>
          </a:p>
        </p:txBody>
      </p:sp>
      <p:sp>
        <p:nvSpPr>
          <p:cNvPr id="38" name="椭圆 37"/>
          <p:cNvSpPr/>
          <p:nvPr/>
        </p:nvSpPr>
        <p:spPr>
          <a:xfrm>
            <a:off x="6355614" y="993263"/>
            <a:ext cx="460508" cy="46050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2" name="PA_矩形 7"/>
          <p:cNvSpPr/>
          <p:nvPr>
            <p:custDataLst>
              <p:tags r:id="rId1"/>
            </p:custDataLst>
          </p:nvPr>
        </p:nvSpPr>
        <p:spPr>
          <a:xfrm>
            <a:off x="4485859" y="2085674"/>
            <a:ext cx="2418080" cy="76835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l" defTabSz="685800">
              <a:defRPr/>
            </a:pPr>
            <a:r>
              <a:rPr lang="zh-CN" altLang="en-US" sz="4400" b="1" kern="0">
                <a:solidFill>
                  <a:schemeClr val="accent3"/>
                </a:solidFill>
                <a:cs typeface="+mn-ea"/>
                <a:sym typeface="+mn-lt"/>
              </a:rPr>
              <a:t>编码规范</a:t>
            </a:r>
            <a:endParaRPr lang="zh-CN" altLang="en-US" sz="4400" b="1" kern="0">
              <a:solidFill>
                <a:schemeClr val="accent3"/>
              </a:solidFill>
              <a:cs typeface="+mn-ea"/>
              <a:sym typeface="+mn-lt"/>
            </a:endParaRPr>
          </a:p>
        </p:txBody>
      </p:sp>
      <p:sp>
        <p:nvSpPr>
          <p:cNvPr id="24" name="矩形: 圆角 23"/>
          <p:cNvSpPr/>
          <p:nvPr/>
        </p:nvSpPr>
        <p:spPr>
          <a:xfrm>
            <a:off x="2045335" y="2172335"/>
            <a:ext cx="1949450" cy="59563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矩形 29" descr="e7d195523061f1c09e9d68d7cf438b91ef959ecb14fc25d26BBA7F7DBC18E55DFF4014AF651F0BF2569D4B6C1DA7F1A4683A481403BD872FC687266AD13265C1DE7C373772FD8728ABDD69ADD03BFF5BE2862BC891DBB79E898246E26A37A7D7E7C9DC44FE43D1F30388553B00347CD837D51A8797480C6AF68527F3A808E66C70F7F7545EF53EA9DBB2923F8DF110717A250568B4EE1FE8"/>
          <p:cNvSpPr/>
          <p:nvPr/>
        </p:nvSpPr>
        <p:spPr>
          <a:xfrm>
            <a:off x="395288" y="874735"/>
            <a:ext cx="2424223" cy="3643242"/>
          </a:xfrm>
          <a:prstGeom prst="rect">
            <a:avLst/>
          </a:prstGeom>
          <a:solidFill>
            <a:schemeClr val="accent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36" name="文本框 35" descr="e7d195523061f1c09e9d68d7cf438b91ef959ecb14fc25d26BBA7F7DBC18E55DFF4014AF651F0BF2569D4B6C1DA7F1A4683A481403BD872FC687266AD13265C1DE7C373772FD8728ABDD69ADD03BFF5BE2862BC891DBB79EF84BF418A889B226CF9C0CB1BFFED779B0ECBE1C944F05400A013ADFFA7A2B3CCAAF7701251FF12675319688C370005A869A8358FC9497EA"/>
          <p:cNvSpPr txBox="1"/>
          <p:nvPr/>
        </p:nvSpPr>
        <p:spPr>
          <a:xfrm>
            <a:off x="3811191" y="1999602"/>
            <a:ext cx="84807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>
                <a:solidFill>
                  <a:schemeClr val="bg1"/>
                </a:solidFill>
                <a:cs typeface="+mn-ea"/>
                <a:sym typeface="+mn-lt"/>
              </a:rPr>
              <a:t>80</a:t>
            </a:r>
            <a:r>
              <a:rPr lang="en-US" altLang="zh-CN">
                <a:solidFill>
                  <a:schemeClr val="bg1"/>
                </a:solidFill>
                <a:cs typeface="+mn-ea"/>
                <a:sym typeface="+mn-lt"/>
              </a:rPr>
              <a:t>%</a:t>
            </a:r>
            <a:endParaRPr lang="en-US" altLang="zh-CN" sz="320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51" name="矩形 50" descr="e7d195523061f1c09e9d68d7cf438b91ef959ecb14fc25d26BBA7F7DBC18E55DFF4014AF651F0BF2569D4B6C1DA7F1A4683A481403BD872FC687266AD13265C1DE7C373772FD8728ABDD69ADD03BFF5BE2862BC891DBB79EC884C45A5F465464F4471A44E2E9B6024498CDCB4F20168DAB66C7FAB51F4DF2191988BC51E8947C5543912A7B2AB33F8B6FFDD33C59E19B"/>
          <p:cNvSpPr/>
          <p:nvPr/>
        </p:nvSpPr>
        <p:spPr>
          <a:xfrm>
            <a:off x="3501756" y="3351289"/>
            <a:ext cx="1440979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1400">
                <a:solidFill>
                  <a:schemeClr val="bg1"/>
                </a:solidFill>
                <a:cs typeface="+mn-ea"/>
                <a:sym typeface="+mn-lt"/>
              </a:rPr>
              <a:t>市场数据分析</a:t>
            </a:r>
            <a:endParaRPr lang="zh-CN" altLang="en-US" sz="140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52" name="矩形 51" descr="e7d195523061f1c09e9d68d7cf438b91ef959ecb14fc25d26BBA7F7DBC18E55DFF4014AF651F0BF2569D4B6C1DA7F1A4683A481403BD872FC687266AD13265C1DE7C373772FD8728ABDD69ADD03BFF5BE2862BC891DBB79E48D68EAF9BC0B135F08CB3AA261467E47643FBA29D38A9757F7FFD5B7023D39A21F358D3BB12D2D6D548E32EE07CB42717034D7FAE5F42C8"/>
          <p:cNvSpPr/>
          <p:nvPr/>
        </p:nvSpPr>
        <p:spPr>
          <a:xfrm>
            <a:off x="3383213" y="3659066"/>
            <a:ext cx="1678064" cy="13042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050">
                <a:solidFill>
                  <a:schemeClr val="bg1"/>
                </a:solidFill>
                <a:cs typeface="+mn-ea"/>
                <a:sym typeface="+mn-lt"/>
              </a:rPr>
              <a:t>Lorem ipsum dolor sit amet, consectetuer adipiscing elit. Aenean commodo ligula eget dolor. </a:t>
            </a:r>
            <a:endParaRPr lang="en-US" altLang="zh-CN" sz="105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50875" y="1682750"/>
            <a:ext cx="1913890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endParaRPr lang="en-US" altLang="zh-CN" sz="140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40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内部代码规范</a:t>
            </a:r>
            <a:endParaRPr lang="zh-CN" altLang="en-US" sz="140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</p:txBody>
      </p:sp>
      <p:pic>
        <p:nvPicPr>
          <p:cNvPr id="3" name="图片 2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3428365" y="716280"/>
            <a:ext cx="4098925" cy="371157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矩形 29" descr="e7d195523061f1c09e9d68d7cf438b91ef959ecb14fc25d26BBA7F7DBC18E55DFF4014AF651F0BF2569D4B6C1DA7F1A4683A481403BD872FC687266AD13265C1DE7C373772FD8728ABDD69ADD03BFF5BE2862BC891DBB79E898246E26A37A7D7E7C9DC44FE43D1F30388553B00347CD837D51A8797480C6AF68527F3A808E66C70F7F7545EF53EA9DBB2923F8DF110717A250568B4EE1FE8"/>
          <p:cNvSpPr/>
          <p:nvPr/>
        </p:nvSpPr>
        <p:spPr>
          <a:xfrm>
            <a:off x="395288" y="861400"/>
            <a:ext cx="2424223" cy="3643242"/>
          </a:xfrm>
          <a:prstGeom prst="rect">
            <a:avLst/>
          </a:prstGeom>
          <a:solidFill>
            <a:schemeClr val="accent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36" name="文本框 35" descr="e7d195523061f1c09e9d68d7cf438b91ef959ecb14fc25d26BBA7F7DBC18E55DFF4014AF651F0BF2569D4B6C1DA7F1A4683A481403BD872FC687266AD13265C1DE7C373772FD8728ABDD69ADD03BFF5BE2862BC891DBB79EF84BF418A889B226CF9C0CB1BFFED779B0ECBE1C944F05400A013ADFFA7A2B3CCAAF7701251FF12675319688C370005A869A8358FC9497EA"/>
          <p:cNvSpPr txBox="1"/>
          <p:nvPr/>
        </p:nvSpPr>
        <p:spPr>
          <a:xfrm>
            <a:off x="3811191" y="1999602"/>
            <a:ext cx="84807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>
                <a:solidFill>
                  <a:schemeClr val="bg1"/>
                </a:solidFill>
                <a:cs typeface="+mn-ea"/>
                <a:sym typeface="+mn-lt"/>
              </a:rPr>
              <a:t>80</a:t>
            </a:r>
            <a:r>
              <a:rPr lang="en-US" altLang="zh-CN">
                <a:solidFill>
                  <a:schemeClr val="bg1"/>
                </a:solidFill>
                <a:cs typeface="+mn-ea"/>
                <a:sym typeface="+mn-lt"/>
              </a:rPr>
              <a:t>%</a:t>
            </a:r>
            <a:endParaRPr lang="en-US" altLang="zh-CN" sz="320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51" name="矩形 50" descr="e7d195523061f1c09e9d68d7cf438b91ef959ecb14fc25d26BBA7F7DBC18E55DFF4014AF651F0BF2569D4B6C1DA7F1A4683A481403BD872FC687266AD13265C1DE7C373772FD8728ABDD69ADD03BFF5BE2862BC891DBB79EC884C45A5F465464F4471A44E2E9B6024498CDCB4F20168DAB66C7FAB51F4DF2191988BC51E8947C5543912A7B2AB33F8B6FFDD33C59E19B"/>
          <p:cNvSpPr/>
          <p:nvPr/>
        </p:nvSpPr>
        <p:spPr>
          <a:xfrm>
            <a:off x="3501756" y="3351289"/>
            <a:ext cx="1440979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1400">
                <a:solidFill>
                  <a:schemeClr val="bg1"/>
                </a:solidFill>
                <a:cs typeface="+mn-ea"/>
                <a:sym typeface="+mn-lt"/>
              </a:rPr>
              <a:t>市场数据分析</a:t>
            </a:r>
            <a:endParaRPr lang="zh-CN" altLang="en-US" sz="140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52" name="矩形 51" descr="e7d195523061f1c09e9d68d7cf438b91ef959ecb14fc25d26BBA7F7DBC18E55DFF4014AF651F0BF2569D4B6C1DA7F1A4683A481403BD872FC687266AD13265C1DE7C373772FD8728ABDD69ADD03BFF5BE2862BC891DBB79E48D68EAF9BC0B135F08CB3AA261467E47643FBA29D38A9757F7FFD5B7023D39A21F358D3BB12D2D6D548E32EE07CB42717034D7FAE5F42C8"/>
          <p:cNvSpPr/>
          <p:nvPr/>
        </p:nvSpPr>
        <p:spPr>
          <a:xfrm>
            <a:off x="3383213" y="3659066"/>
            <a:ext cx="1678064" cy="13042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050">
                <a:solidFill>
                  <a:schemeClr val="bg1"/>
                </a:solidFill>
                <a:cs typeface="+mn-ea"/>
                <a:sym typeface="+mn-lt"/>
              </a:rPr>
              <a:t>Lorem ipsum dolor sit amet, consectetuer adipiscing elit. Aenean commodo ligula eget dolor. </a:t>
            </a:r>
            <a:endParaRPr lang="en-US" altLang="zh-CN" sz="105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50875" y="1682750"/>
            <a:ext cx="1913890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endParaRPr lang="en-US" altLang="zh-CN" sz="140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40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内部代码规范</a:t>
            </a:r>
            <a:endParaRPr lang="zh-CN" altLang="en-US" sz="140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766060" y="414655"/>
            <a:ext cx="6157595" cy="40309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solidFill>
                  <a:schemeClr val="bg1">
                    <a:lumMod val="50000"/>
                  </a:schemeClr>
                </a:solidFill>
              </a:rPr>
              <a:t>1.</a:t>
            </a:r>
            <a:r>
              <a:rPr lang="zh-CN" altLang="en-US" sz="1600">
                <a:solidFill>
                  <a:schemeClr val="bg1">
                    <a:lumMod val="50000"/>
                  </a:schemeClr>
                </a:solidFill>
              </a:rPr>
              <a:t>方法名、参数名、变量名统一使用驼峰命名法</a:t>
            </a:r>
            <a:endParaRPr lang="zh-CN" altLang="en-US" sz="1600">
              <a:solidFill>
                <a:schemeClr val="bg1">
                  <a:lumMod val="50000"/>
                </a:schemeClr>
              </a:solidFill>
            </a:endParaRPr>
          </a:p>
          <a:p>
            <a:endParaRPr lang="zh-CN" altLang="en-US" sz="1600">
              <a:solidFill>
                <a:schemeClr val="bg1">
                  <a:lumMod val="50000"/>
                </a:schemeClr>
              </a:solidFill>
            </a:endParaRPr>
          </a:p>
          <a:p>
            <a:r>
              <a:rPr lang="en-US" altLang="zh-CN" sz="1600">
                <a:solidFill>
                  <a:schemeClr val="bg1">
                    <a:lumMod val="50000"/>
                  </a:schemeClr>
                </a:solidFill>
              </a:rPr>
              <a:t>2.</a:t>
            </a:r>
            <a:r>
              <a:rPr lang="zh-CN" altLang="en-US" sz="1600">
                <a:solidFill>
                  <a:schemeClr val="bg1">
                    <a:lumMod val="50000"/>
                  </a:schemeClr>
                </a:solidFill>
              </a:rPr>
              <a:t>代码命名不能以下划线或者特殊符号开头或者结尾</a:t>
            </a:r>
            <a:endParaRPr lang="zh-CN" altLang="en-US" sz="1600">
              <a:solidFill>
                <a:schemeClr val="bg1">
                  <a:lumMod val="50000"/>
                </a:schemeClr>
              </a:solidFill>
            </a:endParaRPr>
          </a:p>
          <a:p>
            <a:endParaRPr lang="zh-CN" altLang="en-US" sz="1600">
              <a:solidFill>
                <a:schemeClr val="bg1">
                  <a:lumMod val="50000"/>
                </a:schemeClr>
              </a:solidFill>
            </a:endParaRPr>
          </a:p>
          <a:p>
            <a:r>
              <a:rPr lang="en-US" altLang="zh-CN" sz="1600">
                <a:solidFill>
                  <a:schemeClr val="bg1">
                    <a:lumMod val="50000"/>
                  </a:schemeClr>
                </a:solidFill>
              </a:rPr>
              <a:t>3.</a:t>
            </a:r>
            <a:r>
              <a:rPr lang="zh-CN" altLang="en-US" sz="1600">
                <a:solidFill>
                  <a:schemeClr val="bg1">
                    <a:lumMod val="50000"/>
                  </a:schemeClr>
                </a:solidFill>
              </a:rPr>
              <a:t>不论是类名还是方法名，都需要让成员能够从名字能看出</a:t>
            </a:r>
            <a:endParaRPr lang="zh-CN" altLang="en-US" sz="1600">
              <a:solidFill>
                <a:schemeClr val="bg1">
                  <a:lumMod val="50000"/>
                </a:schemeClr>
              </a:solidFill>
            </a:endParaRPr>
          </a:p>
          <a:p>
            <a:r>
              <a:rPr lang="zh-CN" altLang="en-US" sz="1600">
                <a:solidFill>
                  <a:schemeClr val="bg1">
                    <a:lumMod val="50000"/>
                  </a:schemeClr>
                </a:solidFill>
              </a:rPr>
              <a:t>是做什么的，而不至于看见名字而完全不知道其作用</a:t>
            </a:r>
            <a:endParaRPr lang="zh-CN" altLang="en-US" sz="1600">
              <a:solidFill>
                <a:schemeClr val="bg1">
                  <a:lumMod val="50000"/>
                </a:schemeClr>
              </a:solidFill>
            </a:endParaRPr>
          </a:p>
          <a:p>
            <a:endParaRPr lang="zh-CN" altLang="en-US" sz="1600">
              <a:solidFill>
                <a:schemeClr val="bg1">
                  <a:lumMod val="50000"/>
                </a:schemeClr>
              </a:solidFill>
            </a:endParaRPr>
          </a:p>
          <a:p>
            <a:r>
              <a:rPr lang="en-US" altLang="zh-CN" sz="1600">
                <a:solidFill>
                  <a:schemeClr val="bg1">
                    <a:lumMod val="50000"/>
                  </a:schemeClr>
                </a:solidFill>
              </a:rPr>
              <a:t>4.</a:t>
            </a:r>
            <a:r>
              <a:rPr lang="zh-CN" altLang="en-US" sz="1600">
                <a:solidFill>
                  <a:schemeClr val="bg1">
                    <a:lumMod val="50000"/>
                  </a:schemeClr>
                </a:solidFill>
              </a:rPr>
              <a:t>面向不同业务的方法应该放在对应的业务类中，不能随意在类中写方法。</a:t>
            </a:r>
            <a:endParaRPr lang="zh-CN" altLang="en-US" sz="1600">
              <a:solidFill>
                <a:schemeClr val="bg1">
                  <a:lumMod val="50000"/>
                </a:schemeClr>
              </a:solidFill>
            </a:endParaRPr>
          </a:p>
          <a:p>
            <a:endParaRPr lang="zh-CN" altLang="en-US" sz="1600">
              <a:solidFill>
                <a:schemeClr val="bg1">
                  <a:lumMod val="50000"/>
                </a:schemeClr>
              </a:solidFill>
            </a:endParaRPr>
          </a:p>
          <a:p>
            <a:r>
              <a:rPr lang="en-US" altLang="zh-CN" sz="1600">
                <a:solidFill>
                  <a:schemeClr val="bg1">
                    <a:lumMod val="50000"/>
                  </a:schemeClr>
                </a:solidFill>
              </a:rPr>
              <a:t>5.Dao</a:t>
            </a:r>
            <a:r>
              <a:rPr lang="zh-CN" altLang="en-US" sz="1600">
                <a:solidFill>
                  <a:schemeClr val="bg1">
                    <a:lumMod val="50000"/>
                  </a:schemeClr>
                </a:solidFill>
              </a:rPr>
              <a:t>层不应出现业务逻辑</a:t>
            </a:r>
            <a:endParaRPr lang="zh-CN" altLang="en-US" sz="1600">
              <a:solidFill>
                <a:schemeClr val="bg1">
                  <a:lumMod val="50000"/>
                </a:schemeClr>
              </a:solidFill>
            </a:endParaRPr>
          </a:p>
          <a:p>
            <a:endParaRPr lang="zh-CN" altLang="en-US" sz="1600">
              <a:solidFill>
                <a:schemeClr val="bg1">
                  <a:lumMod val="50000"/>
                </a:schemeClr>
              </a:solidFill>
            </a:endParaRPr>
          </a:p>
          <a:p>
            <a:r>
              <a:rPr lang="en-US" altLang="zh-CN" sz="1600">
                <a:solidFill>
                  <a:schemeClr val="bg1">
                    <a:lumMod val="50000"/>
                  </a:schemeClr>
                </a:solidFill>
              </a:rPr>
              <a:t>6.Dao</a:t>
            </a:r>
            <a:r>
              <a:rPr lang="zh-CN" altLang="en-US" sz="1600">
                <a:solidFill>
                  <a:schemeClr val="bg1">
                    <a:lumMod val="50000"/>
                  </a:schemeClr>
                </a:solidFill>
              </a:rPr>
              <a:t>层的方法在调用完毕后应主动关闭连接</a:t>
            </a:r>
            <a:endParaRPr lang="zh-CN" altLang="en-US" sz="1600">
              <a:solidFill>
                <a:schemeClr val="bg1">
                  <a:lumMod val="50000"/>
                </a:schemeClr>
              </a:solidFill>
            </a:endParaRPr>
          </a:p>
          <a:p>
            <a:endParaRPr lang="zh-CN" altLang="en-US" sz="1600">
              <a:solidFill>
                <a:schemeClr val="bg1">
                  <a:lumMod val="50000"/>
                </a:schemeClr>
              </a:solidFill>
            </a:endParaRPr>
          </a:p>
          <a:p>
            <a:r>
              <a:rPr lang="en-US" altLang="zh-CN" sz="1600">
                <a:solidFill>
                  <a:schemeClr val="bg1">
                    <a:lumMod val="50000"/>
                  </a:schemeClr>
                </a:solidFill>
              </a:rPr>
              <a:t>7.Bean</a:t>
            </a:r>
            <a:r>
              <a:rPr lang="zh-CN" altLang="en-US" sz="1600">
                <a:solidFill>
                  <a:schemeClr val="bg1">
                    <a:lumMod val="50000"/>
                  </a:schemeClr>
                </a:solidFill>
              </a:rPr>
              <a:t>中的类名应与表名保持一致</a:t>
            </a:r>
            <a:endParaRPr lang="zh-CN" altLang="en-US" sz="1600">
              <a:solidFill>
                <a:schemeClr val="bg1">
                  <a:lumMod val="50000"/>
                </a:schemeClr>
              </a:solidFill>
            </a:endParaRPr>
          </a:p>
          <a:p>
            <a:endParaRPr lang="zh-CN" altLang="en-US" sz="1600">
              <a:solidFill>
                <a:schemeClr val="bg1">
                  <a:lumMod val="50000"/>
                </a:scheme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矩形 29" descr="e7d195523061f1c09e9d68d7cf438b91ef959ecb14fc25d26BBA7F7DBC18E55DFF4014AF651F0BF2569D4B6C1DA7F1A4683A481403BD872FC687266AD13265C1DE7C373772FD8728ABDD69ADD03BFF5BE2862BC891DBB79E898246E26A37A7D7E7C9DC44FE43D1F30388553B00347CD837D51A8797480C6AF68527F3A808E66C70F7F7545EF53EA9DBB2923F8DF110717A250568B4EE1FE8"/>
          <p:cNvSpPr/>
          <p:nvPr/>
        </p:nvSpPr>
        <p:spPr>
          <a:xfrm>
            <a:off x="395288" y="861400"/>
            <a:ext cx="2424223" cy="3643242"/>
          </a:xfrm>
          <a:prstGeom prst="rect">
            <a:avLst/>
          </a:prstGeom>
          <a:solidFill>
            <a:schemeClr val="accent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36" name="文本框 35" descr="e7d195523061f1c09e9d68d7cf438b91ef959ecb14fc25d26BBA7F7DBC18E55DFF4014AF651F0BF2569D4B6C1DA7F1A4683A481403BD872FC687266AD13265C1DE7C373772FD8728ABDD69ADD03BFF5BE2862BC891DBB79EF84BF418A889B226CF9C0CB1BFFED779B0ECBE1C944F05400A013ADFFA7A2B3CCAAF7701251FF12675319688C370005A869A8358FC9497EA"/>
          <p:cNvSpPr txBox="1"/>
          <p:nvPr/>
        </p:nvSpPr>
        <p:spPr>
          <a:xfrm>
            <a:off x="3811191" y="1999602"/>
            <a:ext cx="84807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>
                <a:solidFill>
                  <a:schemeClr val="bg1"/>
                </a:solidFill>
                <a:cs typeface="+mn-ea"/>
                <a:sym typeface="+mn-lt"/>
              </a:rPr>
              <a:t>80</a:t>
            </a:r>
            <a:r>
              <a:rPr lang="en-US" altLang="zh-CN">
                <a:solidFill>
                  <a:schemeClr val="bg1"/>
                </a:solidFill>
                <a:cs typeface="+mn-ea"/>
                <a:sym typeface="+mn-lt"/>
              </a:rPr>
              <a:t>%</a:t>
            </a:r>
            <a:endParaRPr lang="en-US" altLang="zh-CN" sz="320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51" name="矩形 50" descr="e7d195523061f1c09e9d68d7cf438b91ef959ecb14fc25d26BBA7F7DBC18E55DFF4014AF651F0BF2569D4B6C1DA7F1A4683A481403BD872FC687266AD13265C1DE7C373772FD8728ABDD69ADD03BFF5BE2862BC891DBB79EC884C45A5F465464F4471A44E2E9B6024498CDCB4F20168DAB66C7FAB51F4DF2191988BC51E8947C5543912A7B2AB33F8B6FFDD33C59E19B"/>
          <p:cNvSpPr/>
          <p:nvPr/>
        </p:nvSpPr>
        <p:spPr>
          <a:xfrm>
            <a:off x="3501756" y="3351289"/>
            <a:ext cx="1440979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1400">
                <a:solidFill>
                  <a:schemeClr val="bg1"/>
                </a:solidFill>
                <a:cs typeface="+mn-ea"/>
                <a:sym typeface="+mn-lt"/>
              </a:rPr>
              <a:t>市场数据分析</a:t>
            </a:r>
            <a:endParaRPr lang="zh-CN" altLang="en-US" sz="140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52" name="矩形 51" descr="e7d195523061f1c09e9d68d7cf438b91ef959ecb14fc25d26BBA7F7DBC18E55DFF4014AF651F0BF2569D4B6C1DA7F1A4683A481403BD872FC687266AD13265C1DE7C373772FD8728ABDD69ADD03BFF5BE2862BC891DBB79E48D68EAF9BC0B135F08CB3AA261467E47643FBA29D38A9757F7FFD5B7023D39A21F358D3BB12D2D6D548E32EE07CB42717034D7FAE5F42C8"/>
          <p:cNvSpPr/>
          <p:nvPr/>
        </p:nvSpPr>
        <p:spPr>
          <a:xfrm>
            <a:off x="3383213" y="3659066"/>
            <a:ext cx="1678064" cy="13042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050">
                <a:solidFill>
                  <a:schemeClr val="bg1"/>
                </a:solidFill>
                <a:cs typeface="+mn-ea"/>
                <a:sym typeface="+mn-lt"/>
              </a:rPr>
              <a:t>Lorem ipsum dolor sit amet, consectetuer adipiscing elit. Aenean commodo ligula eget dolor. </a:t>
            </a:r>
            <a:endParaRPr lang="en-US" altLang="zh-CN" sz="105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50875" y="1682750"/>
            <a:ext cx="1913890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endParaRPr lang="en-US" altLang="zh-CN" sz="140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40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内部代码规范</a:t>
            </a:r>
            <a:endParaRPr lang="zh-CN" altLang="en-US" sz="140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2673985" y="524510"/>
            <a:ext cx="6040755" cy="40309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1600">
                <a:solidFill>
                  <a:schemeClr val="bg1">
                    <a:lumMod val="50000"/>
                  </a:schemeClr>
                </a:solidFill>
              </a:rPr>
              <a:t>8.</a:t>
            </a:r>
            <a:r>
              <a:rPr lang="zh-CN" altLang="en-US" sz="1600">
                <a:solidFill>
                  <a:schemeClr val="bg1">
                    <a:lumMod val="50000"/>
                  </a:schemeClr>
                </a:solidFill>
              </a:rPr>
              <a:t>包名：全部使用小写，点分隔符之间有且仅有一个单词</a:t>
            </a:r>
            <a:endParaRPr lang="zh-CN" altLang="en-US" sz="1600">
              <a:solidFill>
                <a:schemeClr val="bg1">
                  <a:lumMod val="50000"/>
                </a:schemeClr>
              </a:solidFill>
            </a:endParaRPr>
          </a:p>
          <a:p>
            <a:endParaRPr lang="zh-CN" altLang="en-US" sz="1600">
              <a:solidFill>
                <a:schemeClr val="bg1">
                  <a:lumMod val="50000"/>
                </a:schemeClr>
              </a:solidFill>
            </a:endParaRPr>
          </a:p>
          <a:p>
            <a:r>
              <a:rPr lang="en-US" altLang="zh-CN" sz="1600">
                <a:solidFill>
                  <a:schemeClr val="bg1">
                    <a:lumMod val="50000"/>
                  </a:schemeClr>
                </a:solidFill>
              </a:rPr>
              <a:t>9.</a:t>
            </a:r>
            <a:r>
              <a:rPr lang="zh-CN" altLang="en-US" sz="1600">
                <a:solidFill>
                  <a:schemeClr val="bg1">
                    <a:lumMod val="50000"/>
                  </a:schemeClr>
                </a:solidFill>
              </a:rPr>
              <a:t>方法名获取单个对象使用get</a:t>
            </a:r>
            <a:endParaRPr lang="zh-CN" altLang="en-US" sz="1600">
              <a:solidFill>
                <a:schemeClr val="bg1">
                  <a:lumMod val="50000"/>
                </a:schemeClr>
              </a:solidFill>
            </a:endParaRPr>
          </a:p>
          <a:p>
            <a:endParaRPr lang="zh-CN" altLang="en-US" sz="1600">
              <a:solidFill>
                <a:schemeClr val="bg1">
                  <a:lumMod val="50000"/>
                </a:schemeClr>
              </a:solidFill>
            </a:endParaRPr>
          </a:p>
          <a:p>
            <a:r>
              <a:rPr lang="en-US" altLang="zh-CN" sz="1600">
                <a:solidFill>
                  <a:schemeClr val="bg1">
                    <a:lumMod val="50000"/>
                  </a:schemeClr>
                </a:solidFill>
              </a:rPr>
              <a:t>10.</a:t>
            </a:r>
            <a:r>
              <a:rPr lang="zh-CN" altLang="en-US" sz="1600">
                <a:solidFill>
                  <a:schemeClr val="bg1">
                    <a:lumMod val="50000"/>
                  </a:schemeClr>
                </a:solidFill>
              </a:rPr>
              <a:t>方法名</a:t>
            </a:r>
            <a:r>
              <a:rPr lang="en-US" altLang="zh-CN" sz="1600">
                <a:solidFill>
                  <a:schemeClr val="bg1">
                    <a:lumMod val="50000"/>
                  </a:schemeClr>
                </a:solidFill>
              </a:rPr>
              <a:t>插入使用insert</a:t>
            </a:r>
            <a:endParaRPr lang="en-US" altLang="zh-CN" sz="1600">
              <a:solidFill>
                <a:schemeClr val="bg1">
                  <a:lumMod val="50000"/>
                </a:schemeClr>
              </a:solidFill>
            </a:endParaRPr>
          </a:p>
          <a:p>
            <a:endParaRPr lang="en-US" altLang="zh-CN" sz="1600">
              <a:solidFill>
                <a:schemeClr val="bg1">
                  <a:lumMod val="50000"/>
                </a:schemeClr>
              </a:solidFill>
            </a:endParaRPr>
          </a:p>
          <a:p>
            <a:r>
              <a:rPr lang="en-US" altLang="zh-CN" sz="1600">
                <a:solidFill>
                  <a:schemeClr val="bg1">
                    <a:lumMod val="50000"/>
                  </a:schemeClr>
                </a:solidFill>
              </a:rPr>
              <a:t>11.</a:t>
            </a:r>
            <a:r>
              <a:rPr lang="zh-CN" altLang="en-US" sz="1600">
                <a:solidFill>
                  <a:schemeClr val="bg1">
                    <a:lumMod val="50000"/>
                  </a:schemeClr>
                </a:solidFill>
              </a:rPr>
              <a:t>方法名</a:t>
            </a:r>
            <a:r>
              <a:rPr lang="en-US" altLang="zh-CN" sz="1600">
                <a:solidFill>
                  <a:schemeClr val="bg1">
                    <a:lumMod val="50000"/>
                  </a:schemeClr>
                </a:solidFill>
              </a:rPr>
              <a:t>删除使用delete</a:t>
            </a:r>
            <a:endParaRPr lang="en-US" altLang="zh-CN" sz="1600">
              <a:solidFill>
                <a:schemeClr val="bg1">
                  <a:lumMod val="50000"/>
                </a:schemeClr>
              </a:solidFill>
            </a:endParaRPr>
          </a:p>
          <a:p>
            <a:endParaRPr lang="en-US" altLang="zh-CN" sz="1600">
              <a:solidFill>
                <a:schemeClr val="bg1">
                  <a:lumMod val="50000"/>
                </a:schemeClr>
              </a:solidFill>
            </a:endParaRPr>
          </a:p>
          <a:p>
            <a:r>
              <a:rPr lang="en-US" altLang="zh-CN" sz="1600">
                <a:solidFill>
                  <a:schemeClr val="bg1">
                    <a:lumMod val="50000"/>
                  </a:schemeClr>
                </a:solidFill>
              </a:rPr>
              <a:t>12.</a:t>
            </a:r>
            <a:r>
              <a:rPr lang="zh-CN" altLang="en-US" sz="1600">
                <a:solidFill>
                  <a:schemeClr val="bg1">
                    <a:lumMod val="50000"/>
                  </a:schemeClr>
                </a:solidFill>
              </a:rPr>
              <a:t>方法名修改使用update</a:t>
            </a:r>
            <a:endParaRPr lang="zh-CN" altLang="en-US" sz="1600">
              <a:solidFill>
                <a:schemeClr val="bg1">
                  <a:lumMod val="50000"/>
                </a:schemeClr>
              </a:solidFill>
            </a:endParaRPr>
          </a:p>
          <a:p>
            <a:endParaRPr lang="zh-CN" altLang="en-US" sz="1600">
              <a:solidFill>
                <a:schemeClr val="bg1">
                  <a:lumMod val="50000"/>
                </a:schemeClr>
              </a:solidFill>
            </a:endParaRPr>
          </a:p>
          <a:p>
            <a:r>
              <a:rPr lang="en-US" altLang="zh-CN" sz="1600">
                <a:solidFill>
                  <a:schemeClr val="bg1">
                    <a:lumMod val="50000"/>
                  </a:schemeClr>
                </a:solidFill>
              </a:rPr>
              <a:t>13.</a:t>
            </a:r>
            <a:r>
              <a:rPr lang="zh-CN" altLang="en-US" sz="1600">
                <a:solidFill>
                  <a:schemeClr val="bg1">
                    <a:lumMod val="50000"/>
                  </a:schemeClr>
                </a:solidFill>
              </a:rPr>
              <a:t>一行代码不能太长，控制在</a:t>
            </a:r>
            <a:r>
              <a:rPr lang="en-US" altLang="zh-CN" sz="1600">
                <a:solidFill>
                  <a:schemeClr val="bg1">
                    <a:lumMod val="50000"/>
                  </a:schemeClr>
                </a:solidFill>
              </a:rPr>
              <a:t>30</a:t>
            </a:r>
            <a:r>
              <a:rPr lang="zh-CN" altLang="en-US" sz="1600">
                <a:solidFill>
                  <a:schemeClr val="bg1">
                    <a:lumMod val="50000"/>
                  </a:schemeClr>
                </a:solidFill>
              </a:rPr>
              <a:t>个单词以内</a:t>
            </a:r>
            <a:endParaRPr lang="zh-CN" altLang="en-US" sz="1600">
              <a:solidFill>
                <a:schemeClr val="bg1">
                  <a:lumMod val="50000"/>
                </a:schemeClr>
              </a:solidFill>
            </a:endParaRPr>
          </a:p>
          <a:p>
            <a:endParaRPr lang="zh-CN" altLang="en-US" sz="1600">
              <a:solidFill>
                <a:schemeClr val="bg1">
                  <a:lumMod val="50000"/>
                </a:schemeClr>
              </a:solidFill>
            </a:endParaRPr>
          </a:p>
          <a:p>
            <a:r>
              <a:rPr lang="en-US" altLang="zh-CN" sz="1600">
                <a:solidFill>
                  <a:schemeClr val="bg1">
                    <a:lumMod val="50000"/>
                  </a:schemeClr>
                </a:solidFill>
              </a:rPr>
              <a:t>14.</a:t>
            </a:r>
            <a:r>
              <a:rPr lang="zh-CN" altLang="en-US" sz="1600">
                <a:solidFill>
                  <a:schemeClr val="bg1">
                    <a:lumMod val="50000"/>
                  </a:schemeClr>
                </a:solidFill>
              </a:rPr>
              <a:t>一个方法如果太长，需要在有明显区别的逻辑之间加上适当的空格</a:t>
            </a:r>
            <a:endParaRPr lang="zh-CN" altLang="en-US" sz="1600">
              <a:solidFill>
                <a:schemeClr val="bg1">
                  <a:lumMod val="50000"/>
                </a:schemeClr>
              </a:solidFill>
            </a:endParaRPr>
          </a:p>
          <a:p>
            <a:endParaRPr lang="zh-CN" altLang="en-US" sz="1600">
              <a:solidFill>
                <a:schemeClr val="bg1">
                  <a:lumMod val="50000"/>
                </a:schemeClr>
              </a:solidFill>
            </a:endParaRPr>
          </a:p>
          <a:p>
            <a:r>
              <a:rPr lang="en-US" altLang="zh-CN" sz="1600">
                <a:solidFill>
                  <a:schemeClr val="bg1">
                    <a:lumMod val="50000"/>
                  </a:schemeClr>
                </a:solidFill>
              </a:rPr>
              <a:t>15.</a:t>
            </a:r>
            <a:r>
              <a:rPr lang="zh-CN" altLang="en-US" sz="1600">
                <a:solidFill>
                  <a:schemeClr val="bg1">
                    <a:lumMod val="50000"/>
                  </a:schemeClr>
                </a:solidFill>
              </a:rPr>
              <a:t>每个方法前应加上适当的注释说明作用</a:t>
            </a:r>
            <a:endParaRPr lang="zh-CN" altLang="en-US" sz="1600">
              <a:solidFill>
                <a:schemeClr val="bg1">
                  <a:lumMod val="50000"/>
                </a:scheme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椭圆 4"/>
          <p:cNvSpPr/>
          <p:nvPr/>
        </p:nvSpPr>
        <p:spPr>
          <a:xfrm>
            <a:off x="-807511" y="563665"/>
            <a:ext cx="477014" cy="477014"/>
          </a:xfrm>
          <a:prstGeom prst="ellipse">
            <a:avLst/>
          </a:prstGeom>
          <a:solidFill>
            <a:srgbClr val="F7E9E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6" name="椭圆 15"/>
          <p:cNvSpPr/>
          <p:nvPr/>
        </p:nvSpPr>
        <p:spPr>
          <a:xfrm>
            <a:off x="-807511" y="1455830"/>
            <a:ext cx="477014" cy="477014"/>
          </a:xfrm>
          <a:prstGeom prst="ellipse">
            <a:avLst/>
          </a:prstGeom>
          <a:solidFill>
            <a:srgbClr val="F4D1C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7" name="椭圆 16"/>
          <p:cNvSpPr/>
          <p:nvPr/>
        </p:nvSpPr>
        <p:spPr>
          <a:xfrm>
            <a:off x="-807511" y="2347995"/>
            <a:ext cx="477014" cy="477014"/>
          </a:xfrm>
          <a:prstGeom prst="ellipse">
            <a:avLst/>
          </a:prstGeom>
          <a:solidFill>
            <a:srgbClr val="7787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8" name="椭圆 17"/>
          <p:cNvSpPr/>
          <p:nvPr/>
        </p:nvSpPr>
        <p:spPr>
          <a:xfrm>
            <a:off x="-807511" y="3240159"/>
            <a:ext cx="477014" cy="477014"/>
          </a:xfrm>
          <a:prstGeom prst="ellipse">
            <a:avLst/>
          </a:prstGeom>
          <a:solidFill>
            <a:srgbClr val="A0B0B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9" name="椭圆 18"/>
          <p:cNvSpPr/>
          <p:nvPr/>
        </p:nvSpPr>
        <p:spPr>
          <a:xfrm>
            <a:off x="-807511" y="4132323"/>
            <a:ext cx="477014" cy="477014"/>
          </a:xfrm>
          <a:prstGeom prst="ellipse">
            <a:avLst/>
          </a:prstGeom>
          <a:solidFill>
            <a:srgbClr val="C9D2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1" name="椭圆 20"/>
          <p:cNvSpPr/>
          <p:nvPr/>
        </p:nvSpPr>
        <p:spPr>
          <a:xfrm>
            <a:off x="7836421" y="-394388"/>
            <a:ext cx="2197265" cy="2197265"/>
          </a:xfrm>
          <a:prstGeom prst="ellipse">
            <a:avLst/>
          </a:prstGeom>
          <a:solidFill>
            <a:srgbClr val="7787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5" name="椭圆 24"/>
          <p:cNvSpPr/>
          <p:nvPr/>
        </p:nvSpPr>
        <p:spPr>
          <a:xfrm>
            <a:off x="6292646" y="3615378"/>
            <a:ext cx="2038210" cy="203821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6" name="椭圆 25"/>
          <p:cNvSpPr/>
          <p:nvPr/>
        </p:nvSpPr>
        <p:spPr>
          <a:xfrm>
            <a:off x="8083405" y="2850102"/>
            <a:ext cx="673979" cy="673979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7" name="椭圆 26"/>
          <p:cNvSpPr/>
          <p:nvPr/>
        </p:nvSpPr>
        <p:spPr>
          <a:xfrm>
            <a:off x="393996" y="-243597"/>
            <a:ext cx="916465" cy="916465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8" name="椭圆 27"/>
          <p:cNvSpPr/>
          <p:nvPr/>
        </p:nvSpPr>
        <p:spPr>
          <a:xfrm>
            <a:off x="-190611" y="4331467"/>
            <a:ext cx="1169214" cy="1169214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0" name="椭圆 29"/>
          <p:cNvSpPr/>
          <p:nvPr/>
        </p:nvSpPr>
        <p:spPr>
          <a:xfrm>
            <a:off x="4865658" y="3809246"/>
            <a:ext cx="769442" cy="769442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7" name="矩形 36"/>
          <p:cNvSpPr/>
          <p:nvPr/>
        </p:nvSpPr>
        <p:spPr>
          <a:xfrm>
            <a:off x="215153" y="274405"/>
            <a:ext cx="8713694" cy="4594690"/>
          </a:xfrm>
          <a:prstGeom prst="rect">
            <a:avLst/>
          </a:prstGeom>
          <a:noFill/>
          <a:ln w="285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6" name="矩形 35"/>
          <p:cNvSpPr/>
          <p:nvPr/>
        </p:nvSpPr>
        <p:spPr>
          <a:xfrm rot="5400000">
            <a:off x="-848148" y="1598602"/>
            <a:ext cx="2172390" cy="338554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en-US" altLang="zh-CN" sz="1600" kern="0">
                <a:solidFill>
                  <a:prstClr val="black">
                    <a:lumMod val="65000"/>
                    <a:lumOff val="35000"/>
                  </a:prstClr>
                </a:solidFill>
                <a:cs typeface="+mn-ea"/>
                <a:sym typeface="+mn-lt"/>
              </a:rPr>
              <a:t>SUMMARY REPORT </a:t>
            </a:r>
            <a:endParaRPr lang="zh-CN" altLang="en-US">
              <a:cs typeface="+mn-ea"/>
              <a:sym typeface="+mn-lt"/>
            </a:endParaRPr>
          </a:p>
        </p:txBody>
      </p:sp>
      <p:sp>
        <p:nvSpPr>
          <p:cNvPr id="38" name="椭圆 37"/>
          <p:cNvSpPr/>
          <p:nvPr/>
        </p:nvSpPr>
        <p:spPr>
          <a:xfrm>
            <a:off x="6355614" y="993263"/>
            <a:ext cx="460508" cy="46050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2" name="PA_矩形 7"/>
          <p:cNvSpPr/>
          <p:nvPr>
            <p:custDataLst>
              <p:tags r:id="rId1"/>
            </p:custDataLst>
          </p:nvPr>
        </p:nvSpPr>
        <p:spPr>
          <a:xfrm>
            <a:off x="4485859" y="2085674"/>
            <a:ext cx="2418080" cy="76835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l" defTabSz="685800">
              <a:defRPr/>
            </a:pPr>
            <a:r>
              <a:rPr lang="zh-CN" altLang="en-US" sz="4400" b="1" kern="0">
                <a:solidFill>
                  <a:schemeClr val="accent3"/>
                </a:solidFill>
                <a:cs typeface="+mn-ea"/>
                <a:sym typeface="+mn-lt"/>
              </a:rPr>
              <a:t>代码走查</a:t>
            </a:r>
            <a:endParaRPr lang="zh-CN" altLang="en-US" sz="4400" b="1" kern="0">
              <a:solidFill>
                <a:schemeClr val="accent3"/>
              </a:solidFill>
              <a:cs typeface="+mn-ea"/>
              <a:sym typeface="+mn-lt"/>
            </a:endParaRPr>
          </a:p>
        </p:txBody>
      </p:sp>
      <p:sp>
        <p:nvSpPr>
          <p:cNvPr id="24" name="矩形: 圆角 23"/>
          <p:cNvSpPr/>
          <p:nvPr/>
        </p:nvSpPr>
        <p:spPr>
          <a:xfrm>
            <a:off x="2045335" y="2172335"/>
            <a:ext cx="1949450" cy="59563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矩形 29" descr="e7d195523061f1c09e9d68d7cf438b91ef959ecb14fc25d26BBA7F7DBC18E55DFF4014AF651F0BF2569D4B6C1DA7F1A4683A481403BD872FC687266AD13265C1DE7C373772FD8728ABDD69ADD03BFF5BE2862BC891DBB79E898246E26A37A7D7E7C9DC44FE43D1F30388553B00347CD837D51A8797480C6AF68527F3A808E66C70F7F7545EF53EA9DBB2923F8DF110717A250568B4EE1FE8"/>
          <p:cNvSpPr/>
          <p:nvPr/>
        </p:nvSpPr>
        <p:spPr>
          <a:xfrm>
            <a:off x="395288" y="861400"/>
            <a:ext cx="2424223" cy="3643242"/>
          </a:xfrm>
          <a:prstGeom prst="rect">
            <a:avLst/>
          </a:prstGeom>
          <a:solidFill>
            <a:schemeClr val="accent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36" name="文本框 35" descr="e7d195523061f1c09e9d68d7cf438b91ef959ecb14fc25d26BBA7F7DBC18E55DFF4014AF651F0BF2569D4B6C1DA7F1A4683A481403BD872FC687266AD13265C1DE7C373772FD8728ABDD69ADD03BFF5BE2862BC891DBB79EF84BF418A889B226CF9C0CB1BFFED779B0ECBE1C944F05400A013ADFFA7A2B3CCAAF7701251FF12675319688C370005A869A8358FC9497EA"/>
          <p:cNvSpPr txBox="1"/>
          <p:nvPr/>
        </p:nvSpPr>
        <p:spPr>
          <a:xfrm>
            <a:off x="3811191" y="1999602"/>
            <a:ext cx="84807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>
                <a:solidFill>
                  <a:schemeClr val="bg1"/>
                </a:solidFill>
                <a:cs typeface="+mn-ea"/>
                <a:sym typeface="+mn-lt"/>
              </a:rPr>
              <a:t>80</a:t>
            </a:r>
            <a:r>
              <a:rPr lang="en-US" altLang="zh-CN">
                <a:solidFill>
                  <a:schemeClr val="bg1"/>
                </a:solidFill>
                <a:cs typeface="+mn-ea"/>
                <a:sym typeface="+mn-lt"/>
              </a:rPr>
              <a:t>%</a:t>
            </a:r>
            <a:endParaRPr lang="en-US" altLang="zh-CN" sz="320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51" name="矩形 50" descr="e7d195523061f1c09e9d68d7cf438b91ef959ecb14fc25d26BBA7F7DBC18E55DFF4014AF651F0BF2569D4B6C1DA7F1A4683A481403BD872FC687266AD13265C1DE7C373772FD8728ABDD69ADD03BFF5BE2862BC891DBB79EC884C45A5F465464F4471A44E2E9B6024498CDCB4F20168DAB66C7FAB51F4DF2191988BC51E8947C5543912A7B2AB33F8B6FFDD33C59E19B"/>
          <p:cNvSpPr/>
          <p:nvPr/>
        </p:nvSpPr>
        <p:spPr>
          <a:xfrm>
            <a:off x="3501756" y="3351289"/>
            <a:ext cx="1440979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1400">
                <a:solidFill>
                  <a:schemeClr val="bg1"/>
                </a:solidFill>
                <a:cs typeface="+mn-ea"/>
                <a:sym typeface="+mn-lt"/>
              </a:rPr>
              <a:t>市场数据分析</a:t>
            </a:r>
            <a:endParaRPr lang="zh-CN" altLang="en-US" sz="140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52" name="矩形 51" descr="e7d195523061f1c09e9d68d7cf438b91ef959ecb14fc25d26BBA7F7DBC18E55DFF4014AF651F0BF2569D4B6C1DA7F1A4683A481403BD872FC687266AD13265C1DE7C373772FD8728ABDD69ADD03BFF5BE2862BC891DBB79E48D68EAF9BC0B135F08CB3AA261467E47643FBA29D38A9757F7FFD5B7023D39A21F358D3BB12D2D6D548E32EE07CB42717034D7FAE5F42C8"/>
          <p:cNvSpPr/>
          <p:nvPr/>
        </p:nvSpPr>
        <p:spPr>
          <a:xfrm>
            <a:off x="3383213" y="3659066"/>
            <a:ext cx="1678064" cy="13042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050">
                <a:solidFill>
                  <a:schemeClr val="bg1"/>
                </a:solidFill>
                <a:cs typeface="+mn-ea"/>
                <a:sym typeface="+mn-lt"/>
              </a:rPr>
              <a:t>Lorem ipsum dolor sit amet, consectetuer adipiscing elit. Aenean commodo ligula eget dolor. </a:t>
            </a:r>
            <a:endParaRPr lang="en-US" altLang="zh-CN" sz="105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50875" y="1682750"/>
            <a:ext cx="1913890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endParaRPr lang="en-US" altLang="zh-CN" sz="140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40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代码走查</a:t>
            </a:r>
            <a:endParaRPr lang="zh-CN" altLang="en-US" sz="140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40205" y="461010"/>
            <a:ext cx="6705600" cy="393954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矩形 29" descr="e7d195523061f1c09e9d68d7cf438b91ef959ecb14fc25d26BBA7F7DBC18E55DFF4014AF651F0BF2569D4B6C1DA7F1A4683A481403BD872FC687266AD13265C1DE7C373772FD8728ABDD69ADD03BFF5BE2862BC891DBB79E898246E26A37A7D7E7C9DC44FE43D1F30388553B00347CD837D51A8797480C6AF68527F3A808E66C70F7F7545EF53EA9DBB2923F8DF110717A250568B4EE1FE8"/>
          <p:cNvSpPr/>
          <p:nvPr/>
        </p:nvSpPr>
        <p:spPr>
          <a:xfrm>
            <a:off x="395288" y="861400"/>
            <a:ext cx="2424223" cy="3643242"/>
          </a:xfrm>
          <a:prstGeom prst="rect">
            <a:avLst/>
          </a:prstGeom>
          <a:solidFill>
            <a:schemeClr val="accent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36" name="文本框 35" descr="e7d195523061f1c09e9d68d7cf438b91ef959ecb14fc25d26BBA7F7DBC18E55DFF4014AF651F0BF2569D4B6C1DA7F1A4683A481403BD872FC687266AD13265C1DE7C373772FD8728ABDD69ADD03BFF5BE2862BC891DBB79EF84BF418A889B226CF9C0CB1BFFED779B0ECBE1C944F05400A013ADFFA7A2B3CCAAF7701251FF12675319688C370005A869A8358FC9497EA"/>
          <p:cNvSpPr txBox="1"/>
          <p:nvPr/>
        </p:nvSpPr>
        <p:spPr>
          <a:xfrm>
            <a:off x="3811191" y="1999602"/>
            <a:ext cx="84807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>
                <a:solidFill>
                  <a:schemeClr val="bg1"/>
                </a:solidFill>
                <a:cs typeface="+mn-ea"/>
                <a:sym typeface="+mn-lt"/>
              </a:rPr>
              <a:t>80</a:t>
            </a:r>
            <a:r>
              <a:rPr lang="en-US" altLang="zh-CN">
                <a:solidFill>
                  <a:schemeClr val="bg1"/>
                </a:solidFill>
                <a:cs typeface="+mn-ea"/>
                <a:sym typeface="+mn-lt"/>
              </a:rPr>
              <a:t>%</a:t>
            </a:r>
            <a:endParaRPr lang="en-US" altLang="zh-CN" sz="320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51" name="矩形 50" descr="e7d195523061f1c09e9d68d7cf438b91ef959ecb14fc25d26BBA7F7DBC18E55DFF4014AF651F0BF2569D4B6C1DA7F1A4683A481403BD872FC687266AD13265C1DE7C373772FD8728ABDD69ADD03BFF5BE2862BC891DBB79EC884C45A5F465464F4471A44E2E9B6024498CDCB4F20168DAB66C7FAB51F4DF2191988BC51E8947C5543912A7B2AB33F8B6FFDD33C59E19B"/>
          <p:cNvSpPr/>
          <p:nvPr/>
        </p:nvSpPr>
        <p:spPr>
          <a:xfrm>
            <a:off x="3501756" y="3351289"/>
            <a:ext cx="1440979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1400">
                <a:solidFill>
                  <a:schemeClr val="bg1"/>
                </a:solidFill>
                <a:cs typeface="+mn-ea"/>
                <a:sym typeface="+mn-lt"/>
              </a:rPr>
              <a:t>市场数据分析</a:t>
            </a:r>
            <a:endParaRPr lang="zh-CN" altLang="en-US" sz="140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52" name="矩形 51" descr="e7d195523061f1c09e9d68d7cf438b91ef959ecb14fc25d26BBA7F7DBC18E55DFF4014AF651F0BF2569D4B6C1DA7F1A4683A481403BD872FC687266AD13265C1DE7C373772FD8728ABDD69ADD03BFF5BE2862BC891DBB79E48D68EAF9BC0B135F08CB3AA261467E47643FBA29D38A9757F7FFD5B7023D39A21F358D3BB12D2D6D548E32EE07CB42717034D7FAE5F42C8"/>
          <p:cNvSpPr/>
          <p:nvPr/>
        </p:nvSpPr>
        <p:spPr>
          <a:xfrm>
            <a:off x="3383213" y="3659066"/>
            <a:ext cx="1678064" cy="13042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050">
                <a:solidFill>
                  <a:schemeClr val="bg1"/>
                </a:solidFill>
                <a:cs typeface="+mn-ea"/>
                <a:sym typeface="+mn-lt"/>
              </a:rPr>
              <a:t>Lorem ipsum dolor sit amet, consectetuer adipiscing elit. Aenean commodo ligula eget dolor. </a:t>
            </a:r>
            <a:endParaRPr lang="en-US" altLang="zh-CN" sz="105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50875" y="1682750"/>
            <a:ext cx="1913890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endParaRPr lang="en-US" altLang="zh-CN" sz="140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40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代码走查</a:t>
            </a:r>
            <a:endParaRPr lang="zh-CN" altLang="en-US" sz="140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98625" y="624840"/>
            <a:ext cx="6911340" cy="36118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矩形 29" descr="e7d195523061f1c09e9d68d7cf438b91ef959ecb14fc25d26BBA7F7DBC18E55DFF4014AF651F0BF2569D4B6C1DA7F1A4683A481403BD872FC687266AD13265C1DE7C373772FD8728ABDD69ADD03BFF5BE2862BC891DBB79E898246E26A37A7D7E7C9DC44FE43D1F30388553B00347CD837D51A8797480C6AF68527F3A808E66C70F7F7545EF53EA9DBB2923F8DF110717A250568B4EE1FE8"/>
          <p:cNvSpPr/>
          <p:nvPr/>
        </p:nvSpPr>
        <p:spPr>
          <a:xfrm>
            <a:off x="395288" y="861400"/>
            <a:ext cx="2424223" cy="3643242"/>
          </a:xfrm>
          <a:prstGeom prst="rect">
            <a:avLst/>
          </a:prstGeom>
          <a:solidFill>
            <a:schemeClr val="accent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36" name="文本框 35" descr="e7d195523061f1c09e9d68d7cf438b91ef959ecb14fc25d26BBA7F7DBC18E55DFF4014AF651F0BF2569D4B6C1DA7F1A4683A481403BD872FC687266AD13265C1DE7C373772FD8728ABDD69ADD03BFF5BE2862BC891DBB79EF84BF418A889B226CF9C0CB1BFFED779B0ECBE1C944F05400A013ADFFA7A2B3CCAAF7701251FF12675319688C370005A869A8358FC9497EA"/>
          <p:cNvSpPr txBox="1"/>
          <p:nvPr/>
        </p:nvSpPr>
        <p:spPr>
          <a:xfrm>
            <a:off x="3811191" y="1999602"/>
            <a:ext cx="84807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>
                <a:solidFill>
                  <a:schemeClr val="bg1"/>
                </a:solidFill>
                <a:cs typeface="+mn-ea"/>
                <a:sym typeface="+mn-lt"/>
              </a:rPr>
              <a:t>80</a:t>
            </a:r>
            <a:r>
              <a:rPr lang="en-US" altLang="zh-CN">
                <a:solidFill>
                  <a:schemeClr val="bg1"/>
                </a:solidFill>
                <a:cs typeface="+mn-ea"/>
                <a:sym typeface="+mn-lt"/>
              </a:rPr>
              <a:t>%</a:t>
            </a:r>
            <a:endParaRPr lang="en-US" altLang="zh-CN" sz="320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51" name="矩形 50" descr="e7d195523061f1c09e9d68d7cf438b91ef959ecb14fc25d26BBA7F7DBC18E55DFF4014AF651F0BF2569D4B6C1DA7F1A4683A481403BD872FC687266AD13265C1DE7C373772FD8728ABDD69ADD03BFF5BE2862BC891DBB79EC884C45A5F465464F4471A44E2E9B6024498CDCB4F20168DAB66C7FAB51F4DF2191988BC51E8947C5543912A7B2AB33F8B6FFDD33C59E19B"/>
          <p:cNvSpPr/>
          <p:nvPr/>
        </p:nvSpPr>
        <p:spPr>
          <a:xfrm>
            <a:off x="3501756" y="3351289"/>
            <a:ext cx="1440979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1400">
                <a:solidFill>
                  <a:schemeClr val="bg1"/>
                </a:solidFill>
                <a:cs typeface="+mn-ea"/>
                <a:sym typeface="+mn-lt"/>
              </a:rPr>
              <a:t>市场数据分析</a:t>
            </a:r>
            <a:endParaRPr lang="zh-CN" altLang="en-US" sz="140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52" name="矩形 51" descr="e7d195523061f1c09e9d68d7cf438b91ef959ecb14fc25d26BBA7F7DBC18E55DFF4014AF651F0BF2569D4B6C1DA7F1A4683A481403BD872FC687266AD13265C1DE7C373772FD8728ABDD69ADD03BFF5BE2862BC891DBB79E48D68EAF9BC0B135F08CB3AA261467E47643FBA29D38A9757F7FFD5B7023D39A21F358D3BB12D2D6D548E32EE07CB42717034D7FAE5F42C8"/>
          <p:cNvSpPr/>
          <p:nvPr/>
        </p:nvSpPr>
        <p:spPr>
          <a:xfrm>
            <a:off x="3383213" y="3659066"/>
            <a:ext cx="1678064" cy="13042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050">
                <a:solidFill>
                  <a:schemeClr val="bg1"/>
                </a:solidFill>
                <a:cs typeface="+mn-ea"/>
                <a:sym typeface="+mn-lt"/>
              </a:rPr>
              <a:t>Lorem ipsum dolor sit amet, consectetuer adipiscing elit. Aenean commodo ligula eget dolor. </a:t>
            </a:r>
            <a:endParaRPr lang="en-US" altLang="zh-CN" sz="105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50875" y="1682750"/>
            <a:ext cx="1913890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endParaRPr lang="en-US" altLang="zh-CN" sz="140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40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代码走查</a:t>
            </a:r>
            <a:endParaRPr lang="zh-CN" altLang="en-US" sz="140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85290" y="472440"/>
            <a:ext cx="6362700" cy="39166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矩形 29" descr="e7d195523061f1c09e9d68d7cf438b91ef959ecb14fc25d26BBA7F7DBC18E55DFF4014AF651F0BF2569D4B6C1DA7F1A4683A481403BD872FC687266AD13265C1DE7C373772FD8728ABDD69ADD03BFF5BE2862BC891DBB79E898246E26A37A7D7E7C9DC44FE43D1F30388553B00347CD837D51A8797480C6AF68527F3A808E66C70F7F7545EF53EA9DBB2923F8DF110717A250568B4EE1FE8"/>
          <p:cNvSpPr/>
          <p:nvPr/>
        </p:nvSpPr>
        <p:spPr>
          <a:xfrm>
            <a:off x="395288" y="861400"/>
            <a:ext cx="2424223" cy="3643242"/>
          </a:xfrm>
          <a:prstGeom prst="rect">
            <a:avLst/>
          </a:prstGeom>
          <a:solidFill>
            <a:schemeClr val="accent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36" name="文本框 35" descr="e7d195523061f1c09e9d68d7cf438b91ef959ecb14fc25d26BBA7F7DBC18E55DFF4014AF651F0BF2569D4B6C1DA7F1A4683A481403BD872FC687266AD13265C1DE7C373772FD8728ABDD69ADD03BFF5BE2862BC891DBB79EF84BF418A889B226CF9C0CB1BFFED779B0ECBE1C944F05400A013ADFFA7A2B3CCAAF7701251FF12675319688C370005A869A8358FC9497EA"/>
          <p:cNvSpPr txBox="1"/>
          <p:nvPr/>
        </p:nvSpPr>
        <p:spPr>
          <a:xfrm>
            <a:off x="3811191" y="1999602"/>
            <a:ext cx="84807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>
                <a:solidFill>
                  <a:schemeClr val="bg1"/>
                </a:solidFill>
                <a:cs typeface="+mn-ea"/>
                <a:sym typeface="+mn-lt"/>
              </a:rPr>
              <a:t>80</a:t>
            </a:r>
            <a:r>
              <a:rPr lang="en-US" altLang="zh-CN">
                <a:solidFill>
                  <a:schemeClr val="bg1"/>
                </a:solidFill>
                <a:cs typeface="+mn-ea"/>
                <a:sym typeface="+mn-lt"/>
              </a:rPr>
              <a:t>%</a:t>
            </a:r>
            <a:endParaRPr lang="en-US" altLang="zh-CN" sz="320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51" name="矩形 50" descr="e7d195523061f1c09e9d68d7cf438b91ef959ecb14fc25d26BBA7F7DBC18E55DFF4014AF651F0BF2569D4B6C1DA7F1A4683A481403BD872FC687266AD13265C1DE7C373772FD8728ABDD69ADD03BFF5BE2862BC891DBB79EC884C45A5F465464F4471A44E2E9B6024498CDCB4F20168DAB66C7FAB51F4DF2191988BC51E8947C5543912A7B2AB33F8B6FFDD33C59E19B"/>
          <p:cNvSpPr/>
          <p:nvPr/>
        </p:nvSpPr>
        <p:spPr>
          <a:xfrm>
            <a:off x="3501756" y="3351289"/>
            <a:ext cx="1440979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1400">
                <a:solidFill>
                  <a:schemeClr val="bg1"/>
                </a:solidFill>
                <a:cs typeface="+mn-ea"/>
                <a:sym typeface="+mn-lt"/>
              </a:rPr>
              <a:t>市场数据分析</a:t>
            </a:r>
            <a:endParaRPr lang="zh-CN" altLang="en-US" sz="140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52" name="矩形 51" descr="e7d195523061f1c09e9d68d7cf438b91ef959ecb14fc25d26BBA7F7DBC18E55DFF4014AF651F0BF2569D4B6C1DA7F1A4683A481403BD872FC687266AD13265C1DE7C373772FD8728ABDD69ADD03BFF5BE2862BC891DBB79E48D68EAF9BC0B135F08CB3AA261467E47643FBA29D38A9757F7FFD5B7023D39A21F358D3BB12D2D6D548E32EE07CB42717034D7FAE5F42C8"/>
          <p:cNvSpPr/>
          <p:nvPr/>
        </p:nvSpPr>
        <p:spPr>
          <a:xfrm>
            <a:off x="3383213" y="3659066"/>
            <a:ext cx="1678064" cy="13042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050">
                <a:solidFill>
                  <a:schemeClr val="bg1"/>
                </a:solidFill>
                <a:cs typeface="+mn-ea"/>
                <a:sym typeface="+mn-lt"/>
              </a:rPr>
              <a:t>Lorem ipsum dolor sit amet, consectetuer adipiscing elit. Aenean commodo ligula eget dolor. </a:t>
            </a:r>
            <a:endParaRPr lang="en-US" altLang="zh-CN" sz="105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50875" y="1682750"/>
            <a:ext cx="1913890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endParaRPr lang="en-US" altLang="zh-CN" sz="140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40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代码走查</a:t>
            </a:r>
            <a:endParaRPr lang="zh-CN" altLang="en-US" sz="140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5915" y="991870"/>
            <a:ext cx="6743700" cy="30022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矩形 29" descr="e7d195523061f1c09e9d68d7cf438b91ef959ecb14fc25d26BBA7F7DBC18E55DFF4014AF651F0BF2569D4B6C1DA7F1A4683A481403BD872FC687266AD13265C1DE7C373772FD8728ABDD69ADD03BFF5BE2862BC891DBB79E898246E26A37A7D7E7C9DC44FE43D1F30388553B00347CD837D51A8797480C6AF68527F3A808E66C70F7F7545EF53EA9DBB2923F8DF110717A250568B4EE1FE8"/>
          <p:cNvSpPr/>
          <p:nvPr/>
        </p:nvSpPr>
        <p:spPr>
          <a:xfrm>
            <a:off x="395288" y="861400"/>
            <a:ext cx="2424223" cy="3643242"/>
          </a:xfrm>
          <a:prstGeom prst="rect">
            <a:avLst/>
          </a:prstGeom>
          <a:solidFill>
            <a:schemeClr val="accent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36" name="文本框 35" descr="e7d195523061f1c09e9d68d7cf438b91ef959ecb14fc25d26BBA7F7DBC18E55DFF4014AF651F0BF2569D4B6C1DA7F1A4683A481403BD872FC687266AD13265C1DE7C373772FD8728ABDD69ADD03BFF5BE2862BC891DBB79EF84BF418A889B226CF9C0CB1BFFED779B0ECBE1C944F05400A013ADFFA7A2B3CCAAF7701251FF12675319688C370005A869A8358FC9497EA"/>
          <p:cNvSpPr txBox="1"/>
          <p:nvPr/>
        </p:nvSpPr>
        <p:spPr>
          <a:xfrm>
            <a:off x="3811191" y="1999602"/>
            <a:ext cx="84807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>
                <a:solidFill>
                  <a:schemeClr val="bg1"/>
                </a:solidFill>
                <a:cs typeface="+mn-ea"/>
                <a:sym typeface="+mn-lt"/>
              </a:rPr>
              <a:t>80</a:t>
            </a:r>
            <a:r>
              <a:rPr lang="en-US" altLang="zh-CN">
                <a:solidFill>
                  <a:schemeClr val="bg1"/>
                </a:solidFill>
                <a:cs typeface="+mn-ea"/>
                <a:sym typeface="+mn-lt"/>
              </a:rPr>
              <a:t>%</a:t>
            </a:r>
            <a:endParaRPr lang="en-US" altLang="zh-CN" sz="320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51" name="矩形 50" descr="e7d195523061f1c09e9d68d7cf438b91ef959ecb14fc25d26BBA7F7DBC18E55DFF4014AF651F0BF2569D4B6C1DA7F1A4683A481403BD872FC687266AD13265C1DE7C373772FD8728ABDD69ADD03BFF5BE2862BC891DBB79EC884C45A5F465464F4471A44E2E9B6024498CDCB4F20168DAB66C7FAB51F4DF2191988BC51E8947C5543912A7B2AB33F8B6FFDD33C59E19B"/>
          <p:cNvSpPr/>
          <p:nvPr/>
        </p:nvSpPr>
        <p:spPr>
          <a:xfrm>
            <a:off x="3501756" y="3351289"/>
            <a:ext cx="1440979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1400">
                <a:solidFill>
                  <a:schemeClr val="bg1"/>
                </a:solidFill>
                <a:cs typeface="+mn-ea"/>
                <a:sym typeface="+mn-lt"/>
              </a:rPr>
              <a:t>市场数据分析</a:t>
            </a:r>
            <a:endParaRPr lang="zh-CN" altLang="en-US" sz="140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52" name="矩形 51" descr="e7d195523061f1c09e9d68d7cf438b91ef959ecb14fc25d26BBA7F7DBC18E55DFF4014AF651F0BF2569D4B6C1DA7F1A4683A481403BD872FC687266AD13265C1DE7C373772FD8728ABDD69ADD03BFF5BE2862BC891DBB79E48D68EAF9BC0B135F08CB3AA261467E47643FBA29D38A9757F7FFD5B7023D39A21F358D3BB12D2D6D548E32EE07CB42717034D7FAE5F42C8"/>
          <p:cNvSpPr/>
          <p:nvPr/>
        </p:nvSpPr>
        <p:spPr>
          <a:xfrm>
            <a:off x="3383213" y="3659066"/>
            <a:ext cx="1678064" cy="13042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050">
                <a:solidFill>
                  <a:schemeClr val="bg1"/>
                </a:solidFill>
                <a:cs typeface="+mn-ea"/>
                <a:sym typeface="+mn-lt"/>
              </a:rPr>
              <a:t>Lorem ipsum dolor sit amet, consectetuer adipiscing elit. Aenean commodo ligula eget dolor. </a:t>
            </a:r>
            <a:endParaRPr lang="en-US" altLang="zh-CN" sz="105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50875" y="1682750"/>
            <a:ext cx="1913890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endParaRPr lang="en-US" altLang="zh-CN" sz="140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40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代码走查</a:t>
            </a:r>
            <a:endParaRPr lang="zh-CN" altLang="en-US" sz="140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44725" y="370840"/>
            <a:ext cx="5455920" cy="413385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椭圆 4"/>
          <p:cNvSpPr/>
          <p:nvPr/>
        </p:nvSpPr>
        <p:spPr>
          <a:xfrm>
            <a:off x="-807511" y="563665"/>
            <a:ext cx="477014" cy="477014"/>
          </a:xfrm>
          <a:prstGeom prst="ellipse">
            <a:avLst/>
          </a:prstGeom>
          <a:solidFill>
            <a:srgbClr val="F7E9E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6" name="椭圆 15"/>
          <p:cNvSpPr/>
          <p:nvPr/>
        </p:nvSpPr>
        <p:spPr>
          <a:xfrm>
            <a:off x="-807511" y="1455830"/>
            <a:ext cx="477014" cy="477014"/>
          </a:xfrm>
          <a:prstGeom prst="ellipse">
            <a:avLst/>
          </a:prstGeom>
          <a:solidFill>
            <a:srgbClr val="F4D1C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7" name="椭圆 16"/>
          <p:cNvSpPr/>
          <p:nvPr/>
        </p:nvSpPr>
        <p:spPr>
          <a:xfrm>
            <a:off x="-807511" y="2347995"/>
            <a:ext cx="477014" cy="477014"/>
          </a:xfrm>
          <a:prstGeom prst="ellipse">
            <a:avLst/>
          </a:prstGeom>
          <a:solidFill>
            <a:srgbClr val="7787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8" name="椭圆 17"/>
          <p:cNvSpPr/>
          <p:nvPr/>
        </p:nvSpPr>
        <p:spPr>
          <a:xfrm>
            <a:off x="-807511" y="3240159"/>
            <a:ext cx="477014" cy="477014"/>
          </a:xfrm>
          <a:prstGeom prst="ellipse">
            <a:avLst/>
          </a:prstGeom>
          <a:solidFill>
            <a:srgbClr val="A0B0B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9" name="椭圆 18"/>
          <p:cNvSpPr/>
          <p:nvPr/>
        </p:nvSpPr>
        <p:spPr>
          <a:xfrm>
            <a:off x="-807511" y="4132323"/>
            <a:ext cx="477014" cy="477014"/>
          </a:xfrm>
          <a:prstGeom prst="ellipse">
            <a:avLst/>
          </a:prstGeom>
          <a:solidFill>
            <a:srgbClr val="C9D2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1" name="椭圆 20"/>
          <p:cNvSpPr/>
          <p:nvPr/>
        </p:nvSpPr>
        <p:spPr>
          <a:xfrm>
            <a:off x="7836421" y="-394388"/>
            <a:ext cx="2197265" cy="2197265"/>
          </a:xfrm>
          <a:prstGeom prst="ellipse">
            <a:avLst/>
          </a:prstGeom>
          <a:solidFill>
            <a:srgbClr val="7787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5" name="椭圆 24"/>
          <p:cNvSpPr/>
          <p:nvPr/>
        </p:nvSpPr>
        <p:spPr>
          <a:xfrm>
            <a:off x="6292646" y="3615378"/>
            <a:ext cx="2038210" cy="203821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6" name="椭圆 25"/>
          <p:cNvSpPr/>
          <p:nvPr/>
        </p:nvSpPr>
        <p:spPr>
          <a:xfrm>
            <a:off x="8083405" y="2850102"/>
            <a:ext cx="673979" cy="673979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7" name="椭圆 26"/>
          <p:cNvSpPr/>
          <p:nvPr/>
        </p:nvSpPr>
        <p:spPr>
          <a:xfrm>
            <a:off x="393996" y="-243597"/>
            <a:ext cx="916465" cy="916465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8" name="椭圆 27"/>
          <p:cNvSpPr/>
          <p:nvPr/>
        </p:nvSpPr>
        <p:spPr>
          <a:xfrm>
            <a:off x="-190611" y="4331467"/>
            <a:ext cx="1169214" cy="1169214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0" name="椭圆 29"/>
          <p:cNvSpPr/>
          <p:nvPr/>
        </p:nvSpPr>
        <p:spPr>
          <a:xfrm>
            <a:off x="4865658" y="3809246"/>
            <a:ext cx="769442" cy="769442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7" name="矩形 36"/>
          <p:cNvSpPr/>
          <p:nvPr/>
        </p:nvSpPr>
        <p:spPr>
          <a:xfrm>
            <a:off x="215153" y="274405"/>
            <a:ext cx="8713694" cy="4594690"/>
          </a:xfrm>
          <a:prstGeom prst="rect">
            <a:avLst/>
          </a:prstGeom>
          <a:noFill/>
          <a:ln w="285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6" name="矩形 35"/>
          <p:cNvSpPr/>
          <p:nvPr/>
        </p:nvSpPr>
        <p:spPr>
          <a:xfrm rot="5400000">
            <a:off x="-848148" y="1598602"/>
            <a:ext cx="2172390" cy="338554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en-US" altLang="zh-CN" sz="1600" kern="0">
                <a:solidFill>
                  <a:prstClr val="black">
                    <a:lumMod val="65000"/>
                    <a:lumOff val="35000"/>
                  </a:prstClr>
                </a:solidFill>
                <a:cs typeface="+mn-ea"/>
                <a:sym typeface="+mn-lt"/>
              </a:rPr>
              <a:t>SUMMARY REPORT </a:t>
            </a:r>
            <a:endParaRPr lang="zh-CN" altLang="en-US">
              <a:cs typeface="+mn-ea"/>
              <a:sym typeface="+mn-lt"/>
            </a:endParaRPr>
          </a:p>
        </p:txBody>
      </p:sp>
      <p:sp>
        <p:nvSpPr>
          <p:cNvPr id="38" name="椭圆 37"/>
          <p:cNvSpPr/>
          <p:nvPr/>
        </p:nvSpPr>
        <p:spPr>
          <a:xfrm>
            <a:off x="6355614" y="993263"/>
            <a:ext cx="460508" cy="46050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2" name="PA_矩形 7"/>
          <p:cNvSpPr/>
          <p:nvPr>
            <p:custDataLst>
              <p:tags r:id="rId1"/>
            </p:custDataLst>
          </p:nvPr>
        </p:nvSpPr>
        <p:spPr>
          <a:xfrm>
            <a:off x="4485859" y="2085674"/>
            <a:ext cx="2418080" cy="76835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l" defTabSz="685800">
              <a:defRPr/>
            </a:pPr>
            <a:r>
              <a:rPr lang="zh-CN" altLang="en-US" sz="4400" b="1" kern="0">
                <a:solidFill>
                  <a:schemeClr val="accent3"/>
                </a:solidFill>
                <a:cs typeface="+mn-ea"/>
                <a:sym typeface="+mn-lt"/>
              </a:rPr>
              <a:t>测试计划</a:t>
            </a:r>
            <a:endParaRPr lang="zh-CN" altLang="en-US" sz="4400" b="1" kern="0">
              <a:solidFill>
                <a:schemeClr val="accent3"/>
              </a:solidFill>
              <a:cs typeface="+mn-ea"/>
              <a:sym typeface="+mn-lt"/>
            </a:endParaRPr>
          </a:p>
        </p:txBody>
      </p:sp>
      <p:sp>
        <p:nvSpPr>
          <p:cNvPr id="24" name="矩形: 圆角 23"/>
          <p:cNvSpPr/>
          <p:nvPr/>
        </p:nvSpPr>
        <p:spPr>
          <a:xfrm>
            <a:off x="2045335" y="2172335"/>
            <a:ext cx="1949450" cy="59563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椭圆 4"/>
          <p:cNvSpPr/>
          <p:nvPr/>
        </p:nvSpPr>
        <p:spPr>
          <a:xfrm>
            <a:off x="-807511" y="563665"/>
            <a:ext cx="477014" cy="477014"/>
          </a:xfrm>
          <a:prstGeom prst="ellipse">
            <a:avLst/>
          </a:prstGeom>
          <a:solidFill>
            <a:srgbClr val="F7E9E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6" name="椭圆 15"/>
          <p:cNvSpPr/>
          <p:nvPr/>
        </p:nvSpPr>
        <p:spPr>
          <a:xfrm>
            <a:off x="-807511" y="1455830"/>
            <a:ext cx="477014" cy="477014"/>
          </a:xfrm>
          <a:prstGeom prst="ellipse">
            <a:avLst/>
          </a:prstGeom>
          <a:solidFill>
            <a:srgbClr val="F4D1C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7" name="椭圆 16"/>
          <p:cNvSpPr/>
          <p:nvPr/>
        </p:nvSpPr>
        <p:spPr>
          <a:xfrm>
            <a:off x="-807511" y="2347995"/>
            <a:ext cx="477014" cy="477014"/>
          </a:xfrm>
          <a:prstGeom prst="ellipse">
            <a:avLst/>
          </a:prstGeom>
          <a:solidFill>
            <a:srgbClr val="7787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8" name="椭圆 17"/>
          <p:cNvSpPr/>
          <p:nvPr/>
        </p:nvSpPr>
        <p:spPr>
          <a:xfrm>
            <a:off x="-807511" y="3240159"/>
            <a:ext cx="477014" cy="477014"/>
          </a:xfrm>
          <a:prstGeom prst="ellipse">
            <a:avLst/>
          </a:prstGeom>
          <a:solidFill>
            <a:srgbClr val="A0B0B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9" name="椭圆 18"/>
          <p:cNvSpPr/>
          <p:nvPr/>
        </p:nvSpPr>
        <p:spPr>
          <a:xfrm>
            <a:off x="-807511" y="4132323"/>
            <a:ext cx="477014" cy="477014"/>
          </a:xfrm>
          <a:prstGeom prst="ellipse">
            <a:avLst/>
          </a:prstGeom>
          <a:solidFill>
            <a:srgbClr val="C9D2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1" name="椭圆 20"/>
          <p:cNvSpPr/>
          <p:nvPr/>
        </p:nvSpPr>
        <p:spPr>
          <a:xfrm>
            <a:off x="7836421" y="-394388"/>
            <a:ext cx="2197265" cy="2197265"/>
          </a:xfrm>
          <a:prstGeom prst="ellipse">
            <a:avLst/>
          </a:prstGeom>
          <a:solidFill>
            <a:srgbClr val="7787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5" name="椭圆 24"/>
          <p:cNvSpPr/>
          <p:nvPr/>
        </p:nvSpPr>
        <p:spPr>
          <a:xfrm>
            <a:off x="6292646" y="3615378"/>
            <a:ext cx="2038210" cy="203821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6" name="椭圆 25"/>
          <p:cNvSpPr/>
          <p:nvPr/>
        </p:nvSpPr>
        <p:spPr>
          <a:xfrm>
            <a:off x="8083405" y="2850102"/>
            <a:ext cx="673979" cy="673979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7" name="椭圆 26"/>
          <p:cNvSpPr/>
          <p:nvPr/>
        </p:nvSpPr>
        <p:spPr>
          <a:xfrm>
            <a:off x="393996" y="-243597"/>
            <a:ext cx="916465" cy="916465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8" name="椭圆 27"/>
          <p:cNvSpPr/>
          <p:nvPr/>
        </p:nvSpPr>
        <p:spPr>
          <a:xfrm>
            <a:off x="-190611" y="4331467"/>
            <a:ext cx="1169214" cy="1169214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0" name="椭圆 29"/>
          <p:cNvSpPr/>
          <p:nvPr/>
        </p:nvSpPr>
        <p:spPr>
          <a:xfrm>
            <a:off x="4865658" y="3809246"/>
            <a:ext cx="769442" cy="769442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7" name="矩形 36"/>
          <p:cNvSpPr/>
          <p:nvPr/>
        </p:nvSpPr>
        <p:spPr>
          <a:xfrm>
            <a:off x="215153" y="274405"/>
            <a:ext cx="8713694" cy="4594690"/>
          </a:xfrm>
          <a:prstGeom prst="rect">
            <a:avLst/>
          </a:prstGeom>
          <a:noFill/>
          <a:ln w="285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6" name="矩形 35"/>
          <p:cNvSpPr/>
          <p:nvPr/>
        </p:nvSpPr>
        <p:spPr>
          <a:xfrm rot="5400000">
            <a:off x="-848148" y="1598602"/>
            <a:ext cx="2172390" cy="338554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en-US" altLang="zh-CN" sz="1600" kern="0">
                <a:solidFill>
                  <a:prstClr val="black">
                    <a:lumMod val="65000"/>
                    <a:lumOff val="35000"/>
                  </a:prstClr>
                </a:solidFill>
                <a:cs typeface="+mn-ea"/>
                <a:sym typeface="+mn-lt"/>
              </a:rPr>
              <a:t>SUMMARY REPORT </a:t>
            </a:r>
            <a:endParaRPr lang="zh-CN" altLang="en-US">
              <a:cs typeface="+mn-ea"/>
              <a:sym typeface="+mn-lt"/>
            </a:endParaRPr>
          </a:p>
        </p:txBody>
      </p:sp>
      <p:sp>
        <p:nvSpPr>
          <p:cNvPr id="38" name="椭圆 37"/>
          <p:cNvSpPr/>
          <p:nvPr/>
        </p:nvSpPr>
        <p:spPr>
          <a:xfrm>
            <a:off x="6355614" y="993263"/>
            <a:ext cx="460508" cy="46050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2" name="PA_矩形 7"/>
          <p:cNvSpPr/>
          <p:nvPr>
            <p:custDataLst>
              <p:tags r:id="rId1"/>
            </p:custDataLst>
          </p:nvPr>
        </p:nvSpPr>
        <p:spPr>
          <a:xfrm>
            <a:off x="4485859" y="2085674"/>
            <a:ext cx="2418080" cy="76835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l" defTabSz="685800">
              <a:defRPr/>
            </a:pPr>
            <a:r>
              <a:rPr lang="zh-CN" altLang="en-US" sz="4400" b="1" kern="0">
                <a:solidFill>
                  <a:schemeClr val="accent3"/>
                </a:solidFill>
                <a:cs typeface="+mn-ea"/>
                <a:sym typeface="+mn-lt"/>
              </a:rPr>
              <a:t>测试用例</a:t>
            </a:r>
            <a:endParaRPr lang="zh-CN" altLang="en-US" sz="4400" b="1" kern="0">
              <a:solidFill>
                <a:schemeClr val="accent3"/>
              </a:solidFill>
              <a:cs typeface="+mn-ea"/>
              <a:sym typeface="+mn-lt"/>
            </a:endParaRPr>
          </a:p>
        </p:txBody>
      </p:sp>
      <p:sp>
        <p:nvSpPr>
          <p:cNvPr id="24" name="矩形: 圆角 23"/>
          <p:cNvSpPr/>
          <p:nvPr/>
        </p:nvSpPr>
        <p:spPr>
          <a:xfrm>
            <a:off x="2045335" y="2172335"/>
            <a:ext cx="1949450" cy="59563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椭圆 4"/>
          <p:cNvSpPr/>
          <p:nvPr/>
        </p:nvSpPr>
        <p:spPr>
          <a:xfrm>
            <a:off x="-807511" y="563665"/>
            <a:ext cx="477014" cy="477014"/>
          </a:xfrm>
          <a:prstGeom prst="ellipse">
            <a:avLst/>
          </a:prstGeom>
          <a:solidFill>
            <a:srgbClr val="F7E9E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6" name="椭圆 15"/>
          <p:cNvSpPr/>
          <p:nvPr/>
        </p:nvSpPr>
        <p:spPr>
          <a:xfrm>
            <a:off x="-807511" y="1455830"/>
            <a:ext cx="477014" cy="477014"/>
          </a:xfrm>
          <a:prstGeom prst="ellipse">
            <a:avLst/>
          </a:prstGeom>
          <a:solidFill>
            <a:srgbClr val="F4D1C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7" name="椭圆 16"/>
          <p:cNvSpPr/>
          <p:nvPr/>
        </p:nvSpPr>
        <p:spPr>
          <a:xfrm>
            <a:off x="-807511" y="2347995"/>
            <a:ext cx="477014" cy="477014"/>
          </a:xfrm>
          <a:prstGeom prst="ellipse">
            <a:avLst/>
          </a:prstGeom>
          <a:solidFill>
            <a:srgbClr val="7787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8" name="椭圆 17"/>
          <p:cNvSpPr/>
          <p:nvPr/>
        </p:nvSpPr>
        <p:spPr>
          <a:xfrm>
            <a:off x="-807511" y="3240159"/>
            <a:ext cx="477014" cy="477014"/>
          </a:xfrm>
          <a:prstGeom prst="ellipse">
            <a:avLst/>
          </a:prstGeom>
          <a:solidFill>
            <a:srgbClr val="A0B0B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9" name="椭圆 18"/>
          <p:cNvSpPr/>
          <p:nvPr/>
        </p:nvSpPr>
        <p:spPr>
          <a:xfrm>
            <a:off x="-807511" y="4132323"/>
            <a:ext cx="477014" cy="477014"/>
          </a:xfrm>
          <a:prstGeom prst="ellipse">
            <a:avLst/>
          </a:prstGeom>
          <a:solidFill>
            <a:srgbClr val="C9D2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1" name="椭圆 20"/>
          <p:cNvSpPr/>
          <p:nvPr/>
        </p:nvSpPr>
        <p:spPr>
          <a:xfrm>
            <a:off x="7836421" y="-394388"/>
            <a:ext cx="2197265" cy="2197265"/>
          </a:xfrm>
          <a:prstGeom prst="ellipse">
            <a:avLst/>
          </a:prstGeom>
          <a:solidFill>
            <a:srgbClr val="7787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5" name="椭圆 24"/>
          <p:cNvSpPr/>
          <p:nvPr/>
        </p:nvSpPr>
        <p:spPr>
          <a:xfrm>
            <a:off x="6292646" y="3615378"/>
            <a:ext cx="2038210" cy="203821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6" name="椭圆 25"/>
          <p:cNvSpPr/>
          <p:nvPr/>
        </p:nvSpPr>
        <p:spPr>
          <a:xfrm>
            <a:off x="8083405" y="2850102"/>
            <a:ext cx="673979" cy="673979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7" name="椭圆 26"/>
          <p:cNvSpPr/>
          <p:nvPr/>
        </p:nvSpPr>
        <p:spPr>
          <a:xfrm>
            <a:off x="393996" y="-243597"/>
            <a:ext cx="916465" cy="916465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8" name="椭圆 27"/>
          <p:cNvSpPr/>
          <p:nvPr/>
        </p:nvSpPr>
        <p:spPr>
          <a:xfrm>
            <a:off x="-190611" y="4331467"/>
            <a:ext cx="1169214" cy="1169214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0" name="椭圆 29"/>
          <p:cNvSpPr/>
          <p:nvPr/>
        </p:nvSpPr>
        <p:spPr>
          <a:xfrm>
            <a:off x="4865658" y="3809246"/>
            <a:ext cx="769442" cy="769442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7" name="矩形 36"/>
          <p:cNvSpPr/>
          <p:nvPr/>
        </p:nvSpPr>
        <p:spPr>
          <a:xfrm>
            <a:off x="215153" y="274405"/>
            <a:ext cx="8713694" cy="4594690"/>
          </a:xfrm>
          <a:prstGeom prst="rect">
            <a:avLst/>
          </a:prstGeom>
          <a:noFill/>
          <a:ln w="285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6" name="矩形 35"/>
          <p:cNvSpPr/>
          <p:nvPr/>
        </p:nvSpPr>
        <p:spPr>
          <a:xfrm rot="5400000">
            <a:off x="-848148" y="1598602"/>
            <a:ext cx="2172390" cy="338554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en-US" altLang="zh-CN" sz="1600" kern="0">
                <a:solidFill>
                  <a:prstClr val="black">
                    <a:lumMod val="65000"/>
                    <a:lumOff val="35000"/>
                  </a:prstClr>
                </a:solidFill>
                <a:cs typeface="+mn-ea"/>
                <a:sym typeface="+mn-lt"/>
              </a:rPr>
              <a:t>SUMMARY REPORT </a:t>
            </a:r>
            <a:endParaRPr lang="zh-CN" altLang="en-US">
              <a:cs typeface="+mn-ea"/>
              <a:sym typeface="+mn-lt"/>
            </a:endParaRPr>
          </a:p>
        </p:txBody>
      </p:sp>
      <p:sp>
        <p:nvSpPr>
          <p:cNvPr id="38" name="椭圆 37"/>
          <p:cNvSpPr/>
          <p:nvPr/>
        </p:nvSpPr>
        <p:spPr>
          <a:xfrm>
            <a:off x="6355614" y="993263"/>
            <a:ext cx="460508" cy="46050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2" name="PA_矩形 7"/>
          <p:cNvSpPr/>
          <p:nvPr>
            <p:custDataLst>
              <p:tags r:id="rId1"/>
            </p:custDataLst>
          </p:nvPr>
        </p:nvSpPr>
        <p:spPr>
          <a:xfrm>
            <a:off x="4485859" y="2085674"/>
            <a:ext cx="2418080" cy="76835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l" defTabSz="685800">
              <a:defRPr/>
            </a:pPr>
            <a:r>
              <a:rPr lang="zh-CN" altLang="en-US" sz="4400" b="1" kern="0">
                <a:solidFill>
                  <a:schemeClr val="accent3"/>
                </a:solidFill>
                <a:cs typeface="+mn-ea"/>
                <a:sym typeface="+mn-lt"/>
              </a:rPr>
              <a:t>用户反馈</a:t>
            </a:r>
            <a:endParaRPr lang="zh-CN" altLang="en-US" sz="4400" b="1" kern="0">
              <a:solidFill>
                <a:schemeClr val="accent3"/>
              </a:solidFill>
              <a:cs typeface="+mn-ea"/>
              <a:sym typeface="+mn-lt"/>
            </a:endParaRPr>
          </a:p>
        </p:txBody>
      </p:sp>
      <p:sp>
        <p:nvSpPr>
          <p:cNvPr id="24" name="矩形: 圆角 23"/>
          <p:cNvSpPr/>
          <p:nvPr/>
        </p:nvSpPr>
        <p:spPr>
          <a:xfrm>
            <a:off x="2045335" y="2172335"/>
            <a:ext cx="1949450" cy="59563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椭圆 4"/>
          <p:cNvSpPr/>
          <p:nvPr/>
        </p:nvSpPr>
        <p:spPr>
          <a:xfrm>
            <a:off x="-807511" y="563665"/>
            <a:ext cx="477014" cy="477014"/>
          </a:xfrm>
          <a:prstGeom prst="ellipse">
            <a:avLst/>
          </a:prstGeom>
          <a:solidFill>
            <a:srgbClr val="F7E9E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6" name="椭圆 15"/>
          <p:cNvSpPr/>
          <p:nvPr/>
        </p:nvSpPr>
        <p:spPr>
          <a:xfrm>
            <a:off x="-807511" y="1455830"/>
            <a:ext cx="477014" cy="477014"/>
          </a:xfrm>
          <a:prstGeom prst="ellipse">
            <a:avLst/>
          </a:prstGeom>
          <a:solidFill>
            <a:srgbClr val="F4D1C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7" name="椭圆 16"/>
          <p:cNvSpPr/>
          <p:nvPr/>
        </p:nvSpPr>
        <p:spPr>
          <a:xfrm>
            <a:off x="-807511" y="2347995"/>
            <a:ext cx="477014" cy="477014"/>
          </a:xfrm>
          <a:prstGeom prst="ellipse">
            <a:avLst/>
          </a:prstGeom>
          <a:solidFill>
            <a:srgbClr val="7787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8" name="椭圆 17"/>
          <p:cNvSpPr/>
          <p:nvPr/>
        </p:nvSpPr>
        <p:spPr>
          <a:xfrm>
            <a:off x="-807511" y="3240159"/>
            <a:ext cx="477014" cy="477014"/>
          </a:xfrm>
          <a:prstGeom prst="ellipse">
            <a:avLst/>
          </a:prstGeom>
          <a:solidFill>
            <a:srgbClr val="A0B0B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9" name="椭圆 18"/>
          <p:cNvSpPr/>
          <p:nvPr/>
        </p:nvSpPr>
        <p:spPr>
          <a:xfrm>
            <a:off x="-807511" y="4132323"/>
            <a:ext cx="477014" cy="477014"/>
          </a:xfrm>
          <a:prstGeom prst="ellipse">
            <a:avLst/>
          </a:prstGeom>
          <a:solidFill>
            <a:srgbClr val="C9D2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1" name="椭圆 20"/>
          <p:cNvSpPr/>
          <p:nvPr/>
        </p:nvSpPr>
        <p:spPr>
          <a:xfrm>
            <a:off x="7836421" y="-394388"/>
            <a:ext cx="2197265" cy="2197265"/>
          </a:xfrm>
          <a:prstGeom prst="ellipse">
            <a:avLst/>
          </a:prstGeom>
          <a:solidFill>
            <a:srgbClr val="7787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5" name="椭圆 24"/>
          <p:cNvSpPr/>
          <p:nvPr/>
        </p:nvSpPr>
        <p:spPr>
          <a:xfrm>
            <a:off x="6292646" y="3615378"/>
            <a:ext cx="2038210" cy="203821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6" name="椭圆 25"/>
          <p:cNvSpPr/>
          <p:nvPr/>
        </p:nvSpPr>
        <p:spPr>
          <a:xfrm>
            <a:off x="8083405" y="2850102"/>
            <a:ext cx="673979" cy="673979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7" name="椭圆 26"/>
          <p:cNvSpPr/>
          <p:nvPr/>
        </p:nvSpPr>
        <p:spPr>
          <a:xfrm>
            <a:off x="393996" y="-243597"/>
            <a:ext cx="916465" cy="916465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8" name="椭圆 27"/>
          <p:cNvSpPr/>
          <p:nvPr/>
        </p:nvSpPr>
        <p:spPr>
          <a:xfrm>
            <a:off x="-190611" y="4331467"/>
            <a:ext cx="1169214" cy="1169214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0" name="椭圆 29"/>
          <p:cNvSpPr/>
          <p:nvPr/>
        </p:nvSpPr>
        <p:spPr>
          <a:xfrm>
            <a:off x="4865658" y="3809246"/>
            <a:ext cx="769442" cy="769442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7" name="矩形 36"/>
          <p:cNvSpPr/>
          <p:nvPr/>
        </p:nvSpPr>
        <p:spPr>
          <a:xfrm>
            <a:off x="215153" y="274405"/>
            <a:ext cx="8713694" cy="4594690"/>
          </a:xfrm>
          <a:prstGeom prst="rect">
            <a:avLst/>
          </a:prstGeom>
          <a:noFill/>
          <a:ln w="285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6" name="矩形 35"/>
          <p:cNvSpPr/>
          <p:nvPr/>
        </p:nvSpPr>
        <p:spPr>
          <a:xfrm rot="5400000">
            <a:off x="-848148" y="1598602"/>
            <a:ext cx="2172390" cy="338554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en-US" altLang="zh-CN" sz="1600" kern="0">
                <a:solidFill>
                  <a:prstClr val="black">
                    <a:lumMod val="65000"/>
                    <a:lumOff val="35000"/>
                  </a:prstClr>
                </a:solidFill>
                <a:cs typeface="+mn-ea"/>
                <a:sym typeface="+mn-lt"/>
              </a:rPr>
              <a:t>SUMMARY REPORT </a:t>
            </a:r>
            <a:endParaRPr lang="zh-CN" altLang="en-US">
              <a:cs typeface="+mn-ea"/>
              <a:sym typeface="+mn-lt"/>
            </a:endParaRPr>
          </a:p>
        </p:txBody>
      </p:sp>
      <p:sp>
        <p:nvSpPr>
          <p:cNvPr id="38" name="椭圆 37"/>
          <p:cNvSpPr/>
          <p:nvPr/>
        </p:nvSpPr>
        <p:spPr>
          <a:xfrm>
            <a:off x="6355614" y="993263"/>
            <a:ext cx="460508" cy="46050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2" name="PA_矩形 7"/>
          <p:cNvSpPr/>
          <p:nvPr>
            <p:custDataLst>
              <p:tags r:id="rId1"/>
            </p:custDataLst>
          </p:nvPr>
        </p:nvSpPr>
        <p:spPr>
          <a:xfrm>
            <a:off x="3363179" y="2018999"/>
            <a:ext cx="3535680" cy="76835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l" defTabSz="685800">
              <a:defRPr/>
            </a:pPr>
            <a:r>
              <a:rPr lang="zh-CN" altLang="en-US" sz="4400" b="1" kern="0">
                <a:solidFill>
                  <a:schemeClr val="accent3"/>
                </a:solidFill>
                <a:cs typeface="+mn-ea"/>
                <a:sym typeface="+mn-lt"/>
              </a:rPr>
              <a:t>实现阶段分工</a:t>
            </a:r>
            <a:endParaRPr lang="zh-CN" altLang="en-US" sz="4400" b="1" kern="0">
              <a:solidFill>
                <a:schemeClr val="accent3"/>
              </a:solidFill>
              <a:cs typeface="+mn-ea"/>
              <a:sym typeface="+mn-lt"/>
            </a:endParaRPr>
          </a:p>
        </p:txBody>
      </p:sp>
      <p:sp>
        <p:nvSpPr>
          <p:cNvPr id="24" name="矩形: 圆角 23"/>
          <p:cNvSpPr/>
          <p:nvPr/>
        </p:nvSpPr>
        <p:spPr>
          <a:xfrm>
            <a:off x="2211705" y="2105660"/>
            <a:ext cx="793750" cy="59563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矩形 29" descr="e7d195523061f1c09e9d68d7cf438b91ef959ecb14fc25d26BBA7F7DBC18E55DFF4014AF651F0BF2569D4B6C1DA7F1A4683A481403BD872FC687266AD13265C1DE7C373772FD8728ABDD69ADD03BFF5BE2862BC891DBB79E898246E26A37A7D7E7C9DC44FE43D1F30388553B00347CD837D51A8797480C6AF68527F3A808E66C70F7F7545EF53EA9DBB2923F8DF110717A250568B4EE1FE8"/>
          <p:cNvSpPr/>
          <p:nvPr/>
        </p:nvSpPr>
        <p:spPr>
          <a:xfrm>
            <a:off x="395288" y="874735"/>
            <a:ext cx="2424223" cy="3643242"/>
          </a:xfrm>
          <a:prstGeom prst="rect">
            <a:avLst/>
          </a:prstGeom>
          <a:solidFill>
            <a:schemeClr val="accent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36" name="文本框 35" descr="e7d195523061f1c09e9d68d7cf438b91ef959ecb14fc25d26BBA7F7DBC18E55DFF4014AF651F0BF2569D4B6C1DA7F1A4683A481403BD872FC687266AD13265C1DE7C373772FD8728ABDD69ADD03BFF5BE2862BC891DBB79EF84BF418A889B226CF9C0CB1BFFED779B0ECBE1C944F05400A013ADFFA7A2B3CCAAF7701251FF12675319688C370005A869A8358FC9497EA"/>
          <p:cNvSpPr txBox="1"/>
          <p:nvPr/>
        </p:nvSpPr>
        <p:spPr>
          <a:xfrm>
            <a:off x="3811191" y="1999602"/>
            <a:ext cx="84807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>
                <a:solidFill>
                  <a:schemeClr val="bg1"/>
                </a:solidFill>
                <a:cs typeface="+mn-ea"/>
                <a:sym typeface="+mn-lt"/>
              </a:rPr>
              <a:t>80</a:t>
            </a:r>
            <a:r>
              <a:rPr lang="en-US" altLang="zh-CN">
                <a:solidFill>
                  <a:schemeClr val="bg1"/>
                </a:solidFill>
                <a:cs typeface="+mn-ea"/>
                <a:sym typeface="+mn-lt"/>
              </a:rPr>
              <a:t>%</a:t>
            </a:r>
            <a:endParaRPr lang="en-US" altLang="zh-CN" sz="320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51" name="矩形 50" descr="e7d195523061f1c09e9d68d7cf438b91ef959ecb14fc25d26BBA7F7DBC18E55DFF4014AF651F0BF2569D4B6C1DA7F1A4683A481403BD872FC687266AD13265C1DE7C373772FD8728ABDD69ADD03BFF5BE2862BC891DBB79EC884C45A5F465464F4471A44E2E9B6024498CDCB4F20168DAB66C7FAB51F4DF2191988BC51E8947C5543912A7B2AB33F8B6FFDD33C59E19B"/>
          <p:cNvSpPr/>
          <p:nvPr/>
        </p:nvSpPr>
        <p:spPr>
          <a:xfrm>
            <a:off x="3501756" y="3351289"/>
            <a:ext cx="1440979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1400">
                <a:solidFill>
                  <a:schemeClr val="bg1"/>
                </a:solidFill>
                <a:cs typeface="+mn-ea"/>
                <a:sym typeface="+mn-lt"/>
              </a:rPr>
              <a:t>市场数据分析</a:t>
            </a:r>
            <a:endParaRPr lang="zh-CN" altLang="en-US" sz="140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52" name="矩形 51" descr="e7d195523061f1c09e9d68d7cf438b91ef959ecb14fc25d26BBA7F7DBC18E55DFF4014AF651F0BF2569D4B6C1DA7F1A4683A481403BD872FC687266AD13265C1DE7C373772FD8728ABDD69ADD03BFF5BE2862BC891DBB79E48D68EAF9BC0B135F08CB3AA261467E47643FBA29D38A9757F7FFD5B7023D39A21F358D3BB12D2D6D548E32EE07CB42717034D7FAE5F42C8"/>
          <p:cNvSpPr/>
          <p:nvPr/>
        </p:nvSpPr>
        <p:spPr>
          <a:xfrm>
            <a:off x="3383213" y="3659066"/>
            <a:ext cx="1678064" cy="13042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050">
                <a:solidFill>
                  <a:schemeClr val="bg1"/>
                </a:solidFill>
                <a:cs typeface="+mn-ea"/>
                <a:sym typeface="+mn-lt"/>
              </a:rPr>
              <a:t>Lorem ipsum dolor sit amet, consectetuer adipiscing elit. Aenean commodo ligula eget dolor. </a:t>
            </a:r>
            <a:endParaRPr lang="en-US" altLang="zh-CN" sz="105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546100" y="2441575"/>
            <a:ext cx="1913890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endParaRPr lang="en-US" altLang="zh-CN" sz="140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40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实现阶段分工</a:t>
            </a:r>
            <a:endParaRPr lang="zh-CN" altLang="en-US" sz="140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</p:txBody>
      </p:sp>
      <p:graphicFrame>
        <p:nvGraphicFramePr>
          <p:cNvPr id="5" name="表格 4"/>
          <p:cNvGraphicFramePr/>
          <p:nvPr>
            <p:custDataLst>
              <p:tags r:id="rId1"/>
            </p:custDataLst>
          </p:nvPr>
        </p:nvGraphicFramePr>
        <p:xfrm>
          <a:off x="1869440" y="728980"/>
          <a:ext cx="5789930" cy="3327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50595"/>
                <a:gridCol w="4839335"/>
              </a:tblGrid>
              <a:tr h="83185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600" b="0">
                          <a:latin typeface="Calibri" panose="020F0502020204030204" charset="0"/>
                          <a:cs typeface="Calibri" panose="020F0502020204030204" charset="0"/>
                        </a:rPr>
                        <a:t>姓名</a:t>
                      </a:r>
                      <a:endParaRPr lang="en-US" altLang="en-US" sz="1600" b="0">
                        <a:latin typeface="Calibri" panose="020F050202020403020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marL="68580" marR="68580" marT="0" marB="0" vert="horz" anchor="t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6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任务</a:t>
                      </a:r>
                      <a:endParaRPr lang="en-US" altLang="en-US" sz="16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83185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6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牛旷野</a:t>
                      </a:r>
                      <a:endParaRPr lang="en-US" altLang="en-US" sz="16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6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对前台商品板块进行实现</a:t>
                      </a:r>
                      <a:endParaRPr lang="en-US" altLang="en-US" sz="16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83185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6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卢世逸</a:t>
                      </a:r>
                      <a:endParaRPr lang="en-US" altLang="en-US" sz="16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6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对用户主页板块进行实现</a:t>
                      </a:r>
                      <a:endParaRPr lang="en-US" altLang="en-US" sz="16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83185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6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孟闻凯</a:t>
                      </a:r>
                      <a:endParaRPr lang="en-US" altLang="en-US" sz="16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6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对</a:t>
                      </a:r>
                      <a:r>
                        <a:rPr lang="zh-CN" altLang="en-US" sz="16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后台管理</a:t>
                      </a:r>
                      <a:r>
                        <a:rPr lang="en-US" sz="16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板块进行实现</a:t>
                      </a:r>
                      <a:r>
                        <a:rPr lang="zh-CN" altLang="en-US" sz="16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，并主要负责前端页面</a:t>
                      </a:r>
                      <a:endParaRPr lang="zh-CN" altLang="en-US" sz="16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椭圆 4"/>
          <p:cNvSpPr/>
          <p:nvPr/>
        </p:nvSpPr>
        <p:spPr>
          <a:xfrm>
            <a:off x="-807511" y="563665"/>
            <a:ext cx="477014" cy="477014"/>
          </a:xfrm>
          <a:prstGeom prst="ellipse">
            <a:avLst/>
          </a:prstGeom>
          <a:solidFill>
            <a:srgbClr val="F7E9E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6" name="椭圆 15"/>
          <p:cNvSpPr/>
          <p:nvPr/>
        </p:nvSpPr>
        <p:spPr>
          <a:xfrm>
            <a:off x="-807511" y="1455830"/>
            <a:ext cx="477014" cy="477014"/>
          </a:xfrm>
          <a:prstGeom prst="ellipse">
            <a:avLst/>
          </a:prstGeom>
          <a:solidFill>
            <a:srgbClr val="F4D1C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7" name="椭圆 16"/>
          <p:cNvSpPr/>
          <p:nvPr/>
        </p:nvSpPr>
        <p:spPr>
          <a:xfrm>
            <a:off x="-807511" y="2347995"/>
            <a:ext cx="477014" cy="477014"/>
          </a:xfrm>
          <a:prstGeom prst="ellipse">
            <a:avLst/>
          </a:prstGeom>
          <a:solidFill>
            <a:srgbClr val="7787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8" name="椭圆 17"/>
          <p:cNvSpPr/>
          <p:nvPr/>
        </p:nvSpPr>
        <p:spPr>
          <a:xfrm>
            <a:off x="-807511" y="3240159"/>
            <a:ext cx="477014" cy="477014"/>
          </a:xfrm>
          <a:prstGeom prst="ellipse">
            <a:avLst/>
          </a:prstGeom>
          <a:solidFill>
            <a:srgbClr val="A0B0B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9" name="椭圆 18"/>
          <p:cNvSpPr/>
          <p:nvPr/>
        </p:nvSpPr>
        <p:spPr>
          <a:xfrm>
            <a:off x="-807511" y="4132323"/>
            <a:ext cx="477014" cy="477014"/>
          </a:xfrm>
          <a:prstGeom prst="ellipse">
            <a:avLst/>
          </a:prstGeom>
          <a:solidFill>
            <a:srgbClr val="C9D2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1" name="椭圆 20"/>
          <p:cNvSpPr/>
          <p:nvPr/>
        </p:nvSpPr>
        <p:spPr>
          <a:xfrm>
            <a:off x="7836421" y="-394388"/>
            <a:ext cx="2197265" cy="2197265"/>
          </a:xfrm>
          <a:prstGeom prst="ellipse">
            <a:avLst/>
          </a:prstGeom>
          <a:solidFill>
            <a:srgbClr val="7787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5" name="椭圆 24"/>
          <p:cNvSpPr/>
          <p:nvPr/>
        </p:nvSpPr>
        <p:spPr>
          <a:xfrm>
            <a:off x="6292646" y="3615378"/>
            <a:ext cx="2038210" cy="203821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6" name="椭圆 25"/>
          <p:cNvSpPr/>
          <p:nvPr/>
        </p:nvSpPr>
        <p:spPr>
          <a:xfrm>
            <a:off x="8083405" y="2850102"/>
            <a:ext cx="673979" cy="673979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7" name="椭圆 26"/>
          <p:cNvSpPr/>
          <p:nvPr/>
        </p:nvSpPr>
        <p:spPr>
          <a:xfrm>
            <a:off x="393996" y="-243597"/>
            <a:ext cx="916465" cy="916465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8" name="椭圆 27"/>
          <p:cNvSpPr/>
          <p:nvPr/>
        </p:nvSpPr>
        <p:spPr>
          <a:xfrm>
            <a:off x="-190611" y="4331467"/>
            <a:ext cx="1169214" cy="1169214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0" name="椭圆 29"/>
          <p:cNvSpPr/>
          <p:nvPr/>
        </p:nvSpPr>
        <p:spPr>
          <a:xfrm>
            <a:off x="4865658" y="3809246"/>
            <a:ext cx="769442" cy="769442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7" name="矩形 36"/>
          <p:cNvSpPr/>
          <p:nvPr/>
        </p:nvSpPr>
        <p:spPr>
          <a:xfrm>
            <a:off x="215153" y="274405"/>
            <a:ext cx="8713694" cy="4594690"/>
          </a:xfrm>
          <a:prstGeom prst="rect">
            <a:avLst/>
          </a:prstGeom>
          <a:noFill/>
          <a:ln w="285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6" name="矩形 35"/>
          <p:cNvSpPr/>
          <p:nvPr/>
        </p:nvSpPr>
        <p:spPr>
          <a:xfrm rot="5400000">
            <a:off x="-848148" y="1598602"/>
            <a:ext cx="2172390" cy="338554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en-US" altLang="zh-CN" sz="1600" kern="0">
                <a:solidFill>
                  <a:prstClr val="black">
                    <a:lumMod val="65000"/>
                    <a:lumOff val="35000"/>
                  </a:prstClr>
                </a:solidFill>
                <a:cs typeface="+mn-ea"/>
                <a:sym typeface="+mn-lt"/>
              </a:rPr>
              <a:t>SUMMARY REPORT </a:t>
            </a:r>
            <a:endParaRPr lang="zh-CN" altLang="en-US">
              <a:cs typeface="+mn-ea"/>
              <a:sym typeface="+mn-lt"/>
            </a:endParaRPr>
          </a:p>
        </p:txBody>
      </p:sp>
      <p:sp>
        <p:nvSpPr>
          <p:cNvPr id="38" name="椭圆 37"/>
          <p:cNvSpPr/>
          <p:nvPr/>
        </p:nvSpPr>
        <p:spPr>
          <a:xfrm>
            <a:off x="6355614" y="993263"/>
            <a:ext cx="460508" cy="46050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2" name="PA_矩形 7"/>
          <p:cNvSpPr/>
          <p:nvPr>
            <p:custDataLst>
              <p:tags r:id="rId1"/>
            </p:custDataLst>
          </p:nvPr>
        </p:nvSpPr>
        <p:spPr>
          <a:xfrm>
            <a:off x="3363179" y="2018999"/>
            <a:ext cx="3535680" cy="76835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l" defTabSz="685800">
              <a:defRPr/>
            </a:pPr>
            <a:r>
              <a:rPr lang="zh-CN" altLang="en-US" sz="4400" b="1" kern="0">
                <a:solidFill>
                  <a:schemeClr val="accent3"/>
                </a:solidFill>
                <a:cs typeface="+mn-ea"/>
                <a:sym typeface="+mn-lt"/>
              </a:rPr>
              <a:t>测试阶段分工</a:t>
            </a:r>
            <a:endParaRPr lang="zh-CN" altLang="en-US" sz="4400" b="1" kern="0">
              <a:solidFill>
                <a:schemeClr val="accent3"/>
              </a:solidFill>
              <a:cs typeface="+mn-ea"/>
              <a:sym typeface="+mn-lt"/>
            </a:endParaRPr>
          </a:p>
        </p:txBody>
      </p:sp>
      <p:sp>
        <p:nvSpPr>
          <p:cNvPr id="24" name="矩形: 圆角 23"/>
          <p:cNvSpPr/>
          <p:nvPr/>
        </p:nvSpPr>
        <p:spPr>
          <a:xfrm>
            <a:off x="2211705" y="2105660"/>
            <a:ext cx="793750" cy="59563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矩形 29" descr="e7d195523061f1c09e9d68d7cf438b91ef959ecb14fc25d26BBA7F7DBC18E55DFF4014AF651F0BF2569D4B6C1DA7F1A4683A481403BD872FC687266AD13265C1DE7C373772FD8728ABDD69ADD03BFF5BE2862BC891DBB79E898246E26A37A7D7E7C9DC44FE43D1F30388553B00347CD837D51A8797480C6AF68527F3A808E66C70F7F7545EF53EA9DBB2923F8DF110717A250568B4EE1FE8"/>
          <p:cNvSpPr/>
          <p:nvPr/>
        </p:nvSpPr>
        <p:spPr>
          <a:xfrm>
            <a:off x="395288" y="874735"/>
            <a:ext cx="2424223" cy="3643242"/>
          </a:xfrm>
          <a:prstGeom prst="rect">
            <a:avLst/>
          </a:prstGeom>
          <a:solidFill>
            <a:schemeClr val="accent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36" name="文本框 35" descr="e7d195523061f1c09e9d68d7cf438b91ef959ecb14fc25d26BBA7F7DBC18E55DFF4014AF651F0BF2569D4B6C1DA7F1A4683A481403BD872FC687266AD13265C1DE7C373772FD8728ABDD69ADD03BFF5BE2862BC891DBB79EF84BF418A889B226CF9C0CB1BFFED779B0ECBE1C944F05400A013ADFFA7A2B3CCAAF7701251FF12675319688C370005A869A8358FC9497EA"/>
          <p:cNvSpPr txBox="1"/>
          <p:nvPr/>
        </p:nvSpPr>
        <p:spPr>
          <a:xfrm>
            <a:off x="3811191" y="1999602"/>
            <a:ext cx="84807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>
                <a:solidFill>
                  <a:schemeClr val="bg1"/>
                </a:solidFill>
                <a:cs typeface="+mn-ea"/>
                <a:sym typeface="+mn-lt"/>
              </a:rPr>
              <a:t>80</a:t>
            </a:r>
            <a:r>
              <a:rPr lang="en-US" altLang="zh-CN">
                <a:solidFill>
                  <a:schemeClr val="bg1"/>
                </a:solidFill>
                <a:cs typeface="+mn-ea"/>
                <a:sym typeface="+mn-lt"/>
              </a:rPr>
              <a:t>%</a:t>
            </a:r>
            <a:endParaRPr lang="en-US" altLang="zh-CN" sz="320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51" name="矩形 50" descr="e7d195523061f1c09e9d68d7cf438b91ef959ecb14fc25d26BBA7F7DBC18E55DFF4014AF651F0BF2569D4B6C1DA7F1A4683A481403BD872FC687266AD13265C1DE7C373772FD8728ABDD69ADD03BFF5BE2862BC891DBB79EC884C45A5F465464F4471A44E2E9B6024498CDCB4F20168DAB66C7FAB51F4DF2191988BC51E8947C5543912A7B2AB33F8B6FFDD33C59E19B"/>
          <p:cNvSpPr/>
          <p:nvPr/>
        </p:nvSpPr>
        <p:spPr>
          <a:xfrm>
            <a:off x="3501756" y="3351289"/>
            <a:ext cx="1440979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1400">
                <a:solidFill>
                  <a:schemeClr val="bg1"/>
                </a:solidFill>
                <a:cs typeface="+mn-ea"/>
                <a:sym typeface="+mn-lt"/>
              </a:rPr>
              <a:t>市场数据分析</a:t>
            </a:r>
            <a:endParaRPr lang="zh-CN" altLang="en-US" sz="140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52" name="矩形 51" descr="e7d195523061f1c09e9d68d7cf438b91ef959ecb14fc25d26BBA7F7DBC18E55DFF4014AF651F0BF2569D4B6C1DA7F1A4683A481403BD872FC687266AD13265C1DE7C373772FD8728ABDD69ADD03BFF5BE2862BC891DBB79E48D68EAF9BC0B135F08CB3AA261467E47643FBA29D38A9757F7FFD5B7023D39A21F358D3BB12D2D6D548E32EE07CB42717034D7FAE5F42C8"/>
          <p:cNvSpPr/>
          <p:nvPr/>
        </p:nvSpPr>
        <p:spPr>
          <a:xfrm>
            <a:off x="3383213" y="3659066"/>
            <a:ext cx="1678064" cy="13042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050">
                <a:solidFill>
                  <a:schemeClr val="bg1"/>
                </a:solidFill>
                <a:cs typeface="+mn-ea"/>
                <a:sym typeface="+mn-lt"/>
              </a:rPr>
              <a:t>Lorem ipsum dolor sit amet, consectetuer adipiscing elit. Aenean commodo ligula eget dolor. </a:t>
            </a:r>
            <a:endParaRPr lang="en-US" altLang="zh-CN" sz="105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546100" y="2441575"/>
            <a:ext cx="1913890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endParaRPr lang="en-US" altLang="zh-CN" sz="140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40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实现阶段分工</a:t>
            </a:r>
            <a:endParaRPr lang="zh-CN" altLang="en-US" sz="140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</p:txBody>
      </p:sp>
      <p:graphicFrame>
        <p:nvGraphicFramePr>
          <p:cNvPr id="5" name="表格 4"/>
          <p:cNvGraphicFramePr/>
          <p:nvPr>
            <p:custDataLst>
              <p:tags r:id="rId1"/>
            </p:custDataLst>
          </p:nvPr>
        </p:nvGraphicFramePr>
        <p:xfrm>
          <a:off x="1869440" y="728980"/>
          <a:ext cx="5789930" cy="3327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50595"/>
                <a:gridCol w="4839335"/>
              </a:tblGrid>
              <a:tr h="83185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600" b="0">
                          <a:latin typeface="Calibri" panose="020F0502020204030204" charset="0"/>
                          <a:cs typeface="Calibri" panose="020F0502020204030204" charset="0"/>
                        </a:rPr>
                        <a:t>姓名</a:t>
                      </a:r>
                      <a:endParaRPr lang="en-US" altLang="en-US" sz="1600" b="0">
                        <a:latin typeface="Calibri" panose="020F050202020403020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marL="68580" marR="68580" marT="0" marB="0" vert="horz" anchor="t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6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任务</a:t>
                      </a:r>
                      <a:endParaRPr lang="en-US" altLang="en-US" sz="16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83185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6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牛旷野</a:t>
                      </a:r>
                      <a:endParaRPr lang="en-US" altLang="en-US" sz="16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6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对</a:t>
                      </a:r>
                      <a:r>
                        <a:rPr lang="zh-CN" altLang="en-US" sz="16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用户主页</a:t>
                      </a:r>
                      <a:r>
                        <a:rPr lang="en-US" sz="16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板块进行</a:t>
                      </a:r>
                      <a:r>
                        <a:rPr lang="zh-CN" altLang="en-US" sz="16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测试</a:t>
                      </a:r>
                      <a:endParaRPr lang="zh-CN" altLang="en-US" sz="16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83185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6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卢世逸</a:t>
                      </a:r>
                      <a:endParaRPr lang="en-US" altLang="en-US" sz="16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6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对</a:t>
                      </a:r>
                      <a:r>
                        <a:rPr lang="zh-CN" altLang="en-US" sz="16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后台管理</a:t>
                      </a:r>
                      <a:r>
                        <a:rPr lang="en-US" sz="16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板块进行</a:t>
                      </a:r>
                      <a:r>
                        <a:rPr lang="zh-CN" altLang="en-US" sz="16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测试</a:t>
                      </a:r>
                      <a:endParaRPr lang="zh-CN" altLang="en-US" sz="16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83185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6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孟闻凯</a:t>
                      </a:r>
                      <a:endParaRPr lang="en-US" altLang="en-US" sz="16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6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对</a:t>
                      </a:r>
                      <a:r>
                        <a:rPr lang="zh-CN" altLang="en-US" sz="16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商品主页板块进行测试</a:t>
                      </a:r>
                      <a:endParaRPr lang="zh-CN" altLang="en-US" sz="16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椭圆 4"/>
          <p:cNvSpPr/>
          <p:nvPr/>
        </p:nvSpPr>
        <p:spPr>
          <a:xfrm>
            <a:off x="-807511" y="563665"/>
            <a:ext cx="477014" cy="477014"/>
          </a:xfrm>
          <a:prstGeom prst="ellipse">
            <a:avLst/>
          </a:prstGeom>
          <a:solidFill>
            <a:srgbClr val="F7E9E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6" name="椭圆 15"/>
          <p:cNvSpPr/>
          <p:nvPr/>
        </p:nvSpPr>
        <p:spPr>
          <a:xfrm>
            <a:off x="-807511" y="1455830"/>
            <a:ext cx="477014" cy="477014"/>
          </a:xfrm>
          <a:prstGeom prst="ellipse">
            <a:avLst/>
          </a:prstGeom>
          <a:solidFill>
            <a:srgbClr val="F4D1C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7" name="椭圆 16"/>
          <p:cNvSpPr/>
          <p:nvPr/>
        </p:nvSpPr>
        <p:spPr>
          <a:xfrm>
            <a:off x="-807511" y="2347995"/>
            <a:ext cx="477014" cy="477014"/>
          </a:xfrm>
          <a:prstGeom prst="ellipse">
            <a:avLst/>
          </a:prstGeom>
          <a:solidFill>
            <a:srgbClr val="7787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8" name="椭圆 17"/>
          <p:cNvSpPr/>
          <p:nvPr/>
        </p:nvSpPr>
        <p:spPr>
          <a:xfrm>
            <a:off x="-807511" y="3240159"/>
            <a:ext cx="477014" cy="477014"/>
          </a:xfrm>
          <a:prstGeom prst="ellipse">
            <a:avLst/>
          </a:prstGeom>
          <a:solidFill>
            <a:srgbClr val="A0B0B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9" name="椭圆 18"/>
          <p:cNvSpPr/>
          <p:nvPr/>
        </p:nvSpPr>
        <p:spPr>
          <a:xfrm>
            <a:off x="-807511" y="4132323"/>
            <a:ext cx="477014" cy="477014"/>
          </a:xfrm>
          <a:prstGeom prst="ellipse">
            <a:avLst/>
          </a:prstGeom>
          <a:solidFill>
            <a:srgbClr val="C9D2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1" name="椭圆 20"/>
          <p:cNvSpPr/>
          <p:nvPr/>
        </p:nvSpPr>
        <p:spPr>
          <a:xfrm>
            <a:off x="7836421" y="-394388"/>
            <a:ext cx="2197265" cy="2197265"/>
          </a:xfrm>
          <a:prstGeom prst="ellipse">
            <a:avLst/>
          </a:prstGeom>
          <a:solidFill>
            <a:srgbClr val="7787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5" name="椭圆 24"/>
          <p:cNvSpPr/>
          <p:nvPr/>
        </p:nvSpPr>
        <p:spPr>
          <a:xfrm>
            <a:off x="6292646" y="3615378"/>
            <a:ext cx="2038210" cy="203821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6" name="椭圆 25"/>
          <p:cNvSpPr/>
          <p:nvPr/>
        </p:nvSpPr>
        <p:spPr>
          <a:xfrm>
            <a:off x="8083405" y="2850102"/>
            <a:ext cx="673979" cy="673979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7" name="椭圆 26"/>
          <p:cNvSpPr/>
          <p:nvPr/>
        </p:nvSpPr>
        <p:spPr>
          <a:xfrm>
            <a:off x="393996" y="-243597"/>
            <a:ext cx="916465" cy="916465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8" name="椭圆 27"/>
          <p:cNvSpPr/>
          <p:nvPr/>
        </p:nvSpPr>
        <p:spPr>
          <a:xfrm>
            <a:off x="-190611" y="4331467"/>
            <a:ext cx="1169214" cy="1169214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0" name="椭圆 29"/>
          <p:cNvSpPr/>
          <p:nvPr/>
        </p:nvSpPr>
        <p:spPr>
          <a:xfrm>
            <a:off x="4865658" y="3809246"/>
            <a:ext cx="769442" cy="769442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7" name="矩形 36"/>
          <p:cNvSpPr/>
          <p:nvPr/>
        </p:nvSpPr>
        <p:spPr>
          <a:xfrm>
            <a:off x="215153" y="274405"/>
            <a:ext cx="8713694" cy="4594690"/>
          </a:xfrm>
          <a:prstGeom prst="rect">
            <a:avLst/>
          </a:prstGeom>
          <a:noFill/>
          <a:ln w="285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6" name="矩形 35"/>
          <p:cNvSpPr/>
          <p:nvPr/>
        </p:nvSpPr>
        <p:spPr>
          <a:xfrm rot="5400000">
            <a:off x="-848148" y="1598602"/>
            <a:ext cx="2172390" cy="338554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en-US" altLang="zh-CN" sz="1600" kern="0">
                <a:solidFill>
                  <a:prstClr val="black">
                    <a:lumMod val="65000"/>
                    <a:lumOff val="35000"/>
                  </a:prstClr>
                </a:solidFill>
                <a:cs typeface="+mn-ea"/>
                <a:sym typeface="+mn-lt"/>
              </a:rPr>
              <a:t>SUMMARY REPORT </a:t>
            </a:r>
            <a:endParaRPr lang="zh-CN" altLang="en-US">
              <a:cs typeface="+mn-ea"/>
              <a:sym typeface="+mn-lt"/>
            </a:endParaRPr>
          </a:p>
        </p:txBody>
      </p:sp>
      <p:sp>
        <p:nvSpPr>
          <p:cNvPr id="38" name="椭圆 37"/>
          <p:cNvSpPr/>
          <p:nvPr/>
        </p:nvSpPr>
        <p:spPr>
          <a:xfrm>
            <a:off x="6355614" y="993263"/>
            <a:ext cx="460508" cy="46050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2" name="PA_矩形 7"/>
          <p:cNvSpPr/>
          <p:nvPr>
            <p:custDataLst>
              <p:tags r:id="rId1"/>
            </p:custDataLst>
          </p:nvPr>
        </p:nvSpPr>
        <p:spPr>
          <a:xfrm>
            <a:off x="4485859" y="2085674"/>
            <a:ext cx="2418080" cy="76835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l" defTabSz="685800">
              <a:defRPr/>
            </a:pPr>
            <a:r>
              <a:rPr lang="zh-CN" altLang="en-US" sz="4400" b="1" kern="0">
                <a:solidFill>
                  <a:schemeClr val="accent3"/>
                </a:solidFill>
                <a:cs typeface="+mn-ea"/>
                <a:sym typeface="+mn-lt"/>
              </a:rPr>
              <a:t>会议记录</a:t>
            </a:r>
            <a:endParaRPr lang="zh-CN" altLang="en-US" sz="4400" b="1" kern="0">
              <a:solidFill>
                <a:schemeClr val="accent3"/>
              </a:solidFill>
              <a:cs typeface="+mn-ea"/>
              <a:sym typeface="+mn-lt"/>
            </a:endParaRPr>
          </a:p>
        </p:txBody>
      </p:sp>
      <p:sp>
        <p:nvSpPr>
          <p:cNvPr id="24" name="矩形: 圆角 23"/>
          <p:cNvSpPr/>
          <p:nvPr/>
        </p:nvSpPr>
        <p:spPr>
          <a:xfrm>
            <a:off x="2045335" y="2172335"/>
            <a:ext cx="1949450" cy="59563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矩形 29" descr="e7d195523061f1c09e9d68d7cf438b91ef959ecb14fc25d26BBA7F7DBC18E55DFF4014AF651F0BF2569D4B6C1DA7F1A4683A481403BD872FC687266AD13265C1DE7C373772FD8728ABDD69ADD03BFF5BE2862BC891DBB79E898246E26A37A7D7E7C9DC44FE43D1F30388553B00347CD837D51A8797480C6AF68527F3A808E66C70F7F7545EF53EA9DBB2923F8DF110717A250568B4EE1FE8"/>
          <p:cNvSpPr/>
          <p:nvPr/>
        </p:nvSpPr>
        <p:spPr>
          <a:xfrm>
            <a:off x="395288" y="874735"/>
            <a:ext cx="2424223" cy="3643242"/>
          </a:xfrm>
          <a:prstGeom prst="rect">
            <a:avLst/>
          </a:prstGeom>
          <a:solidFill>
            <a:schemeClr val="accent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36" name="文本框 35" descr="e7d195523061f1c09e9d68d7cf438b91ef959ecb14fc25d26BBA7F7DBC18E55DFF4014AF651F0BF2569D4B6C1DA7F1A4683A481403BD872FC687266AD13265C1DE7C373772FD8728ABDD69ADD03BFF5BE2862BC891DBB79EF84BF418A889B226CF9C0CB1BFFED779B0ECBE1C944F05400A013ADFFA7A2B3CCAAF7701251FF12675319688C370005A869A8358FC9497EA"/>
          <p:cNvSpPr txBox="1"/>
          <p:nvPr/>
        </p:nvSpPr>
        <p:spPr>
          <a:xfrm>
            <a:off x="3811191" y="1999602"/>
            <a:ext cx="84807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>
                <a:solidFill>
                  <a:schemeClr val="bg1"/>
                </a:solidFill>
                <a:cs typeface="+mn-ea"/>
                <a:sym typeface="+mn-lt"/>
              </a:rPr>
              <a:t>80</a:t>
            </a:r>
            <a:r>
              <a:rPr lang="en-US" altLang="zh-CN">
                <a:solidFill>
                  <a:schemeClr val="bg1"/>
                </a:solidFill>
                <a:cs typeface="+mn-ea"/>
                <a:sym typeface="+mn-lt"/>
              </a:rPr>
              <a:t>%</a:t>
            </a:r>
            <a:endParaRPr lang="en-US" altLang="zh-CN" sz="320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51" name="矩形 50" descr="e7d195523061f1c09e9d68d7cf438b91ef959ecb14fc25d26BBA7F7DBC18E55DFF4014AF651F0BF2569D4B6C1DA7F1A4683A481403BD872FC687266AD13265C1DE7C373772FD8728ABDD69ADD03BFF5BE2862BC891DBB79EC884C45A5F465464F4471A44E2E9B6024498CDCB4F20168DAB66C7FAB51F4DF2191988BC51E8947C5543912A7B2AB33F8B6FFDD33C59E19B"/>
          <p:cNvSpPr/>
          <p:nvPr/>
        </p:nvSpPr>
        <p:spPr>
          <a:xfrm>
            <a:off x="3501756" y="3351289"/>
            <a:ext cx="1440979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1400">
                <a:solidFill>
                  <a:schemeClr val="bg1"/>
                </a:solidFill>
                <a:cs typeface="+mn-ea"/>
                <a:sym typeface="+mn-lt"/>
              </a:rPr>
              <a:t>市场数据分析</a:t>
            </a:r>
            <a:endParaRPr lang="zh-CN" altLang="en-US" sz="140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52" name="矩形 51" descr="e7d195523061f1c09e9d68d7cf438b91ef959ecb14fc25d26BBA7F7DBC18E55DFF4014AF651F0BF2569D4B6C1DA7F1A4683A481403BD872FC687266AD13265C1DE7C373772FD8728ABDD69ADD03BFF5BE2862BC891DBB79E48D68EAF9BC0B135F08CB3AA261467E47643FBA29D38A9757F7FFD5B7023D39A21F358D3BB12D2D6D548E32EE07CB42717034D7FAE5F42C8"/>
          <p:cNvSpPr/>
          <p:nvPr/>
        </p:nvSpPr>
        <p:spPr>
          <a:xfrm>
            <a:off x="3383213" y="3659066"/>
            <a:ext cx="1678064" cy="13042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050">
                <a:solidFill>
                  <a:schemeClr val="bg1"/>
                </a:solidFill>
                <a:cs typeface="+mn-ea"/>
                <a:sym typeface="+mn-lt"/>
              </a:rPr>
              <a:t>Lorem ipsum dolor sit amet, consectetuer adipiscing elit. Aenean commodo ligula eget dolor. </a:t>
            </a:r>
            <a:endParaRPr lang="en-US" altLang="zh-CN" sz="105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50875" y="2291080"/>
            <a:ext cx="1913890" cy="10604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endParaRPr lang="en-US" altLang="zh-CN" sz="140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140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会议记录</a:t>
            </a:r>
            <a:endParaRPr lang="en-US" altLang="zh-CN" sz="140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140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65605" y="1406525"/>
            <a:ext cx="5473700" cy="326771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6210" y="385445"/>
            <a:ext cx="6644640" cy="10210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椭圆 4"/>
          <p:cNvSpPr/>
          <p:nvPr/>
        </p:nvSpPr>
        <p:spPr>
          <a:xfrm>
            <a:off x="-807511" y="563665"/>
            <a:ext cx="477014" cy="477014"/>
          </a:xfrm>
          <a:prstGeom prst="ellipse">
            <a:avLst/>
          </a:prstGeom>
          <a:solidFill>
            <a:srgbClr val="F7E9E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6" name="椭圆 15"/>
          <p:cNvSpPr/>
          <p:nvPr/>
        </p:nvSpPr>
        <p:spPr>
          <a:xfrm>
            <a:off x="-807511" y="1455830"/>
            <a:ext cx="477014" cy="477014"/>
          </a:xfrm>
          <a:prstGeom prst="ellipse">
            <a:avLst/>
          </a:prstGeom>
          <a:solidFill>
            <a:srgbClr val="F4D1C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7" name="椭圆 16"/>
          <p:cNvSpPr/>
          <p:nvPr/>
        </p:nvSpPr>
        <p:spPr>
          <a:xfrm>
            <a:off x="-807511" y="2347995"/>
            <a:ext cx="477014" cy="477014"/>
          </a:xfrm>
          <a:prstGeom prst="ellipse">
            <a:avLst/>
          </a:prstGeom>
          <a:solidFill>
            <a:srgbClr val="7787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8" name="椭圆 17"/>
          <p:cNvSpPr/>
          <p:nvPr/>
        </p:nvSpPr>
        <p:spPr>
          <a:xfrm>
            <a:off x="-807511" y="3240159"/>
            <a:ext cx="477014" cy="477014"/>
          </a:xfrm>
          <a:prstGeom prst="ellipse">
            <a:avLst/>
          </a:prstGeom>
          <a:solidFill>
            <a:srgbClr val="A0B0B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9" name="椭圆 18"/>
          <p:cNvSpPr/>
          <p:nvPr/>
        </p:nvSpPr>
        <p:spPr>
          <a:xfrm>
            <a:off x="-807511" y="4132323"/>
            <a:ext cx="477014" cy="477014"/>
          </a:xfrm>
          <a:prstGeom prst="ellipse">
            <a:avLst/>
          </a:prstGeom>
          <a:solidFill>
            <a:srgbClr val="C9D2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1" name="椭圆 20"/>
          <p:cNvSpPr/>
          <p:nvPr/>
        </p:nvSpPr>
        <p:spPr>
          <a:xfrm>
            <a:off x="7836421" y="-394388"/>
            <a:ext cx="2197265" cy="2197265"/>
          </a:xfrm>
          <a:prstGeom prst="ellipse">
            <a:avLst/>
          </a:prstGeom>
          <a:solidFill>
            <a:srgbClr val="7787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5" name="椭圆 24"/>
          <p:cNvSpPr/>
          <p:nvPr/>
        </p:nvSpPr>
        <p:spPr>
          <a:xfrm>
            <a:off x="6292646" y="3615378"/>
            <a:ext cx="2038210" cy="203821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6" name="椭圆 25"/>
          <p:cNvSpPr/>
          <p:nvPr/>
        </p:nvSpPr>
        <p:spPr>
          <a:xfrm>
            <a:off x="8083405" y="2850102"/>
            <a:ext cx="673979" cy="673979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7" name="椭圆 26"/>
          <p:cNvSpPr/>
          <p:nvPr/>
        </p:nvSpPr>
        <p:spPr>
          <a:xfrm>
            <a:off x="393996" y="-243597"/>
            <a:ext cx="916465" cy="916465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8" name="椭圆 27"/>
          <p:cNvSpPr/>
          <p:nvPr/>
        </p:nvSpPr>
        <p:spPr>
          <a:xfrm>
            <a:off x="-190611" y="4331467"/>
            <a:ext cx="1169214" cy="1169214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0" name="椭圆 29"/>
          <p:cNvSpPr/>
          <p:nvPr/>
        </p:nvSpPr>
        <p:spPr>
          <a:xfrm>
            <a:off x="4865658" y="3809246"/>
            <a:ext cx="769442" cy="769442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7" name="矩形 36"/>
          <p:cNvSpPr/>
          <p:nvPr/>
        </p:nvSpPr>
        <p:spPr>
          <a:xfrm>
            <a:off x="215153" y="274405"/>
            <a:ext cx="8713694" cy="4594690"/>
          </a:xfrm>
          <a:prstGeom prst="rect">
            <a:avLst/>
          </a:prstGeom>
          <a:noFill/>
          <a:ln w="285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6" name="矩形 35"/>
          <p:cNvSpPr/>
          <p:nvPr/>
        </p:nvSpPr>
        <p:spPr>
          <a:xfrm rot="5400000">
            <a:off x="-848148" y="1598602"/>
            <a:ext cx="2172390" cy="338554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en-US" altLang="zh-CN" sz="1600" kern="0">
                <a:solidFill>
                  <a:prstClr val="black">
                    <a:lumMod val="65000"/>
                    <a:lumOff val="35000"/>
                  </a:prstClr>
                </a:solidFill>
                <a:cs typeface="+mn-ea"/>
                <a:sym typeface="+mn-lt"/>
              </a:rPr>
              <a:t>SUMMARY REPORT </a:t>
            </a:r>
            <a:endParaRPr lang="zh-CN" altLang="en-US">
              <a:cs typeface="+mn-ea"/>
              <a:sym typeface="+mn-lt"/>
            </a:endParaRPr>
          </a:p>
        </p:txBody>
      </p:sp>
      <p:sp>
        <p:nvSpPr>
          <p:cNvPr id="38" name="椭圆 37"/>
          <p:cNvSpPr/>
          <p:nvPr/>
        </p:nvSpPr>
        <p:spPr>
          <a:xfrm>
            <a:off x="6355614" y="993263"/>
            <a:ext cx="460508" cy="46050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2" name="PA_矩形 7"/>
          <p:cNvSpPr/>
          <p:nvPr>
            <p:custDataLst>
              <p:tags r:id="rId1"/>
            </p:custDataLst>
          </p:nvPr>
        </p:nvSpPr>
        <p:spPr>
          <a:xfrm>
            <a:off x="1755994" y="2187274"/>
            <a:ext cx="4653280" cy="76835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l" defTabSz="685800">
              <a:defRPr/>
            </a:pPr>
            <a:r>
              <a:rPr lang="zh-CN" altLang="en-US" sz="4400" b="1" kern="0">
                <a:solidFill>
                  <a:schemeClr val="accent3"/>
                </a:solidFill>
                <a:cs typeface="+mn-ea"/>
                <a:sym typeface="+mn-lt"/>
              </a:rPr>
              <a:t>甘特图及进程更新</a:t>
            </a:r>
            <a:endParaRPr lang="zh-CN" altLang="en-US" sz="4400" b="1" kern="0">
              <a:solidFill>
                <a:schemeClr val="accent3"/>
              </a:solidFill>
              <a:cs typeface="+mn-ea"/>
              <a:sym typeface="+mn-lt"/>
            </a:endParaRPr>
          </a:p>
        </p:txBody>
      </p:sp>
      <p:sp>
        <p:nvSpPr>
          <p:cNvPr id="24" name="矩形: 圆角 23"/>
          <p:cNvSpPr/>
          <p:nvPr/>
        </p:nvSpPr>
        <p:spPr>
          <a:xfrm>
            <a:off x="3107690" y="1207135"/>
            <a:ext cx="1949450" cy="59563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矩形 29" descr="e7d195523061f1c09e9d68d7cf438b91ef959ecb14fc25d26BBA7F7DBC18E55DFF4014AF651F0BF2569D4B6C1DA7F1A4683A481403BD872FC687266AD13265C1DE7C373772FD8728ABDD69ADD03BFF5BE2862BC891DBB79E898246E26A37A7D7E7C9DC44FE43D1F30388553B00347CD837D51A8797480C6AF68527F3A808E66C70F7F7545EF53EA9DBB2923F8DF110717A250568B4EE1FE8"/>
          <p:cNvSpPr/>
          <p:nvPr/>
        </p:nvSpPr>
        <p:spPr>
          <a:xfrm>
            <a:off x="395288" y="867115"/>
            <a:ext cx="2424223" cy="3643242"/>
          </a:xfrm>
          <a:prstGeom prst="rect">
            <a:avLst/>
          </a:prstGeom>
          <a:solidFill>
            <a:schemeClr val="accent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36" name="文本框 35" descr="e7d195523061f1c09e9d68d7cf438b91ef959ecb14fc25d26BBA7F7DBC18E55DFF4014AF651F0BF2569D4B6C1DA7F1A4683A481403BD872FC687266AD13265C1DE7C373772FD8728ABDD69ADD03BFF5BE2862BC891DBB79EF84BF418A889B226CF9C0CB1BFFED779B0ECBE1C944F05400A013ADFFA7A2B3CCAAF7701251FF12675319688C370005A869A8358FC9497EA"/>
          <p:cNvSpPr txBox="1"/>
          <p:nvPr/>
        </p:nvSpPr>
        <p:spPr>
          <a:xfrm>
            <a:off x="3811191" y="1999602"/>
            <a:ext cx="84807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>
                <a:solidFill>
                  <a:schemeClr val="bg1"/>
                </a:solidFill>
                <a:cs typeface="+mn-ea"/>
                <a:sym typeface="+mn-lt"/>
              </a:rPr>
              <a:t>80</a:t>
            </a:r>
            <a:r>
              <a:rPr lang="en-US" altLang="zh-CN">
                <a:solidFill>
                  <a:schemeClr val="bg1"/>
                </a:solidFill>
                <a:cs typeface="+mn-ea"/>
                <a:sym typeface="+mn-lt"/>
              </a:rPr>
              <a:t>%</a:t>
            </a:r>
            <a:endParaRPr lang="en-US" altLang="zh-CN" sz="320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51" name="矩形 50" descr="e7d195523061f1c09e9d68d7cf438b91ef959ecb14fc25d26BBA7F7DBC18E55DFF4014AF651F0BF2569D4B6C1DA7F1A4683A481403BD872FC687266AD13265C1DE7C373772FD8728ABDD69ADD03BFF5BE2862BC891DBB79EC884C45A5F465464F4471A44E2E9B6024498CDCB4F20168DAB66C7FAB51F4DF2191988BC51E8947C5543912A7B2AB33F8B6FFDD33C59E19B"/>
          <p:cNvSpPr/>
          <p:nvPr/>
        </p:nvSpPr>
        <p:spPr>
          <a:xfrm>
            <a:off x="3501756" y="3351289"/>
            <a:ext cx="1440979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1400">
                <a:solidFill>
                  <a:schemeClr val="bg1"/>
                </a:solidFill>
                <a:cs typeface="+mn-ea"/>
                <a:sym typeface="+mn-lt"/>
              </a:rPr>
              <a:t>市场数据分析</a:t>
            </a:r>
            <a:endParaRPr lang="zh-CN" altLang="en-US" sz="140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52" name="矩形 51" descr="e7d195523061f1c09e9d68d7cf438b91ef959ecb14fc25d26BBA7F7DBC18E55DFF4014AF651F0BF2569D4B6C1DA7F1A4683A481403BD872FC687266AD13265C1DE7C373772FD8728ABDD69ADD03BFF5BE2862BC891DBB79E48D68EAF9BC0B135F08CB3AA261467E47643FBA29D38A9757F7FFD5B7023D39A21F358D3BB12D2D6D548E32EE07CB42717034D7FAE5F42C8"/>
          <p:cNvSpPr/>
          <p:nvPr/>
        </p:nvSpPr>
        <p:spPr>
          <a:xfrm>
            <a:off x="3383213" y="3659066"/>
            <a:ext cx="1678064" cy="13042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050">
                <a:solidFill>
                  <a:schemeClr val="bg1"/>
                </a:solidFill>
                <a:cs typeface="+mn-ea"/>
                <a:sym typeface="+mn-lt"/>
              </a:rPr>
              <a:t>Lorem ipsum dolor sit amet, consectetuer adipiscing elit. Aenean commodo ligula eget dolor. </a:t>
            </a:r>
            <a:endParaRPr lang="en-US" altLang="zh-CN" sz="105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95605" y="1720215"/>
            <a:ext cx="1028065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endParaRPr lang="en-US" altLang="zh-CN" sz="140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zh-CN" sz="140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甘特图</a:t>
            </a:r>
            <a:endParaRPr lang="zh-CN" sz="140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22525" y="500380"/>
            <a:ext cx="4153535" cy="414274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矩形 29" descr="e7d195523061f1c09e9d68d7cf438b91ef959ecb14fc25d26BBA7F7DBC18E55DFF4014AF651F0BF2569D4B6C1DA7F1A4683A481403BD872FC687266AD13265C1DE7C373772FD8728ABDD69ADD03BFF5BE2862BC891DBB79E898246E26A37A7D7E7C9DC44FE43D1F30388553B00347CD837D51A8797480C6AF68527F3A808E66C70F7F7545EF53EA9DBB2923F8DF110717A250568B4EE1FE8"/>
          <p:cNvSpPr/>
          <p:nvPr/>
        </p:nvSpPr>
        <p:spPr>
          <a:xfrm>
            <a:off x="395288" y="867115"/>
            <a:ext cx="2424223" cy="3643242"/>
          </a:xfrm>
          <a:prstGeom prst="rect">
            <a:avLst/>
          </a:prstGeom>
          <a:solidFill>
            <a:schemeClr val="accent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36" name="文本框 35" descr="e7d195523061f1c09e9d68d7cf438b91ef959ecb14fc25d26BBA7F7DBC18E55DFF4014AF651F0BF2569D4B6C1DA7F1A4683A481403BD872FC687266AD13265C1DE7C373772FD8728ABDD69ADD03BFF5BE2862BC891DBB79EF84BF418A889B226CF9C0CB1BFFED779B0ECBE1C944F05400A013ADFFA7A2B3CCAAF7701251FF12675319688C370005A869A8358FC9497EA"/>
          <p:cNvSpPr txBox="1"/>
          <p:nvPr/>
        </p:nvSpPr>
        <p:spPr>
          <a:xfrm>
            <a:off x="3811191" y="1999602"/>
            <a:ext cx="84807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>
                <a:solidFill>
                  <a:schemeClr val="bg1"/>
                </a:solidFill>
                <a:cs typeface="+mn-ea"/>
                <a:sym typeface="+mn-lt"/>
              </a:rPr>
              <a:t>80</a:t>
            </a:r>
            <a:r>
              <a:rPr lang="en-US" altLang="zh-CN">
                <a:solidFill>
                  <a:schemeClr val="bg1"/>
                </a:solidFill>
                <a:cs typeface="+mn-ea"/>
                <a:sym typeface="+mn-lt"/>
              </a:rPr>
              <a:t>%</a:t>
            </a:r>
            <a:endParaRPr lang="en-US" altLang="zh-CN" sz="320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51" name="矩形 50" descr="e7d195523061f1c09e9d68d7cf438b91ef959ecb14fc25d26BBA7F7DBC18E55DFF4014AF651F0BF2569D4B6C1DA7F1A4683A481403BD872FC687266AD13265C1DE7C373772FD8728ABDD69ADD03BFF5BE2862BC891DBB79EC884C45A5F465464F4471A44E2E9B6024498CDCB4F20168DAB66C7FAB51F4DF2191988BC51E8947C5543912A7B2AB33F8B6FFDD33C59E19B"/>
          <p:cNvSpPr/>
          <p:nvPr/>
        </p:nvSpPr>
        <p:spPr>
          <a:xfrm>
            <a:off x="3501756" y="3351289"/>
            <a:ext cx="1440979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1400">
                <a:solidFill>
                  <a:schemeClr val="bg1"/>
                </a:solidFill>
                <a:cs typeface="+mn-ea"/>
                <a:sym typeface="+mn-lt"/>
              </a:rPr>
              <a:t>市场数据分析</a:t>
            </a:r>
            <a:endParaRPr lang="zh-CN" altLang="en-US" sz="140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52" name="矩形 51" descr="e7d195523061f1c09e9d68d7cf438b91ef959ecb14fc25d26BBA7F7DBC18E55DFF4014AF651F0BF2569D4B6C1DA7F1A4683A481403BD872FC687266AD13265C1DE7C373772FD8728ABDD69ADD03BFF5BE2862BC891DBB79E48D68EAF9BC0B135F08CB3AA261467E47643FBA29D38A9757F7FFD5B7023D39A21F358D3BB12D2D6D548E32EE07CB42717034D7FAE5F42C8"/>
          <p:cNvSpPr/>
          <p:nvPr/>
        </p:nvSpPr>
        <p:spPr>
          <a:xfrm>
            <a:off x="3383213" y="3659066"/>
            <a:ext cx="1678064" cy="13042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050">
                <a:solidFill>
                  <a:schemeClr val="bg1"/>
                </a:solidFill>
                <a:cs typeface="+mn-ea"/>
                <a:sym typeface="+mn-lt"/>
              </a:rPr>
              <a:t>Lorem ipsum dolor sit amet, consectetuer adipiscing elit. Aenean commodo ligula eget dolor. </a:t>
            </a:r>
            <a:endParaRPr lang="en-US" altLang="zh-CN" sz="105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95605" y="1720215"/>
            <a:ext cx="1028065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endParaRPr lang="en-US" altLang="zh-CN" sz="140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zh-CN" sz="140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甘特图</a:t>
            </a:r>
            <a:endParaRPr lang="zh-CN" sz="140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2730" y="664845"/>
            <a:ext cx="7621270" cy="336105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矩形 29" descr="e7d195523061f1c09e9d68d7cf438b91ef959ecb14fc25d26BBA7F7DBC18E55DFF4014AF651F0BF2569D4B6C1DA7F1A4683A481403BD872FC687266AD13265C1DE7C373772FD8728ABDD69ADD03BFF5BE2862BC891DBB79E898246E26A37A7D7E7C9DC44FE43D1F30388553B00347CD837D51A8797480C6AF68527F3A808E66C70F7F7545EF53EA9DBB2923F8DF110717A250568B4EE1FE8"/>
          <p:cNvSpPr/>
          <p:nvPr/>
        </p:nvSpPr>
        <p:spPr>
          <a:xfrm>
            <a:off x="395288" y="867115"/>
            <a:ext cx="2424223" cy="3643242"/>
          </a:xfrm>
          <a:prstGeom prst="rect">
            <a:avLst/>
          </a:prstGeom>
          <a:solidFill>
            <a:schemeClr val="accent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36" name="文本框 35" descr="e7d195523061f1c09e9d68d7cf438b91ef959ecb14fc25d26BBA7F7DBC18E55DFF4014AF651F0BF2569D4B6C1DA7F1A4683A481403BD872FC687266AD13265C1DE7C373772FD8728ABDD69ADD03BFF5BE2862BC891DBB79EF84BF418A889B226CF9C0CB1BFFED779B0ECBE1C944F05400A013ADFFA7A2B3CCAAF7701251FF12675319688C370005A869A8358FC9497EA"/>
          <p:cNvSpPr txBox="1"/>
          <p:nvPr/>
        </p:nvSpPr>
        <p:spPr>
          <a:xfrm>
            <a:off x="3811191" y="1999602"/>
            <a:ext cx="84807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>
                <a:solidFill>
                  <a:schemeClr val="bg1"/>
                </a:solidFill>
                <a:cs typeface="+mn-ea"/>
                <a:sym typeface="+mn-lt"/>
              </a:rPr>
              <a:t>80</a:t>
            </a:r>
            <a:r>
              <a:rPr lang="en-US" altLang="zh-CN">
                <a:solidFill>
                  <a:schemeClr val="bg1"/>
                </a:solidFill>
                <a:cs typeface="+mn-ea"/>
                <a:sym typeface="+mn-lt"/>
              </a:rPr>
              <a:t>%</a:t>
            </a:r>
            <a:endParaRPr lang="en-US" altLang="zh-CN" sz="320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51" name="矩形 50" descr="e7d195523061f1c09e9d68d7cf438b91ef959ecb14fc25d26BBA7F7DBC18E55DFF4014AF651F0BF2569D4B6C1DA7F1A4683A481403BD872FC687266AD13265C1DE7C373772FD8728ABDD69ADD03BFF5BE2862BC891DBB79EC884C45A5F465464F4471A44E2E9B6024498CDCB4F20168DAB66C7FAB51F4DF2191988BC51E8947C5543912A7B2AB33F8B6FFDD33C59E19B"/>
          <p:cNvSpPr/>
          <p:nvPr/>
        </p:nvSpPr>
        <p:spPr>
          <a:xfrm>
            <a:off x="3501756" y="3351289"/>
            <a:ext cx="1440979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1400">
                <a:solidFill>
                  <a:schemeClr val="bg1"/>
                </a:solidFill>
                <a:cs typeface="+mn-ea"/>
                <a:sym typeface="+mn-lt"/>
              </a:rPr>
              <a:t>市场数据分析</a:t>
            </a:r>
            <a:endParaRPr lang="zh-CN" altLang="en-US" sz="140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52" name="矩形 51" descr="e7d195523061f1c09e9d68d7cf438b91ef959ecb14fc25d26BBA7F7DBC18E55DFF4014AF651F0BF2569D4B6C1DA7F1A4683A481403BD872FC687266AD13265C1DE7C373772FD8728ABDD69ADD03BFF5BE2862BC891DBB79E48D68EAF9BC0B135F08CB3AA261467E47643FBA29D38A9757F7FFD5B7023D39A21F358D3BB12D2D6D548E32EE07CB42717034D7FAE5F42C8"/>
          <p:cNvSpPr/>
          <p:nvPr/>
        </p:nvSpPr>
        <p:spPr>
          <a:xfrm>
            <a:off x="3383213" y="3659066"/>
            <a:ext cx="1678064" cy="13042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050">
                <a:solidFill>
                  <a:schemeClr val="bg1"/>
                </a:solidFill>
                <a:cs typeface="+mn-ea"/>
                <a:sym typeface="+mn-lt"/>
              </a:rPr>
              <a:t>Lorem ipsum dolor sit amet, consectetuer adipiscing elit. Aenean commodo ligula eget dolor. </a:t>
            </a:r>
            <a:endParaRPr lang="en-US" altLang="zh-CN" sz="105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95605" y="1720215"/>
            <a:ext cx="1028065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endParaRPr lang="en-US" altLang="zh-CN" sz="140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zh-CN" sz="140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甘特图</a:t>
            </a:r>
            <a:endParaRPr lang="zh-CN" sz="140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59255" y="622935"/>
            <a:ext cx="6784975" cy="403352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矩形 29" descr="e7d195523061f1c09e9d68d7cf438b91ef959ecb14fc25d26BBA7F7DBC18E55DFF4014AF651F0BF2569D4B6C1DA7F1A4683A481403BD872FC687266AD13265C1DE7C373772FD8728ABDD69ADD03BFF5BE2862BC891DBB79E898246E26A37A7D7E7C9DC44FE43D1F30388553B00347CD837D51A8797480C6AF68527F3A808E66C70F7F7545EF53EA9DBB2923F8DF110717A250568B4EE1FE8"/>
          <p:cNvSpPr/>
          <p:nvPr/>
        </p:nvSpPr>
        <p:spPr>
          <a:xfrm>
            <a:off x="395288" y="867115"/>
            <a:ext cx="2424223" cy="3643242"/>
          </a:xfrm>
          <a:prstGeom prst="rect">
            <a:avLst/>
          </a:prstGeom>
          <a:solidFill>
            <a:schemeClr val="accent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36" name="文本框 35" descr="e7d195523061f1c09e9d68d7cf438b91ef959ecb14fc25d26BBA7F7DBC18E55DFF4014AF651F0BF2569D4B6C1DA7F1A4683A481403BD872FC687266AD13265C1DE7C373772FD8728ABDD69ADD03BFF5BE2862BC891DBB79EF84BF418A889B226CF9C0CB1BFFED779B0ECBE1C944F05400A013ADFFA7A2B3CCAAF7701251FF12675319688C370005A869A8358FC9497EA"/>
          <p:cNvSpPr txBox="1"/>
          <p:nvPr/>
        </p:nvSpPr>
        <p:spPr>
          <a:xfrm>
            <a:off x="3811191" y="1999602"/>
            <a:ext cx="84807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>
                <a:solidFill>
                  <a:schemeClr val="bg1"/>
                </a:solidFill>
                <a:cs typeface="+mn-ea"/>
                <a:sym typeface="+mn-lt"/>
              </a:rPr>
              <a:t>80</a:t>
            </a:r>
            <a:r>
              <a:rPr lang="en-US" altLang="zh-CN">
                <a:solidFill>
                  <a:schemeClr val="bg1"/>
                </a:solidFill>
                <a:cs typeface="+mn-ea"/>
                <a:sym typeface="+mn-lt"/>
              </a:rPr>
              <a:t>%</a:t>
            </a:r>
            <a:endParaRPr lang="en-US" altLang="zh-CN" sz="320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51" name="矩形 50" descr="e7d195523061f1c09e9d68d7cf438b91ef959ecb14fc25d26BBA7F7DBC18E55DFF4014AF651F0BF2569D4B6C1DA7F1A4683A481403BD872FC687266AD13265C1DE7C373772FD8728ABDD69ADD03BFF5BE2862BC891DBB79EC884C45A5F465464F4471A44E2E9B6024498CDCB4F20168DAB66C7FAB51F4DF2191988BC51E8947C5543912A7B2AB33F8B6FFDD33C59E19B"/>
          <p:cNvSpPr/>
          <p:nvPr/>
        </p:nvSpPr>
        <p:spPr>
          <a:xfrm>
            <a:off x="3501756" y="3351289"/>
            <a:ext cx="1440979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1400">
                <a:solidFill>
                  <a:schemeClr val="bg1"/>
                </a:solidFill>
                <a:cs typeface="+mn-ea"/>
                <a:sym typeface="+mn-lt"/>
              </a:rPr>
              <a:t>市场数据分析</a:t>
            </a:r>
            <a:endParaRPr lang="zh-CN" altLang="en-US" sz="140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52" name="矩形 51" descr="e7d195523061f1c09e9d68d7cf438b91ef959ecb14fc25d26BBA7F7DBC18E55DFF4014AF651F0BF2569D4B6C1DA7F1A4683A481403BD872FC687266AD13265C1DE7C373772FD8728ABDD69ADD03BFF5BE2862BC891DBB79E48D68EAF9BC0B135F08CB3AA261467E47643FBA29D38A9757F7FFD5B7023D39A21F358D3BB12D2D6D548E32EE07CB42717034D7FAE5F42C8"/>
          <p:cNvSpPr/>
          <p:nvPr/>
        </p:nvSpPr>
        <p:spPr>
          <a:xfrm>
            <a:off x="3383213" y="3659066"/>
            <a:ext cx="1678064" cy="13042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050">
                <a:solidFill>
                  <a:schemeClr val="bg1"/>
                </a:solidFill>
                <a:cs typeface="+mn-ea"/>
                <a:sym typeface="+mn-lt"/>
              </a:rPr>
              <a:t>Lorem ipsum dolor sit amet, consectetuer adipiscing elit. Aenean commodo ligula eget dolor. </a:t>
            </a:r>
            <a:endParaRPr lang="en-US" altLang="zh-CN" sz="105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95605" y="2922270"/>
            <a:ext cx="225425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endParaRPr lang="en-US" altLang="zh-CN" sz="140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zh-CN" b="1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项目计划更新</a:t>
            </a:r>
            <a:endParaRPr lang="zh-CN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60295" y="323850"/>
            <a:ext cx="5252720" cy="440880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椭圆 4"/>
          <p:cNvSpPr/>
          <p:nvPr/>
        </p:nvSpPr>
        <p:spPr>
          <a:xfrm>
            <a:off x="-807511" y="563665"/>
            <a:ext cx="477014" cy="477014"/>
          </a:xfrm>
          <a:prstGeom prst="ellipse">
            <a:avLst/>
          </a:prstGeom>
          <a:solidFill>
            <a:srgbClr val="F7E9E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6" name="椭圆 15"/>
          <p:cNvSpPr/>
          <p:nvPr/>
        </p:nvSpPr>
        <p:spPr>
          <a:xfrm>
            <a:off x="-807511" y="1455830"/>
            <a:ext cx="477014" cy="477014"/>
          </a:xfrm>
          <a:prstGeom prst="ellipse">
            <a:avLst/>
          </a:prstGeom>
          <a:solidFill>
            <a:srgbClr val="F4D1C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7" name="椭圆 16"/>
          <p:cNvSpPr/>
          <p:nvPr/>
        </p:nvSpPr>
        <p:spPr>
          <a:xfrm>
            <a:off x="-807511" y="2347995"/>
            <a:ext cx="477014" cy="477014"/>
          </a:xfrm>
          <a:prstGeom prst="ellipse">
            <a:avLst/>
          </a:prstGeom>
          <a:solidFill>
            <a:srgbClr val="7787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8" name="椭圆 17"/>
          <p:cNvSpPr/>
          <p:nvPr/>
        </p:nvSpPr>
        <p:spPr>
          <a:xfrm>
            <a:off x="-807511" y="3240159"/>
            <a:ext cx="477014" cy="477014"/>
          </a:xfrm>
          <a:prstGeom prst="ellipse">
            <a:avLst/>
          </a:prstGeom>
          <a:solidFill>
            <a:srgbClr val="A0B0B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9" name="椭圆 18"/>
          <p:cNvSpPr/>
          <p:nvPr/>
        </p:nvSpPr>
        <p:spPr>
          <a:xfrm>
            <a:off x="-807511" y="4132323"/>
            <a:ext cx="477014" cy="477014"/>
          </a:xfrm>
          <a:prstGeom prst="ellipse">
            <a:avLst/>
          </a:prstGeom>
          <a:solidFill>
            <a:srgbClr val="C9D2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1" name="椭圆 20"/>
          <p:cNvSpPr/>
          <p:nvPr/>
        </p:nvSpPr>
        <p:spPr>
          <a:xfrm>
            <a:off x="7836421" y="-394388"/>
            <a:ext cx="2197265" cy="2197265"/>
          </a:xfrm>
          <a:prstGeom prst="ellipse">
            <a:avLst/>
          </a:prstGeom>
          <a:solidFill>
            <a:srgbClr val="7787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5" name="椭圆 24"/>
          <p:cNvSpPr/>
          <p:nvPr/>
        </p:nvSpPr>
        <p:spPr>
          <a:xfrm>
            <a:off x="6292646" y="3615378"/>
            <a:ext cx="2038210" cy="203821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6" name="椭圆 25"/>
          <p:cNvSpPr/>
          <p:nvPr/>
        </p:nvSpPr>
        <p:spPr>
          <a:xfrm>
            <a:off x="8083405" y="2850102"/>
            <a:ext cx="673979" cy="673979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7" name="椭圆 26"/>
          <p:cNvSpPr/>
          <p:nvPr/>
        </p:nvSpPr>
        <p:spPr>
          <a:xfrm>
            <a:off x="393996" y="-243597"/>
            <a:ext cx="916465" cy="916465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8" name="椭圆 27"/>
          <p:cNvSpPr/>
          <p:nvPr/>
        </p:nvSpPr>
        <p:spPr>
          <a:xfrm>
            <a:off x="-190611" y="4331467"/>
            <a:ext cx="1169214" cy="1169214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0" name="椭圆 29"/>
          <p:cNvSpPr/>
          <p:nvPr/>
        </p:nvSpPr>
        <p:spPr>
          <a:xfrm>
            <a:off x="4865658" y="3809246"/>
            <a:ext cx="769442" cy="769442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7" name="矩形 36"/>
          <p:cNvSpPr/>
          <p:nvPr/>
        </p:nvSpPr>
        <p:spPr>
          <a:xfrm>
            <a:off x="215153" y="274405"/>
            <a:ext cx="8713694" cy="4594690"/>
          </a:xfrm>
          <a:prstGeom prst="rect">
            <a:avLst/>
          </a:prstGeom>
          <a:noFill/>
          <a:ln w="285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6" name="矩形 35"/>
          <p:cNvSpPr/>
          <p:nvPr/>
        </p:nvSpPr>
        <p:spPr>
          <a:xfrm rot="5400000">
            <a:off x="-848148" y="1598602"/>
            <a:ext cx="2172390" cy="338554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en-US" altLang="zh-CN" sz="1600" kern="0">
                <a:solidFill>
                  <a:prstClr val="black">
                    <a:lumMod val="65000"/>
                    <a:lumOff val="35000"/>
                  </a:prstClr>
                </a:solidFill>
                <a:cs typeface="+mn-ea"/>
                <a:sym typeface="+mn-lt"/>
              </a:rPr>
              <a:t>SUMMARY REPORT </a:t>
            </a:r>
            <a:endParaRPr lang="zh-CN" altLang="en-US">
              <a:cs typeface="+mn-ea"/>
              <a:sym typeface="+mn-lt"/>
            </a:endParaRPr>
          </a:p>
        </p:txBody>
      </p:sp>
      <p:sp>
        <p:nvSpPr>
          <p:cNvPr id="38" name="椭圆 37"/>
          <p:cNvSpPr/>
          <p:nvPr/>
        </p:nvSpPr>
        <p:spPr>
          <a:xfrm>
            <a:off x="6355614" y="993263"/>
            <a:ext cx="460508" cy="46050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2" name="PA_矩形 7"/>
          <p:cNvSpPr/>
          <p:nvPr>
            <p:custDataLst>
              <p:tags r:id="rId1"/>
            </p:custDataLst>
          </p:nvPr>
        </p:nvSpPr>
        <p:spPr>
          <a:xfrm>
            <a:off x="4485859" y="2085674"/>
            <a:ext cx="2418080" cy="76835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l" defTabSz="685800">
              <a:defRPr/>
            </a:pPr>
            <a:r>
              <a:rPr lang="zh-CN" altLang="en-US" sz="4400" b="1" kern="0">
                <a:solidFill>
                  <a:schemeClr val="accent3"/>
                </a:solidFill>
                <a:cs typeface="+mn-ea"/>
                <a:sym typeface="+mn-lt"/>
              </a:rPr>
              <a:t>绩效评价</a:t>
            </a:r>
            <a:endParaRPr lang="zh-CN" altLang="en-US" sz="4400" b="1" kern="0">
              <a:solidFill>
                <a:schemeClr val="accent3"/>
              </a:solidFill>
              <a:cs typeface="+mn-ea"/>
              <a:sym typeface="+mn-lt"/>
            </a:endParaRPr>
          </a:p>
        </p:txBody>
      </p:sp>
      <p:sp>
        <p:nvSpPr>
          <p:cNvPr id="24" name="矩形: 圆角 23"/>
          <p:cNvSpPr/>
          <p:nvPr/>
        </p:nvSpPr>
        <p:spPr>
          <a:xfrm>
            <a:off x="2045335" y="2172335"/>
            <a:ext cx="1949450" cy="59563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图片占位符 1"/>
          <p:cNvSpPr>
            <a:spLocks noGrp="1"/>
          </p:cNvSpPr>
          <p:nvPr>
            <p:ph type="pic" sz="quarter" idx="13"/>
          </p:nvPr>
        </p:nvSpPr>
        <p:spPr/>
      </p:sp>
      <p:sp>
        <p:nvSpPr>
          <p:cNvPr id="3" name="标题 2"/>
          <p:cNvSpPr>
            <a:spLocks noGrp="1"/>
          </p:cNvSpPr>
          <p:nvPr>
            <p:ph type="ctrTitle"/>
          </p:nvPr>
        </p:nvSpPr>
        <p:spPr>
          <a:xfrm>
            <a:off x="107100" y="108000"/>
            <a:ext cx="8518880" cy="4491629"/>
          </a:xfrm>
        </p:spPr>
        <p:txBody>
          <a:bodyPr/>
          <a:lstStyle/>
          <a:p>
            <a:pPr algn="l"/>
            <a:r>
              <a:rPr lang="zh-CN" altLang="en-US" sz="2700" dirty="0"/>
              <a:t>当前阶段成员打分</a:t>
            </a:r>
            <a:endParaRPr lang="zh-CN" altLang="en-US" sz="2700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19B51A1E-902D-48AF-9020-955120F399B6}" type="slidenum">
              <a:rPr lang="en-US" sz="1350" noProof="0" smtClean="0"/>
            </a:fld>
            <a:endParaRPr lang="en-US" sz="1350" noProof="0" dirty="0"/>
          </a:p>
        </p:txBody>
      </p:sp>
      <p:graphicFrame>
        <p:nvGraphicFramePr>
          <p:cNvPr id="6" name="表格 6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297180" y="881063"/>
          <a:ext cx="8332470" cy="34397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88745"/>
                <a:gridCol w="3634740"/>
                <a:gridCol w="916940"/>
                <a:gridCol w="786765"/>
                <a:gridCol w="840740"/>
                <a:gridCol w="764540"/>
              </a:tblGrid>
              <a:tr h="37719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zh-CN" altLang="en-US" sz="1015" dirty="0">
                          <a:solidFill>
                            <a:srgbClr val="FF0000"/>
                          </a:solidFill>
                        </a:rPr>
                        <a:t>小组成员</a:t>
                      </a:r>
                      <a:endParaRPr lang="zh-CN" altLang="en-US" sz="1015" dirty="0">
                        <a:solidFill>
                          <a:srgbClr val="FF0000"/>
                        </a:solidFill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zh-CN" altLang="en-US" sz="1015" dirty="0">
                          <a:solidFill>
                            <a:srgbClr val="FF0000"/>
                          </a:solidFill>
                        </a:rPr>
                        <a:t>分工</a:t>
                      </a:r>
                      <a:endParaRPr lang="zh-CN" altLang="en-US" sz="1015" dirty="0">
                        <a:solidFill>
                          <a:srgbClr val="FF0000"/>
                        </a:solidFill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zh-CN" altLang="en-US" sz="1015" dirty="0">
                          <a:solidFill>
                            <a:srgbClr val="FF0000"/>
                          </a:solidFill>
                        </a:rPr>
                        <a:t>牛旷野打分</a:t>
                      </a:r>
                      <a:endParaRPr lang="zh-CN" altLang="en-US" sz="1015" dirty="0">
                        <a:solidFill>
                          <a:srgbClr val="FF0000"/>
                        </a:solidFill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zh-CN" altLang="en-US" sz="1015" dirty="0">
                          <a:solidFill>
                            <a:srgbClr val="FF0000"/>
                          </a:solidFill>
                        </a:rPr>
                        <a:t>卢世逸打分</a:t>
                      </a:r>
                      <a:endParaRPr lang="zh-CN" altLang="en-US" sz="1015" dirty="0">
                        <a:solidFill>
                          <a:srgbClr val="FF0000"/>
                        </a:solidFill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zh-CN" altLang="en-US" sz="1015" dirty="0">
                          <a:solidFill>
                            <a:srgbClr val="FF0000"/>
                          </a:solidFill>
                        </a:rPr>
                        <a:t>孟闻凯打分</a:t>
                      </a:r>
                      <a:endParaRPr lang="zh-CN" altLang="en-US" sz="1015" dirty="0">
                        <a:solidFill>
                          <a:srgbClr val="FF0000"/>
                        </a:solidFill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zh-CN" altLang="en-US" sz="1015" dirty="0">
                          <a:solidFill>
                            <a:srgbClr val="FF0000"/>
                          </a:solidFill>
                        </a:rPr>
                        <a:t>得分</a:t>
                      </a:r>
                      <a:endParaRPr lang="zh-CN" altLang="en-US" sz="1015" dirty="0">
                        <a:solidFill>
                          <a:srgbClr val="FF0000"/>
                        </a:solidFill>
                      </a:endParaRPr>
                    </a:p>
                  </a:txBody>
                  <a:tcPr marL="68580" marR="68580" marT="34290" marB="34290"/>
                </a:tc>
              </a:tr>
              <a:tr h="130302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zh-CN" altLang="en-US" sz="1015" dirty="0"/>
                        <a:t>牛旷野</a:t>
                      </a:r>
                      <a:endParaRPr lang="zh-CN" altLang="en-US" sz="1015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zh-CN" altLang="en-US" sz="1015" dirty="0"/>
                        <a:t>登录，注册，首页模块编写，</a:t>
                      </a:r>
                      <a:r>
                        <a:rPr lang="en-US" altLang="zh-CN" sz="1015" dirty="0"/>
                        <a:t>ppt</a:t>
                      </a:r>
                      <a:r>
                        <a:rPr lang="zh-CN" altLang="en-US" sz="1015" dirty="0"/>
                        <a:t>制作，用户主页部分测试</a:t>
                      </a:r>
                      <a:endParaRPr lang="zh-CN" altLang="en-US" sz="1015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015" dirty="0"/>
                        <a:t>90</a:t>
                      </a:r>
                      <a:endParaRPr lang="en-US" sz="1015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zh-CN" sz="1015" dirty="0"/>
                        <a:t>91</a:t>
                      </a:r>
                      <a:endParaRPr lang="en-US" altLang="zh-CN" sz="1015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015" dirty="0"/>
                        <a:t>89</a:t>
                      </a:r>
                      <a:endParaRPr lang="en-US" sz="1015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1015" dirty="0"/>
                        <a:t>90</a:t>
                      </a:r>
                      <a:endParaRPr lang="en-US" altLang="zh-CN" sz="1015" dirty="0"/>
                    </a:p>
                  </a:txBody>
                  <a:tcPr marL="68580" marR="68580" marT="34290" marB="34290"/>
                </a:tc>
              </a:tr>
              <a:tr h="99441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zh-CN" altLang="en-US" sz="1015" dirty="0"/>
                        <a:t>卢世逸</a:t>
                      </a:r>
                      <a:endParaRPr lang="zh-CN" altLang="en-US" sz="1015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zh-CN" sz="1015" dirty="0"/>
                        <a:t>用户中心模块功能编写，后台管理部分测试</a:t>
                      </a:r>
                      <a:endParaRPr lang="zh-CN" sz="1010" dirty="0">
                        <a:sym typeface="+mn-ea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zh-CN" sz="1015" dirty="0"/>
                        <a:t>85</a:t>
                      </a:r>
                      <a:endParaRPr lang="en-US" altLang="zh-CN" sz="1015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zh-CN" sz="1015" dirty="0"/>
                        <a:t>84</a:t>
                      </a:r>
                      <a:endParaRPr lang="en-US" altLang="zh-CN" sz="1015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015" dirty="0"/>
                        <a:t>86</a:t>
                      </a:r>
                      <a:endParaRPr lang="en-US" sz="1015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1015" dirty="0"/>
                        <a:t>85.1</a:t>
                      </a:r>
                      <a:endParaRPr lang="en-US" altLang="zh-CN" sz="1015" dirty="0"/>
                    </a:p>
                  </a:txBody>
                  <a:tcPr marL="68580" marR="68580" marT="34290" marB="34290"/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zh-CN" altLang="en-US" sz="1015" dirty="0"/>
                        <a:t>孟闻凯</a:t>
                      </a:r>
                      <a:endParaRPr lang="zh-CN" altLang="en-US" sz="1015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zh-CN" sz="1015" dirty="0"/>
                        <a:t>前端页面学习并编写，后台管理模块编写，首页模块测试</a:t>
                      </a:r>
                      <a:endParaRPr lang="zh-CN" sz="1015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015" dirty="0">
                          <a:ea typeface="宋体" panose="02010600030101010101" pitchFamily="2" charset="-122"/>
                        </a:rPr>
                        <a:t>86</a:t>
                      </a:r>
                      <a:endParaRPr lang="en-US" sz="1015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zh-CN" sz="1015" dirty="0"/>
                        <a:t>87</a:t>
                      </a:r>
                      <a:endParaRPr lang="en-US" altLang="zh-CN" sz="1015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015" dirty="0"/>
                        <a:t>85</a:t>
                      </a:r>
                      <a:endParaRPr lang="en-US" sz="1015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1015" dirty="0"/>
                        <a:t>86.1</a:t>
                      </a:r>
                      <a:endParaRPr lang="en-US" altLang="zh-CN" sz="1015" dirty="0"/>
                    </a:p>
                  </a:txBody>
                  <a:tcPr marL="68580" marR="68580" marT="34290" marB="34290"/>
                </a:tc>
              </a:tr>
            </a:tbl>
          </a:graphicData>
        </a:graphic>
      </p:graphicFrame>
      <p:sp>
        <p:nvSpPr>
          <p:cNvPr id="4" name="文本框 3"/>
          <p:cNvSpPr txBox="1"/>
          <p:nvPr/>
        </p:nvSpPr>
        <p:spPr>
          <a:xfrm>
            <a:off x="286544" y="4599464"/>
            <a:ext cx="8160544" cy="506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350"/>
              <a:t>打分规则：组长分数组成为：自评占0.4，组员评价占0.3，组员分数组成为：自评占0.2，组长评价占0.5，另一个组员评价占0.3.</a:t>
            </a:r>
            <a:endParaRPr lang="zh-CN" altLang="en-US" sz="135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椭圆 4"/>
          <p:cNvSpPr/>
          <p:nvPr/>
        </p:nvSpPr>
        <p:spPr>
          <a:xfrm>
            <a:off x="-807511" y="563665"/>
            <a:ext cx="477014" cy="477014"/>
          </a:xfrm>
          <a:prstGeom prst="ellipse">
            <a:avLst/>
          </a:prstGeom>
          <a:solidFill>
            <a:srgbClr val="F7E9E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6" name="椭圆 15"/>
          <p:cNvSpPr/>
          <p:nvPr/>
        </p:nvSpPr>
        <p:spPr>
          <a:xfrm>
            <a:off x="-807511" y="1455830"/>
            <a:ext cx="477014" cy="477014"/>
          </a:xfrm>
          <a:prstGeom prst="ellipse">
            <a:avLst/>
          </a:prstGeom>
          <a:solidFill>
            <a:srgbClr val="F4D1C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7" name="椭圆 16"/>
          <p:cNvSpPr/>
          <p:nvPr/>
        </p:nvSpPr>
        <p:spPr>
          <a:xfrm>
            <a:off x="-807511" y="2347995"/>
            <a:ext cx="477014" cy="477014"/>
          </a:xfrm>
          <a:prstGeom prst="ellipse">
            <a:avLst/>
          </a:prstGeom>
          <a:solidFill>
            <a:srgbClr val="7787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8" name="椭圆 17"/>
          <p:cNvSpPr/>
          <p:nvPr/>
        </p:nvSpPr>
        <p:spPr>
          <a:xfrm>
            <a:off x="-807511" y="3240159"/>
            <a:ext cx="477014" cy="477014"/>
          </a:xfrm>
          <a:prstGeom prst="ellipse">
            <a:avLst/>
          </a:prstGeom>
          <a:solidFill>
            <a:srgbClr val="A0B0B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9" name="椭圆 18"/>
          <p:cNvSpPr/>
          <p:nvPr/>
        </p:nvSpPr>
        <p:spPr>
          <a:xfrm>
            <a:off x="-807511" y="4132323"/>
            <a:ext cx="477014" cy="477014"/>
          </a:xfrm>
          <a:prstGeom prst="ellipse">
            <a:avLst/>
          </a:prstGeom>
          <a:solidFill>
            <a:srgbClr val="C9D2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1" name="椭圆 20"/>
          <p:cNvSpPr/>
          <p:nvPr/>
        </p:nvSpPr>
        <p:spPr>
          <a:xfrm>
            <a:off x="7836421" y="-394388"/>
            <a:ext cx="2197265" cy="2197265"/>
          </a:xfrm>
          <a:prstGeom prst="ellipse">
            <a:avLst/>
          </a:prstGeom>
          <a:solidFill>
            <a:srgbClr val="7787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5" name="椭圆 24"/>
          <p:cNvSpPr/>
          <p:nvPr/>
        </p:nvSpPr>
        <p:spPr>
          <a:xfrm>
            <a:off x="6292646" y="3615378"/>
            <a:ext cx="2038210" cy="203821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6" name="椭圆 25"/>
          <p:cNvSpPr/>
          <p:nvPr/>
        </p:nvSpPr>
        <p:spPr>
          <a:xfrm>
            <a:off x="8083405" y="2850102"/>
            <a:ext cx="673979" cy="673979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7" name="椭圆 26"/>
          <p:cNvSpPr/>
          <p:nvPr/>
        </p:nvSpPr>
        <p:spPr>
          <a:xfrm>
            <a:off x="393996" y="-243597"/>
            <a:ext cx="916465" cy="916465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8" name="椭圆 27"/>
          <p:cNvSpPr/>
          <p:nvPr/>
        </p:nvSpPr>
        <p:spPr>
          <a:xfrm>
            <a:off x="-190611" y="4331467"/>
            <a:ext cx="1169214" cy="1169214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0" name="椭圆 29"/>
          <p:cNvSpPr/>
          <p:nvPr/>
        </p:nvSpPr>
        <p:spPr>
          <a:xfrm>
            <a:off x="4865658" y="3809246"/>
            <a:ext cx="769442" cy="769442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1" name="PA_矩形 7"/>
          <p:cNvSpPr/>
          <p:nvPr>
            <p:custDataLst>
              <p:tags r:id="rId1"/>
            </p:custDataLst>
          </p:nvPr>
        </p:nvSpPr>
        <p:spPr>
          <a:xfrm>
            <a:off x="985104" y="1813170"/>
            <a:ext cx="5032147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defTabSz="685800">
              <a:defRPr/>
            </a:pPr>
            <a:r>
              <a:rPr lang="zh-CN" altLang="en-US" sz="5400" kern="0" dirty="0">
                <a:solidFill>
                  <a:schemeClr val="accent3"/>
                </a:solidFill>
                <a:latin typeface="方正细谭黑简体" panose="02000000000000000000" pitchFamily="2" charset="-122"/>
                <a:ea typeface="方正细谭黑简体" panose="02000000000000000000" pitchFamily="2" charset="-122"/>
                <a:cs typeface="+mn-ea"/>
                <a:sym typeface="+mn-lt"/>
              </a:rPr>
              <a:t>感</a:t>
            </a:r>
            <a:r>
              <a:rPr lang="zh-CN" altLang="en-US" sz="5400" kern="0" dirty="0" smtClean="0">
                <a:solidFill>
                  <a:schemeClr val="accent3"/>
                </a:solidFill>
                <a:latin typeface="方正细谭黑简体" panose="02000000000000000000" pitchFamily="2" charset="-122"/>
                <a:ea typeface="方正细谭黑简体" panose="02000000000000000000" pitchFamily="2" charset="-122"/>
                <a:cs typeface="+mn-ea"/>
                <a:sym typeface="+mn-lt"/>
              </a:rPr>
              <a:t>谢各位观看！</a:t>
            </a:r>
            <a:endParaRPr lang="zh-CN" altLang="en-US" sz="5400" kern="0" dirty="0">
              <a:solidFill>
                <a:schemeClr val="accent3"/>
              </a:solidFill>
              <a:latin typeface="方正细谭黑简体" panose="02000000000000000000" pitchFamily="2" charset="-122"/>
              <a:ea typeface="方正细谭黑简体" panose="02000000000000000000" pitchFamily="2" charset="-122"/>
              <a:cs typeface="+mn-ea"/>
              <a:sym typeface="+mn-lt"/>
            </a:endParaRPr>
          </a:p>
        </p:txBody>
      </p:sp>
      <p:sp>
        <p:nvSpPr>
          <p:cNvPr id="37" name="矩形 36"/>
          <p:cNvSpPr/>
          <p:nvPr/>
        </p:nvSpPr>
        <p:spPr>
          <a:xfrm>
            <a:off x="215153" y="274405"/>
            <a:ext cx="8713694" cy="4594690"/>
          </a:xfrm>
          <a:prstGeom prst="rect">
            <a:avLst/>
          </a:prstGeom>
          <a:noFill/>
          <a:ln w="285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6" name="矩形 35"/>
          <p:cNvSpPr/>
          <p:nvPr/>
        </p:nvSpPr>
        <p:spPr>
          <a:xfrm rot="5400000">
            <a:off x="-848148" y="1598602"/>
            <a:ext cx="2172390" cy="338554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en-US" altLang="zh-CN" sz="1600" kern="0">
                <a:solidFill>
                  <a:prstClr val="black">
                    <a:lumMod val="65000"/>
                    <a:lumOff val="35000"/>
                  </a:prstClr>
                </a:solidFill>
                <a:cs typeface="+mn-ea"/>
                <a:sym typeface="+mn-lt"/>
              </a:rPr>
              <a:t>SUMMARY REPORT </a:t>
            </a:r>
            <a:endParaRPr lang="zh-CN" altLang="en-US">
              <a:cs typeface="+mn-ea"/>
              <a:sym typeface="+mn-lt"/>
            </a:endParaRPr>
          </a:p>
        </p:txBody>
      </p:sp>
      <p:sp>
        <p:nvSpPr>
          <p:cNvPr id="38" name="椭圆 37"/>
          <p:cNvSpPr/>
          <p:nvPr/>
        </p:nvSpPr>
        <p:spPr>
          <a:xfrm>
            <a:off x="6355614" y="993263"/>
            <a:ext cx="460508" cy="46050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tags/tag1.xml><?xml version="1.0" encoding="utf-8"?>
<p:tagLst xmlns:p="http://schemas.openxmlformats.org/presentationml/2006/main">
  <p:tag name="PA" val="v4.1.3"/>
</p:tagLst>
</file>

<file path=ppt/tags/tag2.xml><?xml version="1.0" encoding="utf-8"?>
<p:tagLst xmlns:p="http://schemas.openxmlformats.org/presentationml/2006/main">
  <p:tag name="PA" val="v4.1.3"/>
</p:tagLst>
</file>

<file path=ppt/tags/tag3.xml><?xml version="1.0" encoding="utf-8"?>
<p:tagLst xmlns:p="http://schemas.openxmlformats.org/presentationml/2006/main">
  <p:tag name="PA" val="v4.1.3"/>
</p:tagLst>
</file>

<file path=ppt/tags/tag4.xml><?xml version="1.0" encoding="utf-8"?>
<p:tagLst xmlns:p="http://schemas.openxmlformats.org/presentationml/2006/main">
  <p:tag name="KSO_WM_UNIT_PLACING_PICTURE_USER_VIEWPORT" val="{&quot;height&quot;:10956,&quot;width&quot;:8136}"/>
</p:tagLst>
</file>

<file path=ppt/tags/tag5.xml><?xml version="1.0" encoding="utf-8"?>
<p:tagLst xmlns:p="http://schemas.openxmlformats.org/presentationml/2006/main">
  <p:tag name="PA" val="v4.1.3"/>
</p:tagLst>
</file>

<file path=ppt/tags/tag6.xml><?xml version="1.0" encoding="utf-8"?>
<p:tagLst xmlns:p="http://schemas.openxmlformats.org/presentationml/2006/main">
  <p:tag name="PA" val="v4.1.3"/>
</p:tagLst>
</file>

<file path=ppt/tags/tag7.xml><?xml version="1.0" encoding="utf-8"?>
<p:tagLst xmlns:p="http://schemas.openxmlformats.org/presentationml/2006/main">
  <p:tag name="PA" val="v4.1.3"/>
</p:tagLst>
</file>

<file path=ppt/tags/tag8.xml><?xml version="1.0" encoding="utf-8"?>
<p:tagLst xmlns:p="http://schemas.openxmlformats.org/presentationml/2006/main">
  <p:tag name="PA" val="v4.1.3"/>
</p:tagLst>
</file>

<file path=ppt/tags/tag9.xml><?xml version="1.0" encoding="utf-8"?>
<p:tagLst xmlns:p="http://schemas.openxmlformats.org/presentationml/2006/main">
  <p:tag name="PA" val="v4.1.3"/>
</p:tagLst>
</file>

<file path=ppt/tags/tag10.xml><?xml version="1.0" encoding="utf-8"?>
<p:tagLst xmlns:p="http://schemas.openxmlformats.org/presentationml/2006/main">
  <p:tag name="KSO_WM_UNIT_TABLE_BEAUTIFY" val="smartTable{994fb577-a177-4e42-ab62-defd4d72ec3a}"/>
  <p:tag name="TABLE_ENDDRAG_ORIGIN_RECT" val="455*261"/>
  <p:tag name="TABLE_ENDDRAG_RECT" val="147*57*455*261"/>
</p:tagLst>
</file>

<file path=ppt/tags/tag11.xml><?xml version="1.0" encoding="utf-8"?>
<p:tagLst xmlns:p="http://schemas.openxmlformats.org/presentationml/2006/main">
  <p:tag name="PA" val="v4.1.3"/>
</p:tagLst>
</file>

<file path=ppt/tags/tag12.xml><?xml version="1.0" encoding="utf-8"?>
<p:tagLst xmlns:p="http://schemas.openxmlformats.org/presentationml/2006/main">
  <p:tag name="KSO_WM_UNIT_TABLE_BEAUTIFY" val="smartTable{994fb577-a177-4e42-ab62-defd4d72ec3a}"/>
  <p:tag name="TABLE_ENDDRAG_ORIGIN_RECT" val="455*261"/>
  <p:tag name="TABLE_ENDDRAG_RECT" val="147*57*455*261"/>
</p:tagLst>
</file>

<file path=ppt/tags/tag13.xml><?xml version="1.0" encoding="utf-8"?>
<p:tagLst xmlns:p="http://schemas.openxmlformats.org/presentationml/2006/main">
  <p:tag name="PA" val="v4.1.3"/>
</p:tagLst>
</file>

<file path=ppt/tags/tag14.xml><?xml version="1.0" encoding="utf-8"?>
<p:tagLst xmlns:p="http://schemas.openxmlformats.org/presentationml/2006/main">
  <p:tag name="PA" val="v4.1.3"/>
</p:tagLst>
</file>

<file path=ppt/tags/tag15.xml><?xml version="1.0" encoding="utf-8"?>
<p:tagLst xmlns:p="http://schemas.openxmlformats.org/presentationml/2006/main">
  <p:tag name="PA" val="v4.1.3"/>
</p:tagLst>
</file>

<file path=ppt/tags/tag16.xml><?xml version="1.0" encoding="utf-8"?>
<p:tagLst xmlns:p="http://schemas.openxmlformats.org/presentationml/2006/main">
  <p:tag name="KSO_WM_UNIT_TABLE_BEAUTIFY" val="smartTable{ab41c473-45b7-48b2-b9f0-75195b46ce51}"/>
</p:tagLst>
</file>

<file path=ppt/tags/tag17.xml><?xml version="1.0" encoding="utf-8"?>
<p:tagLst xmlns:p="http://schemas.openxmlformats.org/presentationml/2006/main">
  <p:tag name="PA" val="v4.1.3"/>
</p:tagLst>
</file>

<file path=ppt/theme/theme1.xml><?xml version="1.0" encoding="utf-8"?>
<a:theme xmlns:a="http://schemas.openxmlformats.org/drawingml/2006/main" name="第一PPT，www.1ppt.com">
  <a:themeElements>
    <a:clrScheme name="12舒服配色">
      <a:dk1>
        <a:sysClr val="windowText" lastClr="000000"/>
      </a:dk1>
      <a:lt1>
        <a:sysClr val="window" lastClr="FFFFFF"/>
      </a:lt1>
      <a:dk2>
        <a:srgbClr val="EEF2F5"/>
      </a:dk2>
      <a:lt2>
        <a:srgbClr val="E7E6E6"/>
      </a:lt2>
      <a:accent1>
        <a:srgbClr val="F7E9E0"/>
      </a:accent1>
      <a:accent2>
        <a:srgbClr val="F4D1CF"/>
      </a:accent2>
      <a:accent3>
        <a:srgbClr val="7787A0"/>
      </a:accent3>
      <a:accent4>
        <a:srgbClr val="A0B0BF"/>
      </a:accent4>
      <a:accent5>
        <a:srgbClr val="C9D2E1"/>
      </a:accent5>
      <a:accent6>
        <a:srgbClr val="70AD47"/>
      </a:accent6>
      <a:hlink>
        <a:srgbClr val="000000"/>
      </a:hlink>
      <a:folHlink>
        <a:srgbClr val="954F72"/>
      </a:folHlink>
    </a:clrScheme>
    <a:fontScheme name="dmo5hqlq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0</TotalTime>
  <Words>2876</Words>
  <Application>WPS 演示</Application>
  <PresentationFormat>全屏显示(16:9)</PresentationFormat>
  <Paragraphs>333</Paragraphs>
  <Slides>36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36</vt:i4>
      </vt:variant>
    </vt:vector>
  </HeadingPairs>
  <TitlesOfParts>
    <vt:vector size="49" baseType="lpstr">
      <vt:lpstr>Arial</vt:lpstr>
      <vt:lpstr>宋体</vt:lpstr>
      <vt:lpstr>Wingdings</vt:lpstr>
      <vt:lpstr>Calibri</vt:lpstr>
      <vt:lpstr>Times New Roman</vt:lpstr>
      <vt:lpstr>方正细谭黑简体</vt:lpstr>
      <vt:lpstr>微软雅黑 Light</vt:lpstr>
      <vt:lpstr>微软雅黑</vt:lpstr>
      <vt:lpstr>黑体</vt:lpstr>
      <vt:lpstr>Arial Unicode MS</vt:lpstr>
      <vt:lpstr>等线</vt:lpstr>
      <vt:lpstr>Calibri</vt:lpstr>
      <vt:lpstr>第一PPT，www.1ppt.com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当前阶段成员打分</vt:lpstr>
      <vt:lpstr>PowerPoint 演示文稿</vt:lpstr>
    </vt:vector>
  </TitlesOfParts>
  <Company>第一PPT，www.1ppt.com</Company>
  <LinksUpToDate>false</LinksUpToDate>
  <SharedDoc>false</SharedDoc>
  <HyperlinksChanged>false</HyperlinksChanged>
  <AppVersion>14.0000</AppVersion>
  <Manager>第一PPT，www.1ppt.com</Manager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淡雅蓝粉</dc:title>
  <dc:creator>第一PPT</dc:creator>
  <cp:keywords>www.1ppt.com</cp:keywords>
  <dc:description>www.1ppt.com</dc:description>
  <cp:lastModifiedBy>米娜拉</cp:lastModifiedBy>
  <cp:revision>868</cp:revision>
  <dcterms:created xsi:type="dcterms:W3CDTF">2019-06-21T02:16:00Z</dcterms:created>
  <dcterms:modified xsi:type="dcterms:W3CDTF">2020-12-29T01:56:44Z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2052-11.1.0.10228</vt:lpwstr>
  </property>
</Properties>
</file>