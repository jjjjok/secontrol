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572" r:id="rId3"/>
    <p:sldId id="606" r:id="rId4"/>
    <p:sldId id="679" r:id="rId5"/>
    <p:sldId id="898" r:id="rId6"/>
    <p:sldId id="916" r:id="rId7"/>
    <p:sldId id="899" r:id="rId8"/>
    <p:sldId id="900" r:id="rId9"/>
    <p:sldId id="917" r:id="rId10"/>
    <p:sldId id="901" r:id="rId11"/>
    <p:sldId id="918" r:id="rId12"/>
    <p:sldId id="902" r:id="rId13"/>
    <p:sldId id="919" r:id="rId14"/>
    <p:sldId id="903" r:id="rId15"/>
    <p:sldId id="920" r:id="rId16"/>
    <p:sldId id="922" r:id="rId17"/>
    <p:sldId id="923" r:id="rId19"/>
    <p:sldId id="924" r:id="rId20"/>
    <p:sldId id="925" r:id="rId21"/>
    <p:sldId id="926" r:id="rId22"/>
    <p:sldId id="927" r:id="rId23"/>
    <p:sldId id="928" r:id="rId24"/>
    <p:sldId id="937" r:id="rId25"/>
    <p:sldId id="929" r:id="rId26"/>
    <p:sldId id="930" r:id="rId27"/>
    <p:sldId id="1097" r:id="rId28"/>
    <p:sldId id="933" r:id="rId29"/>
    <p:sldId id="934" r:id="rId30"/>
    <p:sldId id="931" r:id="rId31"/>
    <p:sldId id="932" r:id="rId32"/>
    <p:sldId id="1036" r:id="rId33"/>
    <p:sldId id="1037" r:id="rId34"/>
    <p:sldId id="1038" r:id="rId35"/>
    <p:sldId id="1039" r:id="rId36"/>
    <p:sldId id="1040" r:id="rId37"/>
    <p:sldId id="1041" r:id="rId38"/>
    <p:sldId id="1042" r:id="rId39"/>
    <p:sldId id="1043" r:id="rId40"/>
    <p:sldId id="1044" r:id="rId41"/>
    <p:sldId id="1045" r:id="rId42"/>
    <p:sldId id="1046" r:id="rId43"/>
    <p:sldId id="1047" r:id="rId44"/>
    <p:sldId id="1048" r:id="rId45"/>
    <p:sldId id="1049" r:id="rId46"/>
    <p:sldId id="1050" r:id="rId47"/>
    <p:sldId id="1051" r:id="rId48"/>
    <p:sldId id="1052" r:id="rId49"/>
    <p:sldId id="1053" r:id="rId50"/>
    <p:sldId id="1054" r:id="rId51"/>
    <p:sldId id="1061" r:id="rId52"/>
    <p:sldId id="904" r:id="rId53"/>
    <p:sldId id="1062" r:id="rId54"/>
    <p:sldId id="909" r:id="rId55"/>
    <p:sldId id="1063" r:id="rId56"/>
    <p:sldId id="910" r:id="rId57"/>
    <p:sldId id="911" r:id="rId58"/>
    <p:sldId id="1055" r:id="rId59"/>
    <p:sldId id="1056" r:id="rId60"/>
    <p:sldId id="1057" r:id="rId61"/>
    <p:sldId id="1058" r:id="rId62"/>
    <p:sldId id="1059" r:id="rId63"/>
    <p:sldId id="970" r:id="rId64"/>
    <p:sldId id="971" r:id="rId65"/>
    <p:sldId id="972" r:id="rId66"/>
    <p:sldId id="973" r:id="rId67"/>
    <p:sldId id="974" r:id="rId68"/>
    <p:sldId id="975" r:id="rId69"/>
    <p:sldId id="976" r:id="rId70"/>
    <p:sldId id="977" r:id="rId71"/>
    <p:sldId id="978" r:id="rId72"/>
    <p:sldId id="979" r:id="rId73"/>
    <p:sldId id="980" r:id="rId74"/>
    <p:sldId id="981" r:id="rId75"/>
    <p:sldId id="982" r:id="rId76"/>
    <p:sldId id="983" r:id="rId77"/>
    <p:sldId id="984" r:id="rId78"/>
    <p:sldId id="985" r:id="rId79"/>
    <p:sldId id="986" r:id="rId80"/>
    <p:sldId id="987" r:id="rId81"/>
    <p:sldId id="988" r:id="rId82"/>
    <p:sldId id="897" r:id="rId83"/>
    <p:sldId id="938" r:id="rId84"/>
    <p:sldId id="884" r:id="rId85"/>
    <p:sldId id="862" r:id="rId86"/>
    <p:sldId id="620" r:id="rId8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yy" initials="y" lastIdx="1" clrIdx="0"/>
  <p:cmAuthor id="3" name="梦在想你" initials="梦"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D1CF"/>
    <a:srgbClr val="7787A0"/>
    <a:srgbClr val="A0B0BF"/>
    <a:srgbClr val="C9D2E1"/>
    <a:srgbClr val="CACEC8"/>
    <a:srgbClr val="E7E9E6"/>
    <a:srgbClr val="E8CDC8"/>
    <a:srgbClr val="F7E9E0"/>
    <a:srgbClr val="FFFFFF"/>
    <a:srgbClr val="EFB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12" autoAdjust="0"/>
    <p:restoredTop sz="93992" autoAdjust="0"/>
  </p:normalViewPr>
  <p:slideViewPr>
    <p:cSldViewPr snapToGrid="0" showGuides="1">
      <p:cViewPr>
        <p:scale>
          <a:sx n="66" d="100"/>
          <a:sy n="66" d="100"/>
        </p:scale>
        <p:origin x="-378" y="-1728"/>
      </p:cViewPr>
      <p:guideLst>
        <p:guide orient="horz" pos="3196"/>
        <p:guide pos="1982"/>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commentAuthors" Target="commentAuthors.xml"/><Relationship Id="rId90" Type="http://schemas.openxmlformats.org/officeDocument/2006/relationships/tableStyles" Target="tableStyles.xml"/><Relationship Id="rId9" Type="http://schemas.openxmlformats.org/officeDocument/2006/relationships/slide" Target="slides/slide7.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DFCB8-7EF4-48C1-8984-7222E239D7E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3BA41-6BA2-47AC-9C1D-5ECEA0A6E28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47494" y="4482353"/>
            <a:ext cx="271986" cy="2719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65500" y="4500359"/>
            <a:ext cx="253980" cy="253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icture Placeholder 7"/>
          <p:cNvSpPr>
            <a:spLocks noGrp="1"/>
          </p:cNvSpPr>
          <p:nvPr>
            <p:ph type="pic" sz="quarter" idx="14"/>
          </p:nvPr>
        </p:nvSpPr>
        <p:spPr>
          <a:xfrm>
            <a:off x="1009863"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9" name="Picture Placeholder 7"/>
          <p:cNvSpPr>
            <a:spLocks noGrp="1"/>
          </p:cNvSpPr>
          <p:nvPr>
            <p:ph type="pic" sz="quarter" idx="15"/>
          </p:nvPr>
        </p:nvSpPr>
        <p:spPr>
          <a:xfrm>
            <a:off x="2831630" y="3106775"/>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6" name="Picture Placeholder 7"/>
          <p:cNvSpPr>
            <a:spLocks noGrp="1"/>
          </p:cNvSpPr>
          <p:nvPr>
            <p:ph type="pic" sz="quarter" idx="16"/>
          </p:nvPr>
        </p:nvSpPr>
        <p:spPr>
          <a:xfrm>
            <a:off x="4656657"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7" name="Picture Placeholder 7"/>
          <p:cNvSpPr>
            <a:spLocks noGrp="1"/>
          </p:cNvSpPr>
          <p:nvPr>
            <p:ph type="pic" sz="quarter" idx="17"/>
          </p:nvPr>
        </p:nvSpPr>
        <p:spPr>
          <a:xfrm>
            <a:off x="6475165" y="3106774"/>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1009863" y="3107235"/>
            <a:ext cx="1678581" cy="1685051"/>
          </a:xfrm>
          <a:prstGeom prst="rect">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2833260" y="1341448"/>
            <a:ext cx="1678581" cy="16850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4653397" y="3107235"/>
            <a:ext cx="1678581" cy="16850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6480055" y="1337983"/>
            <a:ext cx="1678581" cy="16850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3" name="Footer Placeholder 2"/>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
        <p:nvSpPr>
          <p:cNvPr id="9" name="矩形 8"/>
          <p:cNvSpPr/>
          <p:nvPr userDrawn="1"/>
        </p:nvSpPr>
        <p:spPr>
          <a:xfrm>
            <a:off x="7033456" y="4774682"/>
            <a:ext cx="775136" cy="230832"/>
          </a:xfrm>
          <a:prstGeom prst="rect">
            <a:avLst/>
          </a:prstGeom>
        </p:spPr>
        <p:txBody>
          <a:bodyPr wrap="square">
            <a:spAutoFit/>
          </a:bodyPr>
          <a:lstStyle/>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精美</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课件：</a:t>
            </a:r>
            <a:r>
              <a:rPr lang="en-US" altLang="zh-CN" sz="100" dirty="0">
                <a:solidFill>
                  <a:prstClr val="white"/>
                </a:solidFill>
                <a:latin typeface="Calibri" panose="020F0502020204030204"/>
                <a:ea typeface="宋体" panose="02010600030101010101" pitchFamily="2" charset="-122"/>
              </a:rPr>
              <a:t>www.1ppt.com/kejian/             </a:t>
            </a: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工作总结</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www.1ppt.com/xiazai/zongjie/ </a:t>
            </a:r>
            <a:r>
              <a:rPr lang="zh-CN" altLang="en-US" sz="100" dirty="0">
                <a:solidFill>
                  <a:prstClr val="white"/>
                </a:solidFill>
                <a:latin typeface="Calibri" panose="020F0502020204030204"/>
                <a:ea typeface="宋体" panose="02010600030101010101" pitchFamily="2" charset="-122"/>
              </a:rPr>
              <a:t>工作计划：</a:t>
            </a:r>
            <a:r>
              <a:rPr lang="en-US" altLang="zh-CN" sz="100" dirty="0">
                <a:solidFill>
                  <a:prstClr val="white"/>
                </a:solidFill>
                <a:latin typeface="Calibri" panose="020F0502020204030204"/>
                <a:ea typeface="宋体" panose="02010600030101010101" pitchFamily="2" charset="-122"/>
              </a:rPr>
              <a:t>www.1ppt.com/xiazai/jihua/</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商务</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www.1ppt.com/moban/shangwu/  </a:t>
            </a:r>
            <a:r>
              <a:rPr lang="zh-CN" altLang="en-US" sz="100" dirty="0">
                <a:solidFill>
                  <a:prstClr val="white"/>
                </a:solidFill>
                <a:latin typeface="Calibri" panose="020F0502020204030204"/>
                <a:ea typeface="宋体" panose="02010600030101010101" pitchFamily="2" charset="-122"/>
              </a:rPr>
              <a:t>个人简历</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www.1ppt.com/xiazai/jianli/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毕业答辩</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www.1ppt.com/xiazai/dabian/  </a:t>
            </a:r>
            <a:r>
              <a:rPr lang="zh-CN" altLang="en-US" sz="100" dirty="0">
                <a:solidFill>
                  <a:prstClr val="white"/>
                </a:solidFill>
                <a:latin typeface="Calibri" panose="020F0502020204030204"/>
                <a:ea typeface="宋体" panose="02010600030101010101" pitchFamily="2" charset="-122"/>
              </a:rPr>
              <a:t>工作汇报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www.1ppt.com/xiazai/huibao/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1369219"/>
            <a:ext cx="7886700" cy="3263504"/>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1048618" name="Picture Placeholder 1"/>
          <p:cNvSpPr>
            <a:spLocks noGrp="1"/>
          </p:cNvSpPr>
          <p:nvPr>
            <p:ph type="pic" sz="quarter" idx="13" hasCustomPrompt="1"/>
          </p:nvPr>
        </p:nvSpPr>
        <p:spPr>
          <a:xfrm>
            <a:off x="108000" y="108000"/>
            <a:ext cx="8928900" cy="4545116"/>
          </a:xfrm>
          <a:solidFill>
            <a:schemeClr val="bg1">
              <a:lumMod val="95000"/>
            </a:schemeClr>
          </a:solidFill>
        </p:spPr>
        <p:txBody>
          <a:bodyPr lIns="0" tIns="180000" rIns="0" anchor="t"/>
          <a:lstStyle>
            <a:lvl1pPr marL="0" indent="0" algn="ctr">
              <a:buNone/>
              <a:defRPr sz="900" i="1">
                <a:latin typeface="Times New Roman" panose="02020603050405020304" pitchFamily="18" charset="0"/>
                <a:cs typeface="Times New Roman" panose="02020603050405020304" pitchFamily="18" charset="0"/>
              </a:defRPr>
            </a:lvl1pPr>
          </a:lstStyle>
          <a:p>
            <a:r>
              <a:rPr lang="en-US" noProof="0" dirty="0"/>
              <a:t>Insert or Drag &amp; Drop your photo</a:t>
            </a:r>
            <a:endParaRPr lang="en-US" noProof="0" dirty="0"/>
          </a:p>
        </p:txBody>
      </p:sp>
      <p:sp>
        <p:nvSpPr>
          <p:cNvPr id="1048619" name="Title 1"/>
          <p:cNvSpPr>
            <a:spLocks noGrp="1"/>
          </p:cNvSpPr>
          <p:nvPr>
            <p:ph type="ctrTitle" hasCustomPrompt="1"/>
          </p:nvPr>
        </p:nvSpPr>
        <p:spPr>
          <a:xfrm>
            <a:off x="4457700" y="1828799"/>
            <a:ext cx="4039200" cy="2283299"/>
          </a:xfrm>
          <a:gradFill>
            <a:gsLst>
              <a:gs pos="0">
                <a:schemeClr val="accent1">
                  <a:lumMod val="20000"/>
                  <a:lumOff val="80000"/>
                  <a:alpha val="50000"/>
                </a:schemeClr>
              </a:gs>
              <a:gs pos="46000">
                <a:schemeClr val="bg1">
                  <a:alpha val="90000"/>
                </a:schemeClr>
              </a:gs>
              <a:gs pos="83186">
                <a:schemeClr val="bg1"/>
              </a:gs>
            </a:gsLst>
            <a:lin ang="3600000" scaled="0"/>
          </a:gradFill>
        </p:spPr>
        <p:txBody>
          <a:bodyPr lIns="72000" tIns="180000" rIns="180000" bIns="0" anchor="t"/>
          <a:lstStyle>
            <a:lvl1pPr algn="r">
              <a:lnSpc>
                <a:spcPts val="4700"/>
              </a:lnSpc>
              <a:defRPr sz="3375">
                <a:solidFill>
                  <a:schemeClr val="tx1"/>
                </a:solidFill>
              </a:defRPr>
            </a:lvl1pPr>
          </a:lstStyle>
          <a:p>
            <a:r>
              <a:rPr lang="en-US" noProof="0"/>
              <a:t>Click to edit presentation title</a:t>
            </a:r>
            <a:endParaRPr lang="en-US" noProof="0"/>
          </a:p>
        </p:txBody>
      </p:sp>
      <p:sp>
        <p:nvSpPr>
          <p:cNvPr id="1048620" name="Subtitle 2"/>
          <p:cNvSpPr>
            <a:spLocks noGrp="1"/>
          </p:cNvSpPr>
          <p:nvPr>
            <p:ph type="subTitle" idx="1"/>
          </p:nvPr>
        </p:nvSpPr>
        <p:spPr>
          <a:xfrm>
            <a:off x="6186728" y="3359448"/>
            <a:ext cx="2138722" cy="562151"/>
          </a:xfrm>
          <a:solidFill>
            <a:schemeClr val="bg1">
              <a:alpha val="80000"/>
            </a:schemeClr>
          </a:solidFill>
          <a:ln w="3175">
            <a:gradFill>
              <a:gsLst>
                <a:gs pos="0">
                  <a:schemeClr val="bg1">
                    <a:lumMod val="95000"/>
                  </a:schemeClr>
                </a:gs>
                <a:gs pos="100000">
                  <a:schemeClr val="accent1"/>
                </a:gs>
              </a:gsLst>
              <a:lin ang="10800000" scaled="0"/>
            </a:gradFill>
          </a:ln>
        </p:spPr>
        <p:txBody>
          <a:bodyPr tIns="144000" rIns="180000"/>
          <a:lstStyle>
            <a:lvl1pPr marL="0" indent="0" algn="r">
              <a:buNone/>
              <a:defRPr sz="135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0"/>
              <a:t>单击此处编辑母版副标题样式</a:t>
            </a:r>
            <a:endParaRPr lang="en-US" noProof="0"/>
          </a:p>
        </p:txBody>
      </p:sp>
      <p:sp>
        <p:nvSpPr>
          <p:cNvPr id="1048621" name="Footer Placeholder 4"/>
          <p:cNvSpPr>
            <a:spLocks noGrp="1"/>
          </p:cNvSpPr>
          <p:nvPr>
            <p:ph type="ftr" sz="quarter" idx="12"/>
          </p:nvPr>
        </p:nvSpPr>
        <p:spPr>
          <a:xfrm>
            <a:off x="108000" y="4741799"/>
            <a:ext cx="3086100" cy="273844"/>
          </a:xfrm>
        </p:spPr>
        <p:txBody>
          <a:bodyPr/>
          <a:lstStyle/>
          <a:p>
            <a:r>
              <a:rPr lang="en-US" noProof="0" dirty="0"/>
              <a:t>Add a footer</a:t>
            </a:r>
            <a:endParaRPr lang="en-US" noProof="0" dirty="0"/>
          </a:p>
        </p:txBody>
      </p:sp>
      <p:sp>
        <p:nvSpPr>
          <p:cNvPr id="1048622" name="Slide Number Placeholder 9"/>
          <p:cNvSpPr>
            <a:spLocks noGrp="1"/>
          </p:cNvSpPr>
          <p:nvPr>
            <p:ph type="sldNum" sz="quarter" idx="14"/>
          </p:nvPr>
        </p:nvSpPr>
        <p:spPr>
          <a:xfrm>
            <a:off x="8758069" y="4741799"/>
            <a:ext cx="277931" cy="273844"/>
          </a:xfrm>
        </p:spPr>
        <p:txBody>
          <a:bodyPr/>
          <a:lstStyle/>
          <a:p>
            <a:fld id="{19B51A1E-902D-48AF-9020-955120F399B6}" type="slidenum">
              <a:rPr lang="en-US" noProof="0" smtClean="0"/>
            </a:fld>
            <a:endParaRPr lang="en-US" noProof="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9.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0.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3.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1449070" y="829945"/>
            <a:ext cx="5961380" cy="1445260"/>
          </a:xfrm>
          <a:prstGeom prst="rect">
            <a:avLst/>
          </a:prstGeom>
        </p:spPr>
        <p:txBody>
          <a:bodyPr wrap="square">
            <a:spAutoFit/>
          </a:bodyPr>
          <a:lstStyle/>
          <a:p>
            <a:pPr lvl="0" algn="l" defTabSz="685800">
              <a:defRPr/>
            </a:pPr>
            <a:r>
              <a:rPr kumimoji="1" lang="en-US" sz="3600" b="1" kern="0">
                <a:solidFill>
                  <a:schemeClr val="accent3"/>
                </a:solidFill>
                <a:cs typeface="+mn-ea"/>
                <a:sym typeface="+mn-lt"/>
              </a:rPr>
              <a:t>SE2020-G19-</a:t>
            </a:r>
            <a:r>
              <a:rPr kumimoji="1" lang="zh-CN" altLang="en-US" sz="3600" b="1" kern="0">
                <a:solidFill>
                  <a:schemeClr val="accent3"/>
                </a:solidFill>
                <a:cs typeface="+mn-ea"/>
                <a:sym typeface="+mn-lt"/>
              </a:rPr>
              <a:t>翻转课堂</a:t>
            </a:r>
            <a:r>
              <a:rPr lang="en-US" altLang="zh-CN" sz="2000">
                <a:solidFill>
                  <a:schemeClr val="tx1">
                    <a:lumMod val="50000"/>
                    <a:lumOff val="50000"/>
                  </a:schemeClr>
                </a:solidFill>
                <a:cs typeface="+mn-ea"/>
                <a:sym typeface="+mn-lt"/>
              </a:rPr>
              <a:t>      </a:t>
            </a:r>
            <a:endParaRPr lang="en-US" altLang="zh-CN" sz="2000">
              <a:solidFill>
                <a:schemeClr val="tx1">
                  <a:lumMod val="50000"/>
                  <a:lumOff val="50000"/>
                </a:schemeClr>
              </a:solidFill>
              <a:cs typeface="+mn-ea"/>
              <a:sym typeface="+mn-lt"/>
            </a:endParaRPr>
          </a:p>
          <a:p>
            <a:pPr lvl="0" algn="l" defTabSz="685800">
              <a:defRPr/>
            </a:pPr>
            <a:r>
              <a:rPr lang="en-US" altLang="zh-CN" sz="2000">
                <a:solidFill>
                  <a:schemeClr val="tx1">
                    <a:lumMod val="50000"/>
                    <a:lumOff val="50000"/>
                  </a:schemeClr>
                </a:solidFill>
                <a:cs typeface="+mn-ea"/>
                <a:sym typeface="+mn-lt"/>
              </a:rPr>
              <a:t>                    </a:t>
            </a:r>
            <a:r>
              <a:rPr kumimoji="1" lang="zh-CN" altLang="en-US" sz="3200" b="1" kern="0">
                <a:solidFill>
                  <a:schemeClr val="accent3"/>
                </a:solidFill>
                <a:cs typeface="+mn-ea"/>
                <a:sym typeface="+mn-lt"/>
              </a:rPr>
              <a:t>白盒测试</a:t>
            </a:r>
            <a:endParaRPr lang="en-US" altLang="zh-CN" sz="2000">
              <a:solidFill>
                <a:schemeClr val="tx1">
                  <a:lumMod val="50000"/>
                  <a:lumOff val="50000"/>
                </a:schemeClr>
              </a:solidFill>
              <a:cs typeface="+mn-ea"/>
              <a:sym typeface="+mn-lt"/>
            </a:endParaRPr>
          </a:p>
          <a:p>
            <a:pPr lvl="0" algn="l" defTabSz="685800">
              <a:defRPr/>
            </a:pPr>
            <a:endParaRPr lang="zh-CN" altLang="en-US" sz="2000" kern="0" dirty="0">
              <a:solidFill>
                <a:schemeClr val="accent3"/>
              </a:solidFill>
              <a:latin typeface="方正细谭黑简体" panose="02000000000000000000" pitchFamily="2" charset="-122"/>
              <a:ea typeface="方正细谭黑简体" panose="02000000000000000000" pitchFamily="2" charset="-122"/>
              <a:cs typeface="+mn-ea"/>
              <a:sym typeface="+mn-lt"/>
            </a:endParaRPr>
          </a:p>
        </p:txBody>
      </p:sp>
      <p:sp>
        <p:nvSpPr>
          <p:cNvPr id="33" name="矩形: 圆角 32"/>
          <p:cNvSpPr/>
          <p:nvPr/>
        </p:nvSpPr>
        <p:spPr>
          <a:xfrm>
            <a:off x="2624455" y="3194685"/>
            <a:ext cx="2385060" cy="113665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ym typeface="+mn-ea"/>
              </a:rPr>
              <a:t>SSE2020</a:t>
            </a:r>
            <a:r>
              <a:rPr lang="zh-CN" altLang="en-US" sz="1400" b="1" dirty="0" smtClean="0">
                <a:sym typeface="+mn-ea"/>
              </a:rPr>
              <a:t>秋</a:t>
            </a:r>
            <a:r>
              <a:rPr lang="en-US" altLang="zh-CN" sz="1400" b="1" dirty="0" smtClean="0">
                <a:sym typeface="+mn-ea"/>
              </a:rPr>
              <a:t>-G19</a:t>
            </a:r>
            <a:r>
              <a:rPr lang="zh-CN" altLang="en-US" sz="1400" b="1" dirty="0" smtClean="0">
                <a:sym typeface="+mn-ea"/>
              </a:rPr>
              <a:t>组</a:t>
            </a:r>
            <a:endParaRPr lang="zh-CN" altLang="en-US" sz="1400" b="1" dirty="0" smtClean="0">
              <a:sym typeface="+mn-ea"/>
            </a:endParaRPr>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组长：牛旷野</a:t>
            </a:r>
            <a:endParaRPr lang="en-US" altLang="zh-CN" sz="1400" b="1" dirty="0" smtClean="0"/>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组员：卢世逸、孟闻凯</a:t>
            </a:r>
            <a:endParaRPr lang="zh-CN" altLang="en-US" sz="1400" dirty="0">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dirty="0">
                <a:solidFill>
                  <a:prstClr val="black">
                    <a:lumMod val="65000"/>
                    <a:lumOff val="35000"/>
                  </a:prstClr>
                </a:solidFill>
                <a:cs typeface="+mn-ea"/>
                <a:sym typeface="+mn-lt"/>
              </a:rPr>
              <a:t>SUMMARY REPORT </a:t>
            </a:r>
            <a:endParaRPr lang="zh-CN" altLang="en-US" dirty="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5384087" y="1459209"/>
            <a:ext cx="1929877" cy="192987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933284" y="473990"/>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1620042" y="510019"/>
            <a:ext cx="1706880" cy="4154170"/>
          </a:xfrm>
          <a:prstGeom prst="rect">
            <a:avLst/>
          </a:prstGeom>
          <a:noFill/>
        </p:spPr>
        <p:txBody>
          <a:bodyPr wrap="none" rtlCol="0">
            <a:spAutoFit/>
          </a:bodyPr>
          <a:lstStyle/>
          <a:p>
            <a:pPr lvl="0" algn="l" defTabSz="609600">
              <a:lnSpc>
                <a:spcPct val="120000"/>
              </a:lnSpc>
              <a:defRPr/>
            </a:pPr>
            <a:r>
              <a:rPr kumimoji="1" lang="zh-CN" altLang="en-US" sz="2000" b="1" kern="0" dirty="0">
                <a:solidFill>
                  <a:schemeClr val="accent3"/>
                </a:solidFill>
                <a:cs typeface="+mn-ea"/>
                <a:sym typeface="+mn-lt"/>
              </a:rPr>
              <a:t>编码</a:t>
            </a:r>
            <a:endParaRPr kumimoji="1" lang="zh-CN" altLang="en-US" sz="2000" b="1" kern="0" dirty="0">
              <a:solidFill>
                <a:schemeClr val="accent3"/>
              </a:solidFill>
              <a:cs typeface="+mn-ea"/>
              <a:sym typeface="+mn-lt"/>
            </a:endParaRPr>
          </a:p>
          <a:p>
            <a:pPr lvl="0" algn="l" defTabSz="609600">
              <a:lnSpc>
                <a:spcPct val="120000"/>
              </a:lnSpc>
              <a:defRPr/>
            </a:pPr>
            <a:r>
              <a:rPr kumimoji="1" lang="zh-CN" altLang="en-US" sz="2000" b="1" kern="0" dirty="0">
                <a:solidFill>
                  <a:schemeClr val="accent3"/>
                </a:solidFill>
                <a:cs typeface="+mn-ea"/>
                <a:sym typeface="+mn-lt"/>
              </a:rPr>
              <a:t>软件测试基础</a:t>
            </a:r>
            <a:endParaRPr kumimoji="1" lang="zh-CN" altLang="en-US" sz="2000" b="1" kern="0" dirty="0">
              <a:solidFill>
                <a:schemeClr val="accent3"/>
              </a:solidFill>
              <a:cs typeface="+mn-ea"/>
              <a:sym typeface="+mn-lt"/>
            </a:endParaRPr>
          </a:p>
          <a:p>
            <a:pPr lvl="0" algn="l" defTabSz="609600">
              <a:lnSpc>
                <a:spcPct val="120000"/>
              </a:lnSpc>
              <a:defRPr/>
            </a:pPr>
            <a:r>
              <a:rPr kumimoji="1" lang="zh-CN" altLang="en-US" sz="2000" b="1" kern="0" dirty="0">
                <a:solidFill>
                  <a:schemeClr val="accent3"/>
                </a:solidFill>
                <a:cs typeface="+mn-ea"/>
                <a:sym typeface="+mn-lt"/>
              </a:rPr>
              <a:t>单元测试</a:t>
            </a:r>
            <a:endParaRPr kumimoji="1" lang="zh-CN" altLang="en-US" sz="2000" b="1" kern="0" dirty="0">
              <a:solidFill>
                <a:schemeClr val="accent3"/>
              </a:solidFill>
              <a:cs typeface="+mn-ea"/>
              <a:sym typeface="+mn-lt"/>
            </a:endParaRPr>
          </a:p>
          <a:p>
            <a:pPr lvl="0" algn="l" defTabSz="609600">
              <a:lnSpc>
                <a:spcPct val="120000"/>
              </a:lnSpc>
              <a:defRPr/>
            </a:pPr>
            <a:r>
              <a:rPr kumimoji="1" lang="zh-CN" altLang="en-US" sz="2000" b="1" kern="0" dirty="0">
                <a:solidFill>
                  <a:schemeClr val="accent3"/>
                </a:solidFill>
                <a:cs typeface="+mn-ea"/>
                <a:sym typeface="+mn-lt"/>
              </a:rPr>
              <a:t>集成测试</a:t>
            </a:r>
            <a:endParaRPr kumimoji="1" lang="zh-CN" altLang="en-US" sz="2000" b="1" kern="0" dirty="0">
              <a:solidFill>
                <a:schemeClr val="accent3"/>
              </a:solidFill>
              <a:cs typeface="+mn-ea"/>
              <a:sym typeface="+mn-lt"/>
            </a:endParaRPr>
          </a:p>
          <a:p>
            <a:pPr lvl="0" algn="l" defTabSz="609600">
              <a:lnSpc>
                <a:spcPct val="120000"/>
              </a:lnSpc>
              <a:defRPr/>
            </a:pPr>
            <a:r>
              <a:rPr kumimoji="1" lang="zh-CN" altLang="en-US" sz="2000" b="1" kern="0" dirty="0">
                <a:solidFill>
                  <a:schemeClr val="accent3"/>
                </a:solidFill>
                <a:cs typeface="+mn-ea"/>
                <a:sym typeface="+mn-lt"/>
              </a:rPr>
              <a:t>确认测试</a:t>
            </a:r>
            <a:endParaRPr kumimoji="1" lang="zh-CN" altLang="en-US" sz="2000" b="1" kern="0" dirty="0">
              <a:solidFill>
                <a:schemeClr val="accent3"/>
              </a:solidFill>
              <a:cs typeface="+mn-ea"/>
              <a:sym typeface="+mn-lt"/>
            </a:endParaRPr>
          </a:p>
          <a:p>
            <a:pPr lvl="0" algn="l" defTabSz="609600">
              <a:lnSpc>
                <a:spcPct val="120000"/>
              </a:lnSpc>
              <a:defRPr/>
            </a:pPr>
            <a:r>
              <a:rPr kumimoji="1" lang="zh-CN" altLang="en-US" sz="2000" b="1" kern="0" dirty="0">
                <a:solidFill>
                  <a:schemeClr val="accent3"/>
                </a:solidFill>
                <a:cs typeface="+mn-ea"/>
                <a:sym typeface="+mn-lt"/>
              </a:rPr>
              <a:t>白盒测试</a:t>
            </a:r>
            <a:endParaRPr kumimoji="1" lang="zh-CN" altLang="en-US" sz="2000" b="1" kern="0" dirty="0">
              <a:solidFill>
                <a:schemeClr val="accent3"/>
              </a:solidFill>
              <a:cs typeface="+mn-ea"/>
              <a:sym typeface="+mn-lt"/>
            </a:endParaRPr>
          </a:p>
          <a:p>
            <a:pPr lvl="0" algn="l" defTabSz="609600">
              <a:lnSpc>
                <a:spcPct val="120000"/>
              </a:lnSpc>
              <a:defRPr/>
            </a:pPr>
            <a:r>
              <a:rPr kumimoji="1" lang="zh-CN" altLang="en-US" sz="2000" b="1" kern="0" dirty="0">
                <a:solidFill>
                  <a:schemeClr val="accent3"/>
                </a:solidFill>
                <a:cs typeface="+mn-ea"/>
                <a:sym typeface="+mn-lt"/>
              </a:rPr>
              <a:t>黑盒测试</a:t>
            </a:r>
            <a:endParaRPr kumimoji="1" lang="zh-CN" altLang="en-US" sz="2000" b="1" kern="0" dirty="0">
              <a:solidFill>
                <a:schemeClr val="accent3"/>
              </a:solidFill>
              <a:cs typeface="+mn-ea"/>
              <a:sym typeface="+mn-lt"/>
            </a:endParaRPr>
          </a:p>
          <a:p>
            <a:pPr lvl="0" algn="l" defTabSz="609600">
              <a:lnSpc>
                <a:spcPct val="120000"/>
              </a:lnSpc>
              <a:defRPr/>
            </a:pPr>
            <a:r>
              <a:rPr kumimoji="1" lang="zh-CN" altLang="en-US" sz="2000" b="1" kern="0" dirty="0">
                <a:solidFill>
                  <a:schemeClr val="accent3"/>
                </a:solidFill>
                <a:cs typeface="+mn-ea"/>
                <a:sym typeface="+mn-lt"/>
              </a:rPr>
              <a:t>调试</a:t>
            </a:r>
            <a:endParaRPr kumimoji="1" lang="zh-CN" altLang="en-US" sz="2000" b="1" kern="0" dirty="0">
              <a:solidFill>
                <a:schemeClr val="accent3"/>
              </a:solidFill>
              <a:cs typeface="+mn-ea"/>
              <a:sym typeface="+mn-lt"/>
            </a:endParaRPr>
          </a:p>
          <a:p>
            <a:pPr lvl="0" algn="l" defTabSz="609600">
              <a:lnSpc>
                <a:spcPct val="120000"/>
              </a:lnSpc>
              <a:defRPr/>
            </a:pPr>
            <a:r>
              <a:rPr kumimoji="1" lang="zh-CN" altLang="en-US" sz="2000" b="1" kern="0" dirty="0">
                <a:solidFill>
                  <a:schemeClr val="accent3"/>
                </a:solidFill>
                <a:cs typeface="+mn-ea"/>
                <a:sym typeface="+mn-lt"/>
              </a:rPr>
              <a:t>软件可靠性</a:t>
            </a:r>
            <a:endParaRPr kumimoji="1" lang="zh-CN" altLang="en-US" sz="2000" b="1" kern="0" dirty="0">
              <a:solidFill>
                <a:schemeClr val="accent3"/>
              </a:solidFill>
              <a:cs typeface="+mn-ea"/>
              <a:sym typeface="+mn-lt"/>
            </a:endParaRPr>
          </a:p>
          <a:p>
            <a:pPr lvl="0" algn="l" defTabSz="609600">
              <a:lnSpc>
                <a:spcPct val="120000"/>
              </a:lnSpc>
              <a:defRPr/>
            </a:pPr>
            <a:r>
              <a:rPr kumimoji="1" lang="zh-CN" altLang="en-US" sz="2000" b="1" kern="0" dirty="0">
                <a:solidFill>
                  <a:schemeClr val="accent3"/>
                </a:solidFill>
                <a:cs typeface="+mn-ea"/>
                <a:sym typeface="+mn-lt"/>
              </a:rPr>
              <a:t>维护</a:t>
            </a:r>
            <a:endParaRPr kumimoji="1" lang="zh-CN" altLang="en-US" sz="2000" b="1" kern="0" dirty="0">
              <a:solidFill>
                <a:schemeClr val="accent3"/>
              </a:solidFill>
              <a:cs typeface="+mn-ea"/>
              <a:sym typeface="+mn-lt"/>
            </a:endParaRPr>
          </a:p>
          <a:p>
            <a:pPr lvl="0" algn="l" defTabSz="609600">
              <a:lnSpc>
                <a:spcPct val="120000"/>
              </a:lnSpc>
              <a:defRPr/>
            </a:pPr>
            <a:endParaRPr kumimoji="1" lang="zh-CN" altLang="en-US" sz="2000" b="1" kern="0" dirty="0">
              <a:solidFill>
                <a:schemeClr val="accent3"/>
              </a:solidFill>
              <a:cs typeface="+mn-ea"/>
              <a:sym typeface="+mn-lt"/>
            </a:endParaRPr>
          </a:p>
        </p:txBody>
      </p:sp>
      <p:sp>
        <p:nvSpPr>
          <p:cNvPr id="55" name="文本框 54"/>
          <p:cNvSpPr txBox="1"/>
          <p:nvPr/>
        </p:nvSpPr>
        <p:spPr>
          <a:xfrm>
            <a:off x="5671327" y="1776232"/>
            <a:ext cx="1313180" cy="769441"/>
          </a:xfrm>
          <a:prstGeom prst="rect">
            <a:avLst/>
          </a:prstGeom>
        </p:spPr>
        <p:txBody>
          <a:bodyPr wrap="none">
            <a:spAutoFit/>
          </a:bodyPr>
          <a:lstStyle>
            <a:defPPr>
              <a:defRPr lang="en-US"/>
            </a:defPPr>
            <a:lvl1pPr lvl="0" defTabSz="685800">
              <a:defRPr sz="4400" b="1" kern="0">
                <a:solidFill>
                  <a:schemeClr val="accent3"/>
                </a:solidFill>
                <a:latin typeface="微软雅黑" panose="020B0503020204020204" charset="-122"/>
                <a:ea typeface="微软雅黑" panose="020B0503020204020204" charset="-122"/>
              </a:defRPr>
            </a:lvl1pPr>
          </a:lstStyle>
          <a:p>
            <a:r>
              <a:rPr lang="zh-CN" altLang="en-US">
                <a:solidFill>
                  <a:schemeClr val="bg1"/>
                </a:solidFill>
                <a:latin typeface="+mn-lt"/>
                <a:ea typeface="+mn-ea"/>
                <a:cs typeface="+mn-ea"/>
                <a:sym typeface="+mn-lt"/>
              </a:rPr>
              <a:t>目录</a:t>
            </a:r>
            <a:endParaRPr lang="zh-CN" altLang="en-US">
              <a:solidFill>
                <a:schemeClr val="bg1"/>
              </a:solidFill>
              <a:latin typeface="+mn-lt"/>
              <a:ea typeface="+mn-ea"/>
              <a:cs typeface="+mn-ea"/>
              <a:sym typeface="+mn-lt"/>
            </a:endParaRPr>
          </a:p>
        </p:txBody>
      </p:sp>
      <p:sp>
        <p:nvSpPr>
          <p:cNvPr id="56" name="文本框 55"/>
          <p:cNvSpPr txBox="1"/>
          <p:nvPr/>
        </p:nvSpPr>
        <p:spPr>
          <a:xfrm>
            <a:off x="5515836" y="2495913"/>
            <a:ext cx="1624163" cy="400110"/>
          </a:xfrm>
          <a:prstGeom prst="rect">
            <a:avLst/>
          </a:prstGeom>
          <a:noFill/>
        </p:spPr>
        <p:txBody>
          <a:bodyPr wrap="none" rtlCol="0">
            <a:spAutoFit/>
          </a:bodyPr>
          <a:lstStyle/>
          <a:p>
            <a:pPr lvl="0" algn="ctr" defTabSz="609600">
              <a:defRPr/>
            </a:pPr>
            <a:r>
              <a:rPr kumimoji="1" lang="en-US" altLang="zh-CN" sz="2000" b="1" kern="0">
                <a:solidFill>
                  <a:schemeClr val="bg1"/>
                </a:solidFill>
                <a:cs typeface="+mn-ea"/>
                <a:sym typeface="+mn-lt"/>
              </a:rPr>
              <a:t>CONTENTS</a:t>
            </a:r>
            <a:endParaRPr kumimoji="1" lang="zh-CN" altLang="en-US" sz="2000" b="1" kern="0">
              <a:solidFill>
                <a:schemeClr val="bg1"/>
              </a:solidFill>
              <a:cs typeface="+mn-ea"/>
              <a:sym typeface="+mn-lt"/>
            </a:endParaRPr>
          </a:p>
        </p:txBody>
      </p:sp>
      <p:cxnSp>
        <p:nvCxnSpPr>
          <p:cNvPr id="4" name="直接连接符 3"/>
          <p:cNvCxnSpPr/>
          <p:nvPr/>
        </p:nvCxnSpPr>
        <p:spPr>
          <a:xfrm>
            <a:off x="6169209" y="2990398"/>
            <a:ext cx="31741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编码</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27355" y="476885"/>
            <a:ext cx="8424545" cy="3846195"/>
          </a:xfrm>
          <a:prstGeom prst="rect">
            <a:avLst/>
          </a:prstGeom>
          <a:noFill/>
        </p:spPr>
        <p:txBody>
          <a:bodyPr wrap="square" rtlCol="0">
            <a:spAutoFit/>
          </a:bodyPr>
          <a:p>
            <a:r>
              <a:rPr lang="en-US" altLang="zh-CN"/>
              <a:t>1</a:t>
            </a:r>
            <a:r>
              <a:rPr lang="zh-CN" altLang="en-US"/>
              <a:t>编码</a:t>
            </a:r>
            <a:endParaRPr lang="zh-CN" altLang="en-US"/>
          </a:p>
          <a:p>
            <a:r>
              <a:rPr lang="en-US" altLang="zh-CN"/>
              <a:t>	</a:t>
            </a:r>
            <a:r>
              <a:rPr lang="en-US" altLang="zh-CN" sz="1600"/>
              <a:t>1.1 </a:t>
            </a:r>
            <a:r>
              <a:rPr lang="zh-CN" altLang="en-US" sz="1600"/>
              <a:t>选择程序设计语言</a:t>
            </a:r>
            <a:endParaRPr lang="zh-CN" altLang="en-US" sz="1600"/>
          </a:p>
          <a:p>
            <a:r>
              <a:rPr lang="en-US" altLang="zh-CN"/>
              <a:t>		</a:t>
            </a:r>
            <a:r>
              <a:rPr lang="zh-CN" altLang="en-US" sz="1400"/>
              <a:t>选择程序设计语言的标准：</a:t>
            </a:r>
            <a:endParaRPr lang="zh-CN" altLang="en-US" sz="1400"/>
          </a:p>
          <a:p>
            <a:pPr marL="1543050" lvl="3" indent="-171450">
              <a:buFont typeface="Arial" panose="020B0604020202020204" pitchFamily="34" charset="0"/>
              <a:buChar char="•"/>
            </a:pPr>
            <a:r>
              <a:rPr lang="zh-CN" altLang="en-US" sz="1200">
                <a:solidFill>
                  <a:schemeClr val="tx1"/>
                </a:solidFill>
              </a:rPr>
              <a:t>系统用户的要求</a:t>
            </a:r>
            <a:r>
              <a:rPr lang="zh-CN" sz="1200">
                <a:solidFill>
                  <a:schemeClr val="tx1"/>
                </a:solidFill>
              </a:rPr>
              <a:t>。</a:t>
            </a:r>
            <a:endParaRPr lang="zh-CN" sz="1200">
              <a:solidFill>
                <a:schemeClr val="tx1"/>
              </a:solidFill>
            </a:endParaRPr>
          </a:p>
          <a:p>
            <a:pPr marL="1543050" lvl="3" indent="-171450">
              <a:buFont typeface="Arial" panose="020B0604020202020204" pitchFamily="34" charset="0"/>
              <a:buChar char="•"/>
            </a:pPr>
            <a:r>
              <a:rPr lang="zh-CN" altLang="en-US" sz="1200">
                <a:solidFill>
                  <a:schemeClr val="tx1"/>
                </a:solidFill>
              </a:rPr>
              <a:t>可以使用的编译程序。</a:t>
            </a:r>
            <a:endParaRPr lang="zh-CN" altLang="en-US" sz="1200">
              <a:solidFill>
                <a:schemeClr val="tx1"/>
              </a:solidFill>
            </a:endParaRPr>
          </a:p>
          <a:p>
            <a:pPr marL="1543050" lvl="3" indent="-171450">
              <a:buFont typeface="Arial" panose="020B0604020202020204" pitchFamily="34" charset="0"/>
              <a:buChar char="•"/>
            </a:pPr>
            <a:r>
              <a:rPr lang="zh-CN" altLang="en-US" sz="1200">
                <a:solidFill>
                  <a:schemeClr val="tx1"/>
                </a:solidFill>
              </a:rPr>
              <a:t>可以得到的软件工具</a:t>
            </a:r>
            <a:r>
              <a:rPr lang="zh-CN" altLang="en-US" sz="1200">
                <a:solidFill>
                  <a:schemeClr val="tx1"/>
                </a:solidFill>
              </a:rPr>
              <a:t>。</a:t>
            </a:r>
            <a:endParaRPr lang="zh-CN" altLang="en-US" sz="1200">
              <a:solidFill>
                <a:schemeClr val="tx1"/>
              </a:solidFill>
            </a:endParaRPr>
          </a:p>
          <a:p>
            <a:pPr marL="1543050" lvl="3" indent="-171450">
              <a:buFont typeface="Arial" panose="020B0604020202020204" pitchFamily="34" charset="0"/>
              <a:buChar char="•"/>
            </a:pPr>
            <a:r>
              <a:rPr lang="zh-CN" altLang="en-US" sz="1200">
                <a:solidFill>
                  <a:schemeClr val="tx1"/>
                </a:solidFill>
              </a:rPr>
              <a:t>工程规模</a:t>
            </a:r>
            <a:endParaRPr lang="zh-CN" altLang="en-US" sz="1200">
              <a:solidFill>
                <a:schemeClr val="tx1"/>
              </a:solidFill>
            </a:endParaRPr>
          </a:p>
          <a:p>
            <a:pPr marL="1543050" lvl="3" indent="-171450">
              <a:buFont typeface="Arial" panose="020B0604020202020204" pitchFamily="34" charset="0"/>
              <a:buChar char="•"/>
            </a:pPr>
            <a:r>
              <a:rPr lang="zh-CN" altLang="en-US" sz="1200">
                <a:solidFill>
                  <a:schemeClr val="tx1"/>
                </a:solidFill>
              </a:rPr>
              <a:t>程序员的知识</a:t>
            </a:r>
            <a:endParaRPr lang="zh-CN" altLang="en-US" sz="1200">
              <a:solidFill>
                <a:schemeClr val="tx1"/>
              </a:solidFill>
            </a:endParaRPr>
          </a:p>
          <a:p>
            <a:pPr marL="1543050" lvl="3" indent="-171450">
              <a:buFont typeface="Arial" panose="020B0604020202020204" pitchFamily="34" charset="0"/>
              <a:buChar char="•"/>
            </a:pPr>
            <a:r>
              <a:rPr lang="zh-CN" altLang="en-US" sz="1200">
                <a:solidFill>
                  <a:schemeClr val="tx1"/>
                </a:solidFill>
              </a:rPr>
              <a:t>软件可移植性要求</a:t>
            </a:r>
            <a:endParaRPr lang="zh-CN" altLang="en-US" sz="1200">
              <a:solidFill>
                <a:schemeClr val="tx1"/>
              </a:solidFill>
            </a:endParaRPr>
          </a:p>
          <a:p>
            <a:pPr marL="1543050" lvl="3" indent="-171450">
              <a:buFont typeface="Arial" panose="020B0604020202020204" pitchFamily="34" charset="0"/>
              <a:buChar char="•"/>
            </a:pPr>
            <a:r>
              <a:rPr lang="zh-CN" altLang="en-US" sz="1200">
                <a:solidFill>
                  <a:schemeClr val="tx1"/>
                </a:solidFill>
              </a:rPr>
              <a:t>软件的应用领域</a:t>
            </a:r>
            <a:endParaRPr lang="zh-CN" altLang="en-US" sz="1200">
              <a:solidFill>
                <a:schemeClr val="tx1"/>
              </a:solidFill>
            </a:endParaRPr>
          </a:p>
          <a:p>
            <a:pPr marL="0" lvl="0" indent="0" algn="l">
              <a:buFont typeface="Arial" panose="020B0604020202020204" pitchFamily="34" charset="0"/>
              <a:buNone/>
            </a:pPr>
            <a:r>
              <a:rPr lang="en-US" altLang="zh-CN">
                <a:solidFill>
                  <a:schemeClr val="tx1"/>
                </a:solidFill>
              </a:rPr>
              <a:t>	</a:t>
            </a:r>
            <a:r>
              <a:rPr lang="en-US" altLang="zh-CN" sz="1600">
                <a:solidFill>
                  <a:schemeClr val="tx1"/>
                </a:solidFill>
              </a:rPr>
              <a:t>1.2 </a:t>
            </a:r>
            <a:r>
              <a:rPr lang="zh-CN" altLang="en-US" sz="1600">
                <a:solidFill>
                  <a:schemeClr val="tx1"/>
                </a:solidFill>
              </a:rPr>
              <a:t>编码风格</a:t>
            </a:r>
            <a:endParaRPr lang="zh-CN" altLang="en-US" sz="1600">
              <a:solidFill>
                <a:schemeClr val="tx1"/>
              </a:solidFill>
            </a:endParaRPr>
          </a:p>
          <a:p>
            <a:pPr marL="0" lvl="0" indent="0" algn="l">
              <a:buFont typeface="Arial" panose="020B0604020202020204" pitchFamily="34" charset="0"/>
              <a:buNone/>
            </a:pPr>
            <a:r>
              <a:rPr lang="en-US" altLang="zh-CN" sz="1600">
                <a:solidFill>
                  <a:schemeClr val="tx1"/>
                </a:solidFill>
              </a:rPr>
              <a:t>		</a:t>
            </a:r>
            <a:r>
              <a:rPr lang="zh-CN" altLang="en-US" sz="1400">
                <a:solidFill>
                  <a:schemeClr val="tx1"/>
                </a:solidFill>
              </a:rPr>
              <a:t>编码风格：</a:t>
            </a:r>
            <a:endParaRPr lang="zh-CN" altLang="en-US" sz="1400">
              <a:solidFill>
                <a:schemeClr val="tx1"/>
              </a:solidFill>
            </a:endParaRPr>
          </a:p>
          <a:p>
            <a:pPr marL="1543050" lvl="3" indent="-171450" algn="l">
              <a:buFont typeface="Arial" panose="020B0604020202020204" pitchFamily="34" charset="0"/>
              <a:buChar char="•"/>
            </a:pPr>
            <a:r>
              <a:rPr lang="zh-CN" altLang="en-US" sz="1200">
                <a:solidFill>
                  <a:schemeClr val="tx1"/>
                </a:solidFill>
              </a:rPr>
              <a:t>程序内部的文档</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数据说明</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语句构造</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输入输出</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效率</a:t>
            </a:r>
            <a:endParaRPr lang="zh-CN" altLang="en-US" sz="1200">
              <a:solidFill>
                <a:schemeClr val="tx1"/>
              </a:solidFill>
            </a:endParaRPr>
          </a:p>
          <a:p>
            <a:pPr lvl="3" indent="0" algn="l">
              <a:buFont typeface="Arial" panose="020B0604020202020204" pitchFamily="34" charset="0"/>
              <a:buNone/>
            </a:pPr>
            <a:endParaRPr lang="zh-CN" altLang="en-US" sz="12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35356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软件测试基础</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1960" y="448310"/>
            <a:ext cx="8424545" cy="4030980"/>
          </a:xfrm>
          <a:prstGeom prst="rect">
            <a:avLst/>
          </a:prstGeom>
          <a:noFill/>
        </p:spPr>
        <p:txBody>
          <a:bodyPr wrap="square" rtlCol="0">
            <a:spAutoFit/>
          </a:bodyPr>
          <a:p>
            <a:r>
              <a:rPr lang="en-US"/>
              <a:t>2.</a:t>
            </a:r>
            <a:r>
              <a:rPr lang="zh-CN" altLang="en-US"/>
              <a:t>软件测试基础</a:t>
            </a:r>
            <a:endParaRPr lang="zh-CN" altLang="en-US"/>
          </a:p>
          <a:p>
            <a:r>
              <a:rPr lang="en-US" altLang="zh-CN"/>
              <a:t>	</a:t>
            </a:r>
            <a:r>
              <a:rPr lang="en-US" altLang="zh-CN" sz="1600"/>
              <a:t>2.1 </a:t>
            </a:r>
            <a:r>
              <a:rPr lang="zh-CN" altLang="en-US" sz="1600"/>
              <a:t>软件测试的目标</a:t>
            </a:r>
            <a:endParaRPr lang="zh-CN" altLang="en-US" sz="1600"/>
          </a:p>
          <a:p>
            <a:r>
              <a:rPr lang="en-US" altLang="zh-CN"/>
              <a:t>		</a:t>
            </a:r>
            <a:r>
              <a:rPr lang="zh-CN" altLang="en-US" sz="1400"/>
              <a:t>测试的规则</a:t>
            </a:r>
            <a:r>
              <a:rPr lang="zh-CN" altLang="en-US" sz="1400"/>
              <a:t>：</a:t>
            </a:r>
            <a:endParaRPr lang="zh-CN" altLang="en-US" sz="1400"/>
          </a:p>
          <a:p>
            <a:pPr marL="1543050" lvl="3" indent="-171450" algn="l">
              <a:buFont typeface="Arial" panose="020B0604020202020204" pitchFamily="34" charset="0"/>
              <a:buChar char="•"/>
            </a:pPr>
            <a:r>
              <a:rPr lang="zh-CN" altLang="en-US" sz="1200">
                <a:solidFill>
                  <a:schemeClr val="tx1"/>
                </a:solidFill>
              </a:rPr>
              <a:t>测试是为了发现程序中的错误而执行程序的过程。</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好的测试方案是极可能发现迄今为止尚未发现的错误的测试方案。</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成功的测试是发现了迄今为止尚未发现的错误的测试。</a:t>
            </a:r>
            <a:endParaRPr lang="en-US" altLang="zh-CN">
              <a:solidFill>
                <a:schemeClr val="tx1"/>
              </a:solidFill>
            </a:endParaRPr>
          </a:p>
          <a:p>
            <a:pPr marL="0" lvl="0" indent="0" algn="l">
              <a:buFont typeface="Arial" panose="020B0604020202020204" pitchFamily="34" charset="0"/>
              <a:buNone/>
            </a:pPr>
            <a:r>
              <a:rPr lang="en-US" altLang="zh-CN">
                <a:solidFill>
                  <a:schemeClr val="tx1"/>
                </a:solidFill>
              </a:rPr>
              <a:t>	</a:t>
            </a:r>
            <a:r>
              <a:rPr lang="en-US" altLang="zh-CN" sz="1600">
                <a:solidFill>
                  <a:schemeClr val="tx1"/>
                </a:solidFill>
              </a:rPr>
              <a:t>2</a:t>
            </a:r>
            <a:r>
              <a:rPr lang="en-US" altLang="zh-CN" sz="1600">
                <a:solidFill>
                  <a:schemeClr val="tx1"/>
                </a:solidFill>
              </a:rPr>
              <a:t>.2 </a:t>
            </a:r>
            <a:r>
              <a:rPr lang="zh-CN" altLang="en-US" sz="1600">
                <a:solidFill>
                  <a:schemeClr val="tx1"/>
                </a:solidFill>
              </a:rPr>
              <a:t>软件测试准则</a:t>
            </a:r>
            <a:endParaRPr lang="zh-CN" altLang="en-US" sz="1600">
              <a:solidFill>
                <a:schemeClr val="tx1"/>
              </a:solidFill>
            </a:endParaRPr>
          </a:p>
          <a:p>
            <a:pPr marL="0" lvl="0" indent="0" algn="l">
              <a:buFont typeface="Arial" panose="020B0604020202020204" pitchFamily="34" charset="0"/>
              <a:buNone/>
            </a:pPr>
            <a:r>
              <a:rPr lang="en-US" altLang="zh-CN" sz="1600">
                <a:solidFill>
                  <a:schemeClr val="tx1"/>
                </a:solidFill>
              </a:rPr>
              <a:t>		</a:t>
            </a:r>
            <a:r>
              <a:rPr lang="zh-CN" altLang="en-US" sz="1400">
                <a:solidFill>
                  <a:schemeClr val="tx1"/>
                </a:solidFill>
              </a:rPr>
              <a:t>测试准则</a:t>
            </a:r>
            <a:r>
              <a:rPr lang="zh-CN" altLang="en-US" sz="1400">
                <a:solidFill>
                  <a:schemeClr val="tx1"/>
                </a:solidFill>
              </a:rPr>
              <a:t>：</a:t>
            </a:r>
            <a:endParaRPr lang="zh-CN" altLang="en-US" sz="1400">
              <a:solidFill>
                <a:schemeClr val="tx1"/>
              </a:solidFill>
            </a:endParaRPr>
          </a:p>
          <a:p>
            <a:pPr marL="1543050" lvl="3" indent="-171450" algn="l">
              <a:buFont typeface="Arial" panose="020B0604020202020204" pitchFamily="34" charset="0"/>
              <a:buChar char="•"/>
            </a:pPr>
            <a:r>
              <a:rPr lang="zh-CN" altLang="en-US" sz="1200">
                <a:solidFill>
                  <a:schemeClr val="tx1"/>
                </a:solidFill>
              </a:rPr>
              <a:t>所有的测试都应该能追溯到用户需求</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应该远在测试开始之前就制定出测试计划</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把</a:t>
            </a:r>
            <a:r>
              <a:rPr lang="en-US" altLang="zh-CN" sz="1200">
                <a:solidFill>
                  <a:schemeClr val="tx1"/>
                </a:solidFill>
              </a:rPr>
              <a:t>Pareto</a:t>
            </a:r>
            <a:r>
              <a:rPr lang="zh-CN" altLang="en-US" sz="1200">
                <a:solidFill>
                  <a:schemeClr val="tx1"/>
                </a:solidFill>
              </a:rPr>
              <a:t>原理应用到软件测试中</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应该从</a:t>
            </a:r>
            <a:r>
              <a:rPr lang="en-US" altLang="zh-CN" sz="1200">
                <a:solidFill>
                  <a:schemeClr val="tx1"/>
                </a:solidFill>
              </a:rPr>
              <a:t>“</a:t>
            </a:r>
            <a:r>
              <a:rPr lang="zh-CN" altLang="en-US" sz="1200">
                <a:sym typeface="+mn-ea"/>
              </a:rPr>
              <a:t>小规模</a:t>
            </a:r>
            <a:r>
              <a:rPr lang="en-US" altLang="zh-CN" sz="1200">
                <a:solidFill>
                  <a:schemeClr val="tx1"/>
                </a:solidFill>
              </a:rPr>
              <a:t>”</a:t>
            </a:r>
            <a:r>
              <a:rPr lang="zh-CN" altLang="en-US" sz="1200">
                <a:solidFill>
                  <a:schemeClr val="tx1"/>
                </a:solidFill>
              </a:rPr>
              <a:t>测试开始，并逐渐进行</a:t>
            </a:r>
            <a:r>
              <a:rPr lang="en-US" altLang="zh-CN" sz="1200">
                <a:solidFill>
                  <a:schemeClr val="tx1"/>
                </a:solidFill>
              </a:rPr>
              <a:t>“</a:t>
            </a:r>
            <a:r>
              <a:rPr lang="zh-CN" altLang="en-US" sz="1200">
                <a:solidFill>
                  <a:schemeClr val="tx1"/>
                </a:solidFill>
              </a:rPr>
              <a:t>大规模</a:t>
            </a:r>
            <a:r>
              <a:rPr lang="en-US" altLang="zh-CN" sz="1200">
                <a:solidFill>
                  <a:schemeClr val="tx1"/>
                </a:solidFill>
              </a:rPr>
              <a:t>”</a:t>
            </a:r>
            <a:r>
              <a:rPr lang="zh-CN" altLang="en-US" sz="1200">
                <a:solidFill>
                  <a:schemeClr val="tx1"/>
                </a:solidFill>
              </a:rPr>
              <a:t>测试</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穷举测试是不可能的</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为了达到最佳的测试效果，应该由独立的第三方进行测试工作</a:t>
            </a:r>
            <a:endParaRPr lang="zh-CN" altLang="en-US" sz="1200">
              <a:solidFill>
                <a:schemeClr val="tx1"/>
              </a:solidFill>
            </a:endParaRPr>
          </a:p>
          <a:p>
            <a:pPr lvl="1" indent="0" algn="l">
              <a:buFont typeface="Arial" panose="020B0604020202020204" pitchFamily="34" charset="0"/>
              <a:buNone/>
            </a:pPr>
            <a:r>
              <a:rPr lang="en-US" altLang="zh-CN" sz="1600">
                <a:solidFill>
                  <a:schemeClr val="tx1"/>
                </a:solidFill>
              </a:rPr>
              <a:t>2.3</a:t>
            </a:r>
            <a:r>
              <a:rPr lang="zh-CN" altLang="en-US" sz="1600">
                <a:solidFill>
                  <a:schemeClr val="tx1"/>
                </a:solidFill>
              </a:rPr>
              <a:t>测试方法</a:t>
            </a:r>
            <a:endParaRPr lang="zh-CN" altLang="en-US" sz="1600">
              <a:solidFill>
                <a:schemeClr val="tx1"/>
              </a:solidFill>
            </a:endParaRPr>
          </a:p>
          <a:p>
            <a:pPr lvl="1" indent="0" algn="l">
              <a:buFont typeface="Arial" panose="020B0604020202020204" pitchFamily="34" charset="0"/>
              <a:buNone/>
            </a:pPr>
            <a:r>
              <a:rPr lang="en-US" altLang="zh-CN" sz="1600">
                <a:solidFill>
                  <a:schemeClr val="tx1"/>
                </a:solidFill>
              </a:rPr>
              <a:t>	</a:t>
            </a:r>
            <a:r>
              <a:rPr lang="zh-CN" altLang="en-US" sz="1400">
                <a:solidFill>
                  <a:schemeClr val="tx1"/>
                </a:solidFill>
              </a:rPr>
              <a:t>测试方法：白盒测试与黑盒测试。如果知道产品的内部工作过程，用白盒测试，如果知道了产品应该具有的功能，应该用黑盒测试。</a:t>
            </a:r>
            <a:endParaRPr lang="zh-CN" altLang="en-US" sz="1400">
              <a:solidFill>
                <a:schemeClr val="tx1"/>
              </a:solidFill>
            </a:endParaRPr>
          </a:p>
          <a:p>
            <a:pPr lvl="1" indent="0" algn="l">
              <a:buFont typeface="Arial" panose="020B0604020202020204" pitchFamily="34" charset="0"/>
              <a:buNone/>
            </a:pPr>
            <a:endParaRPr lang="zh-CN" altLang="en-US" sz="14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1165" y="387350"/>
            <a:ext cx="7964170" cy="2522855"/>
          </a:xfrm>
          <a:prstGeom prst="rect">
            <a:avLst/>
          </a:prstGeom>
          <a:noFill/>
        </p:spPr>
        <p:txBody>
          <a:bodyPr wrap="square" rtlCol="0" anchor="t">
            <a:spAutoFit/>
          </a:bodyPr>
          <a:p>
            <a:r>
              <a:rPr lang="en-US" altLang="zh-CN">
                <a:sym typeface="+mn-ea"/>
              </a:rPr>
              <a:t>2.</a:t>
            </a:r>
            <a:r>
              <a:rPr lang="zh-CN" altLang="en-US">
                <a:sym typeface="+mn-ea"/>
              </a:rPr>
              <a:t>软件测试基础</a:t>
            </a:r>
            <a:endParaRPr lang="en-US" altLang="zh-CN">
              <a:sym typeface="+mn-ea"/>
            </a:endParaRPr>
          </a:p>
          <a:p>
            <a:r>
              <a:rPr lang="en-US" altLang="zh-CN" sz="1600">
                <a:sym typeface="+mn-ea"/>
              </a:rPr>
              <a:t>	2.4</a:t>
            </a:r>
            <a:r>
              <a:rPr lang="zh-CN" altLang="en-US" sz="1600">
                <a:sym typeface="+mn-ea"/>
              </a:rPr>
              <a:t>测试步骤</a:t>
            </a:r>
            <a:endParaRPr lang="zh-CN" altLang="en-US" sz="1600">
              <a:sym typeface="+mn-ea"/>
            </a:endParaRPr>
          </a:p>
          <a:p>
            <a:r>
              <a:rPr lang="en-US" altLang="zh-CN"/>
              <a:t>		</a:t>
            </a:r>
            <a:r>
              <a:rPr lang="zh-CN" altLang="en-US" sz="1400"/>
              <a:t>测试步骤：</a:t>
            </a:r>
            <a:endParaRPr lang="zh-CN" altLang="en-US" sz="1400"/>
          </a:p>
          <a:p>
            <a:pPr marL="1714500" lvl="3" indent="-342900">
              <a:buAutoNum type="arabicPeriod"/>
            </a:pPr>
            <a:r>
              <a:rPr lang="zh-CN" altLang="en-US" sz="1200"/>
              <a:t>模块测试</a:t>
            </a:r>
            <a:endParaRPr lang="zh-CN" altLang="en-US" sz="1200"/>
          </a:p>
          <a:p>
            <a:pPr marL="1714500" lvl="3" indent="-342900">
              <a:buAutoNum type="arabicPeriod"/>
            </a:pPr>
            <a:r>
              <a:rPr lang="zh-CN" altLang="en-US" sz="1200"/>
              <a:t>子系统测试</a:t>
            </a:r>
            <a:endParaRPr lang="zh-CN" altLang="en-US" sz="1200"/>
          </a:p>
          <a:p>
            <a:pPr marL="1714500" lvl="3" indent="-342900">
              <a:buAutoNum type="arabicPeriod"/>
            </a:pPr>
            <a:r>
              <a:rPr lang="zh-CN" altLang="en-US" sz="1200"/>
              <a:t>系统测试</a:t>
            </a:r>
            <a:endParaRPr lang="zh-CN" altLang="en-US" sz="1200"/>
          </a:p>
          <a:p>
            <a:pPr marL="1714500" lvl="3" indent="-342900">
              <a:buAutoNum type="arabicPeriod"/>
            </a:pPr>
            <a:r>
              <a:rPr lang="zh-CN" altLang="en-US" sz="1200"/>
              <a:t>验收测试</a:t>
            </a:r>
            <a:endParaRPr lang="zh-CN" altLang="en-US" sz="1200"/>
          </a:p>
          <a:p>
            <a:pPr marL="1714500" lvl="3" indent="-342900">
              <a:buAutoNum type="arabicPeriod"/>
            </a:pPr>
            <a:r>
              <a:rPr lang="zh-CN" altLang="en-US" sz="1200"/>
              <a:t>平行运行</a:t>
            </a:r>
            <a:endParaRPr lang="zh-CN" altLang="en-US" sz="1200"/>
          </a:p>
          <a:p>
            <a:pPr lvl="1" indent="0">
              <a:buNone/>
            </a:pPr>
            <a:r>
              <a:rPr lang="en-US" altLang="zh-CN" sz="1600">
                <a:solidFill>
                  <a:schemeClr val="tx1"/>
                </a:solidFill>
              </a:rPr>
              <a:t>2.5</a:t>
            </a:r>
            <a:r>
              <a:rPr lang="zh-CN" altLang="en-US" sz="1600">
                <a:solidFill>
                  <a:schemeClr val="tx1"/>
                </a:solidFill>
              </a:rPr>
              <a:t>测试阶段的信息流</a:t>
            </a:r>
            <a:endParaRPr lang="zh-CN" altLang="en-US" sz="1600">
              <a:solidFill>
                <a:schemeClr val="tx1"/>
              </a:solidFill>
            </a:endParaRPr>
          </a:p>
          <a:p>
            <a:pPr lvl="1" indent="0">
              <a:buNone/>
            </a:pPr>
            <a:r>
              <a:rPr lang="en-US" altLang="zh-CN" sz="1600">
                <a:solidFill>
                  <a:schemeClr val="tx1"/>
                </a:solidFill>
              </a:rPr>
              <a:t>	</a:t>
            </a:r>
            <a:r>
              <a:rPr lang="zh-CN" altLang="en-US" sz="1600">
                <a:solidFill>
                  <a:schemeClr val="tx1"/>
                </a:solidFill>
              </a:rPr>
              <a:t>输入的信息有两类：</a:t>
            </a:r>
            <a:r>
              <a:rPr lang="en-US" altLang="zh-CN" sz="1400">
                <a:solidFill>
                  <a:schemeClr val="tx1"/>
                </a:solidFill>
              </a:rPr>
              <a:t>(1)</a:t>
            </a:r>
            <a:r>
              <a:rPr lang="zh-CN" altLang="en-US" sz="1400">
                <a:solidFill>
                  <a:schemeClr val="tx1"/>
                </a:solidFill>
              </a:rPr>
              <a:t>软件配置，包括需求说明书，设计说明书和源程序清单等；</a:t>
            </a:r>
            <a:r>
              <a:rPr lang="en-US" altLang="zh-CN" sz="1400">
                <a:solidFill>
                  <a:schemeClr val="tx1"/>
                </a:solidFill>
              </a:rPr>
              <a:t>(2)</a:t>
            </a:r>
            <a:r>
              <a:rPr lang="zh-CN" altLang="en-US" sz="1400">
                <a:solidFill>
                  <a:schemeClr val="tx1"/>
                </a:solidFill>
              </a:rPr>
              <a:t>测试配置，包括测试计划和测试方案</a:t>
            </a:r>
            <a:endParaRPr lang="zh-CN" altLang="en-US" sz="1400">
              <a:solidFill>
                <a:schemeClr val="tx1"/>
              </a:solidFill>
            </a:endParaRPr>
          </a:p>
        </p:txBody>
      </p:sp>
      <p:pic>
        <p:nvPicPr>
          <p:cNvPr id="3" name="图片 2"/>
          <p:cNvPicPr>
            <a:picLocks noChangeAspect="1"/>
          </p:cNvPicPr>
          <p:nvPr/>
        </p:nvPicPr>
        <p:blipFill>
          <a:blip r:embed="rId1"/>
          <a:stretch>
            <a:fillRect/>
          </a:stretch>
        </p:blipFill>
        <p:spPr>
          <a:xfrm>
            <a:off x="1685290" y="2910205"/>
            <a:ext cx="5456555" cy="18040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单元测试</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27355" y="476885"/>
            <a:ext cx="8424545" cy="4246245"/>
          </a:xfrm>
          <a:prstGeom prst="rect">
            <a:avLst/>
          </a:prstGeom>
          <a:noFill/>
        </p:spPr>
        <p:txBody>
          <a:bodyPr wrap="square" rtlCol="0">
            <a:spAutoFit/>
          </a:bodyPr>
          <a:p>
            <a:r>
              <a:rPr lang="en-US"/>
              <a:t>3.</a:t>
            </a:r>
            <a:r>
              <a:rPr lang="zh-CN" altLang="en-US"/>
              <a:t>单元测试</a:t>
            </a:r>
            <a:endParaRPr lang="en-US"/>
          </a:p>
          <a:p>
            <a:r>
              <a:rPr lang="en-US" altLang="zh-CN"/>
              <a:t>	</a:t>
            </a:r>
            <a:r>
              <a:rPr lang="en-US" altLang="zh-CN" sz="1600"/>
              <a:t>3.1 </a:t>
            </a:r>
            <a:r>
              <a:rPr lang="zh-CN" altLang="en-US" sz="1600"/>
              <a:t>测试重点</a:t>
            </a:r>
            <a:endParaRPr lang="zh-CN" altLang="en-US" sz="1600"/>
          </a:p>
          <a:p>
            <a:r>
              <a:rPr lang="en-US" altLang="zh-CN"/>
              <a:t>		</a:t>
            </a:r>
            <a:r>
              <a:rPr lang="zh-CN" altLang="en-US" sz="1400"/>
              <a:t>测试重点</a:t>
            </a:r>
            <a:r>
              <a:rPr lang="zh-CN" altLang="en-US" sz="1400"/>
              <a:t>：</a:t>
            </a:r>
            <a:endParaRPr lang="zh-CN" altLang="en-US" sz="1400"/>
          </a:p>
          <a:p>
            <a:pPr marL="1543050" lvl="3" indent="-171450" algn="l">
              <a:buFont typeface="Arial" panose="020B0604020202020204" pitchFamily="34" charset="0"/>
              <a:buChar char="•"/>
            </a:pPr>
            <a:r>
              <a:rPr lang="zh-CN" altLang="en-US" sz="1200">
                <a:solidFill>
                  <a:schemeClr val="tx1"/>
                </a:solidFill>
              </a:rPr>
              <a:t>模块接口</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局部数据结构</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重要的执行通路</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出错处理通路</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边界条件</a:t>
            </a:r>
            <a:endParaRPr lang="en-US" altLang="zh-CN">
              <a:solidFill>
                <a:schemeClr val="tx1"/>
              </a:solidFill>
            </a:endParaRPr>
          </a:p>
          <a:p>
            <a:pPr marL="0" lvl="0" indent="0" algn="l">
              <a:buFont typeface="Arial" panose="020B0604020202020204" pitchFamily="34" charset="0"/>
              <a:buNone/>
            </a:pPr>
            <a:r>
              <a:rPr lang="en-US" altLang="zh-CN">
                <a:solidFill>
                  <a:schemeClr val="tx1"/>
                </a:solidFill>
              </a:rPr>
              <a:t>	</a:t>
            </a:r>
            <a:r>
              <a:rPr lang="en-US" altLang="zh-CN" sz="1600">
                <a:solidFill>
                  <a:schemeClr val="tx1"/>
                </a:solidFill>
              </a:rPr>
              <a:t>3.2 </a:t>
            </a:r>
            <a:r>
              <a:rPr lang="zh-CN" altLang="en-US" sz="1600">
                <a:solidFill>
                  <a:schemeClr val="tx1"/>
                </a:solidFill>
              </a:rPr>
              <a:t>代码审查</a:t>
            </a:r>
            <a:endParaRPr lang="zh-CN" altLang="en-US" sz="1600">
              <a:solidFill>
                <a:schemeClr val="tx1"/>
              </a:solidFill>
            </a:endParaRPr>
          </a:p>
          <a:p>
            <a:pPr marL="0" lvl="0" indent="0" algn="l">
              <a:buFont typeface="Arial" panose="020B0604020202020204" pitchFamily="34" charset="0"/>
              <a:buNone/>
            </a:pPr>
            <a:r>
              <a:rPr lang="en-US" altLang="zh-CN" sz="1600">
                <a:solidFill>
                  <a:schemeClr val="tx1"/>
                </a:solidFill>
              </a:rPr>
              <a:t>		</a:t>
            </a:r>
            <a:r>
              <a:rPr lang="zh-CN" altLang="en-US" sz="1400">
                <a:solidFill>
                  <a:schemeClr val="tx1"/>
                </a:solidFill>
              </a:rPr>
              <a:t>审查小组的</a:t>
            </a:r>
            <a:r>
              <a:rPr lang="zh-CN" altLang="en-US" sz="1400">
                <a:solidFill>
                  <a:schemeClr val="tx1"/>
                </a:solidFill>
              </a:rPr>
              <a:t>组成</a:t>
            </a:r>
            <a:r>
              <a:rPr lang="zh-CN" altLang="en-US" sz="1400">
                <a:solidFill>
                  <a:schemeClr val="tx1"/>
                </a:solidFill>
              </a:rPr>
              <a:t>：</a:t>
            </a:r>
            <a:endParaRPr lang="zh-CN" altLang="en-US" sz="1400">
              <a:solidFill>
                <a:schemeClr val="tx1"/>
              </a:solidFill>
            </a:endParaRPr>
          </a:p>
          <a:p>
            <a:pPr marL="1543050" lvl="3" indent="-171450" algn="l">
              <a:buFont typeface="Arial" panose="020B0604020202020204" pitchFamily="34" charset="0"/>
              <a:buChar char="•"/>
            </a:pPr>
            <a:r>
              <a:rPr lang="zh-CN" altLang="en-US" sz="1200">
                <a:solidFill>
                  <a:schemeClr val="tx1"/>
                </a:solidFill>
              </a:rPr>
              <a:t>组长，应该是一个很有能力的程序员，而且没有直接参与这项工程</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程序的设计者</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程序的编写者</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程序的测试者</a:t>
            </a:r>
            <a:endParaRPr lang="zh-CN" altLang="en-US" sz="1200">
              <a:solidFill>
                <a:schemeClr val="tx1"/>
              </a:solidFill>
            </a:endParaRPr>
          </a:p>
          <a:p>
            <a:pPr lvl="1" indent="0" algn="l">
              <a:buFont typeface="Arial" panose="020B0604020202020204" pitchFamily="34" charset="0"/>
              <a:buNone/>
            </a:pPr>
            <a:r>
              <a:rPr lang="en-US" altLang="zh-CN" sz="1600">
                <a:solidFill>
                  <a:schemeClr val="tx1"/>
                </a:solidFill>
              </a:rPr>
              <a:t>3.3</a:t>
            </a:r>
            <a:r>
              <a:rPr lang="zh-CN" altLang="en-US" sz="1600">
                <a:solidFill>
                  <a:schemeClr val="tx1"/>
                </a:solidFill>
              </a:rPr>
              <a:t>计算机测试</a:t>
            </a:r>
            <a:endParaRPr lang="zh-CN" altLang="en-US" sz="1600">
              <a:solidFill>
                <a:schemeClr val="tx1"/>
              </a:solidFill>
            </a:endParaRPr>
          </a:p>
          <a:p>
            <a:pPr lvl="1" indent="0" algn="l">
              <a:buFont typeface="Arial" panose="020B0604020202020204" pitchFamily="34" charset="0"/>
              <a:buNone/>
            </a:pPr>
            <a:r>
              <a:rPr lang="en-US" altLang="zh-CN" sz="1600">
                <a:solidFill>
                  <a:schemeClr val="tx1"/>
                </a:solidFill>
              </a:rPr>
              <a:t>	</a:t>
            </a:r>
            <a:r>
              <a:rPr lang="zh-CN" altLang="en-US" sz="1400">
                <a:solidFill>
                  <a:schemeClr val="tx1"/>
                </a:solidFill>
              </a:rPr>
              <a:t>模块并不是一个独立的程序，因此必须为每个单元测试开发驱动软件和存根软件。通常驱动程序接受测试数据，把这些数据传送给北侧是的模块，并且印出有关的结果。存根程序代替被测试的模块所调用的模块。存根程序使用被它代替的模块的接口，可能做最少量的数据操作，引出对入口的检验或者操作结果，并且把控制归还给调用它的模块。</a:t>
            </a:r>
            <a:endParaRPr lang="zh-CN" altLang="en-US" sz="14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59824" y="2081229"/>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集成测试</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27355" y="476885"/>
            <a:ext cx="8424545" cy="3969385"/>
          </a:xfrm>
          <a:prstGeom prst="rect">
            <a:avLst/>
          </a:prstGeom>
          <a:noFill/>
        </p:spPr>
        <p:txBody>
          <a:bodyPr wrap="square" rtlCol="0">
            <a:spAutoFit/>
          </a:bodyPr>
          <a:p>
            <a:r>
              <a:rPr lang="en-US"/>
              <a:t>4.</a:t>
            </a:r>
            <a:r>
              <a:rPr lang="zh-CN" altLang="en-US"/>
              <a:t>集成测试</a:t>
            </a:r>
            <a:endParaRPr lang="zh-CN" altLang="en-US"/>
          </a:p>
          <a:p>
            <a:r>
              <a:rPr lang="en-US" altLang="zh-CN"/>
              <a:t>	</a:t>
            </a:r>
            <a:r>
              <a:rPr lang="en-US" altLang="zh-CN" sz="1600"/>
              <a:t>4.1 </a:t>
            </a:r>
            <a:r>
              <a:rPr lang="zh-CN" altLang="en-US" sz="1600"/>
              <a:t>自顶向下集成</a:t>
            </a:r>
            <a:endParaRPr lang="zh-CN" altLang="en-US" sz="1600"/>
          </a:p>
          <a:p>
            <a:r>
              <a:rPr lang="en-US" altLang="zh-CN"/>
              <a:t>		</a:t>
            </a:r>
            <a:r>
              <a:rPr lang="zh-CN" altLang="en-US" sz="1400"/>
              <a:t>自顶向下集成从主控制模块开始，沿着程序的控制层次向下移动，逐渐把各个模块结合起来。</a:t>
            </a:r>
            <a:r>
              <a:rPr lang="en-US" altLang="zh-CN" sz="1400"/>
              <a:t>			</a:t>
            </a:r>
            <a:r>
              <a:rPr lang="zh-CN" altLang="en-US" sz="1400"/>
              <a:t>在把附属于（及最终附属于）主控制模块的那些模块组装到程序结构中去时，或者使用深度优</a:t>
            </a:r>
            <a:r>
              <a:rPr lang="en-US" altLang="zh-CN" sz="1400"/>
              <a:t>			</a:t>
            </a:r>
            <a:r>
              <a:rPr lang="zh-CN" altLang="en-US" sz="1400"/>
              <a:t>先的策略，或者使用宽度优先的策略。</a:t>
            </a:r>
            <a:endParaRPr lang="zh-CN" altLang="en-US" sz="1400"/>
          </a:p>
          <a:p>
            <a:r>
              <a:rPr lang="en-US" altLang="zh-CN">
                <a:solidFill>
                  <a:schemeClr val="tx1"/>
                </a:solidFill>
              </a:rPr>
              <a:t>	</a:t>
            </a:r>
            <a:r>
              <a:rPr lang="en-US" altLang="zh-CN" sz="1600">
                <a:solidFill>
                  <a:schemeClr val="tx1"/>
                </a:solidFill>
              </a:rPr>
              <a:t>4.2 </a:t>
            </a:r>
            <a:r>
              <a:rPr lang="zh-CN" altLang="en-US" sz="1600">
                <a:solidFill>
                  <a:schemeClr val="tx1"/>
                </a:solidFill>
              </a:rPr>
              <a:t>自底向上集成</a:t>
            </a:r>
            <a:endParaRPr lang="zh-CN" altLang="en-US" sz="1600">
              <a:solidFill>
                <a:schemeClr val="tx1"/>
              </a:solidFill>
            </a:endParaRPr>
          </a:p>
          <a:p>
            <a:pPr marL="0" lvl="0" indent="0" algn="l">
              <a:buFont typeface="Arial" panose="020B0604020202020204" pitchFamily="34" charset="0"/>
              <a:buNone/>
            </a:pPr>
            <a:r>
              <a:rPr lang="en-US" altLang="zh-CN" sz="1600">
                <a:solidFill>
                  <a:schemeClr val="tx1"/>
                </a:solidFill>
              </a:rPr>
              <a:t>		</a:t>
            </a:r>
            <a:r>
              <a:rPr lang="zh-CN" altLang="en-US" sz="1400">
                <a:solidFill>
                  <a:schemeClr val="tx1"/>
                </a:solidFill>
              </a:rPr>
              <a:t>自底向上集成的结合策略步骤</a:t>
            </a:r>
            <a:r>
              <a:rPr lang="zh-CN" altLang="en-US" sz="1400">
                <a:solidFill>
                  <a:schemeClr val="tx1"/>
                </a:solidFill>
              </a:rPr>
              <a:t>：</a:t>
            </a:r>
            <a:endParaRPr lang="zh-CN" altLang="en-US" sz="1400">
              <a:solidFill>
                <a:schemeClr val="tx1"/>
              </a:solidFill>
            </a:endParaRPr>
          </a:p>
          <a:p>
            <a:pPr marL="1600200" lvl="3" indent="-228600" algn="l">
              <a:buFont typeface="Arial" panose="020B0604020202020204" pitchFamily="34" charset="0"/>
              <a:buAutoNum type="arabicPeriod"/>
            </a:pPr>
            <a:r>
              <a:rPr lang="zh-CN" altLang="en-US" sz="1200">
                <a:solidFill>
                  <a:schemeClr val="tx1"/>
                </a:solidFill>
              </a:rPr>
              <a:t>把底层模块组合成实现某个特定的软件子功能的族</a:t>
            </a:r>
            <a:endParaRPr lang="zh-CN" altLang="en-US" sz="1200">
              <a:solidFill>
                <a:schemeClr val="tx1"/>
              </a:solidFill>
            </a:endParaRPr>
          </a:p>
          <a:p>
            <a:pPr marL="1600200" lvl="3" indent="-228600" algn="l">
              <a:buFont typeface="Arial" panose="020B0604020202020204" pitchFamily="34" charset="0"/>
              <a:buAutoNum type="arabicPeriod"/>
            </a:pPr>
            <a:r>
              <a:rPr lang="zh-CN" altLang="en-US" sz="1200">
                <a:solidFill>
                  <a:schemeClr val="tx1"/>
                </a:solidFill>
              </a:rPr>
              <a:t>写一个驱动程序（用于测试的控制程序），协调测试数据得到输入和输出</a:t>
            </a:r>
            <a:endParaRPr lang="zh-CN" altLang="en-US" sz="1200">
              <a:solidFill>
                <a:schemeClr val="tx1"/>
              </a:solidFill>
            </a:endParaRPr>
          </a:p>
          <a:p>
            <a:pPr marL="1600200" lvl="3" indent="-228600" algn="l">
              <a:buFont typeface="Arial" panose="020B0604020202020204" pitchFamily="34" charset="0"/>
              <a:buAutoNum type="arabicPeriod"/>
            </a:pPr>
            <a:r>
              <a:rPr lang="zh-CN" altLang="en-US" sz="1200">
                <a:solidFill>
                  <a:schemeClr val="tx1"/>
                </a:solidFill>
              </a:rPr>
              <a:t>对由模块组成的子功能族进行测试</a:t>
            </a:r>
            <a:endParaRPr lang="zh-CN" altLang="en-US" sz="1200">
              <a:solidFill>
                <a:schemeClr val="tx1"/>
              </a:solidFill>
            </a:endParaRPr>
          </a:p>
          <a:p>
            <a:pPr marL="1600200" lvl="3" indent="-228600" algn="l">
              <a:buFont typeface="Arial" panose="020B0604020202020204" pitchFamily="34" charset="0"/>
              <a:buAutoNum type="arabicPeriod"/>
            </a:pPr>
            <a:r>
              <a:rPr lang="zh-CN" altLang="en-US" sz="1200">
                <a:solidFill>
                  <a:schemeClr val="tx1"/>
                </a:solidFill>
              </a:rPr>
              <a:t>去掉驱动程序，沿软件结构自下向上移动，把子功能族组合起来形成更大的子功能族</a:t>
            </a:r>
            <a:endParaRPr lang="zh-CN" altLang="en-US" sz="1200">
              <a:solidFill>
                <a:schemeClr val="tx1"/>
              </a:solidFill>
            </a:endParaRPr>
          </a:p>
          <a:p>
            <a:pPr marL="800100" lvl="1" indent="-342900" algn="l">
              <a:buFont typeface="Arial" panose="020B0604020202020204" pitchFamily="34" charset="0"/>
              <a:buNone/>
            </a:pPr>
            <a:r>
              <a:rPr lang="en-US" altLang="zh-CN" sz="1600">
                <a:solidFill>
                  <a:schemeClr val="tx1"/>
                </a:solidFill>
              </a:rPr>
              <a:t>4.3</a:t>
            </a:r>
            <a:r>
              <a:rPr lang="zh-CN" altLang="en-US" sz="1600">
                <a:solidFill>
                  <a:schemeClr val="tx1"/>
                </a:solidFill>
              </a:rPr>
              <a:t>不同集成测试策略的比较</a:t>
            </a:r>
            <a:endParaRPr lang="zh-CN" altLang="en-US" sz="1600">
              <a:solidFill>
                <a:schemeClr val="tx1"/>
              </a:solidFill>
            </a:endParaRPr>
          </a:p>
          <a:p>
            <a:pPr lvl="1" indent="0" algn="l">
              <a:buFont typeface="Arial" panose="020B0604020202020204" pitchFamily="34" charset="0"/>
              <a:buNone/>
            </a:pPr>
            <a:r>
              <a:rPr lang="en-US" altLang="zh-CN" sz="1600">
                <a:solidFill>
                  <a:schemeClr val="tx1"/>
                </a:solidFill>
              </a:rPr>
              <a:t>	</a:t>
            </a:r>
            <a:r>
              <a:rPr lang="zh-CN" altLang="en-US" sz="1400">
                <a:solidFill>
                  <a:schemeClr val="tx1"/>
                </a:solidFill>
              </a:rPr>
              <a:t>自顶向下测试方法的主要优点：不需要测试驱动程序，能够在测试阶段的早期实现并验证系统的主要功能，而且能在早期发现上层模块的接口错误。</a:t>
            </a:r>
            <a:endParaRPr lang="zh-CN" altLang="en-US" sz="1400">
              <a:solidFill>
                <a:schemeClr val="tx1"/>
              </a:solidFill>
            </a:endParaRPr>
          </a:p>
          <a:p>
            <a:pPr lvl="1" indent="0" algn="l">
              <a:buFont typeface="Arial" panose="020B0604020202020204" pitchFamily="34" charset="0"/>
              <a:buNone/>
            </a:pPr>
            <a:r>
              <a:rPr lang="en-US" altLang="zh-CN" sz="1400">
                <a:solidFill>
                  <a:schemeClr val="tx1"/>
                </a:solidFill>
              </a:rPr>
              <a:t>	</a:t>
            </a:r>
            <a:r>
              <a:rPr lang="zh-CN" altLang="en-US" sz="1400">
                <a:solidFill>
                  <a:schemeClr val="tx1"/>
                </a:solidFill>
              </a:rPr>
              <a:t>自顶向下测试方法的主要缺点：需要存根程序，可能遇到与此相联系的测试困难，底层关键模块中的错误发现较晚，而且用这种方法在早期不能充分展开人力。</a:t>
            </a:r>
            <a:endParaRPr lang="zh-CN" altLang="en-US" sz="1400">
              <a:solidFill>
                <a:schemeClr val="tx1"/>
              </a:solidFill>
            </a:endParaRPr>
          </a:p>
          <a:p>
            <a:pPr lvl="1" indent="0" algn="l">
              <a:buFont typeface="Arial" panose="020B0604020202020204" pitchFamily="34" charset="0"/>
              <a:buNone/>
            </a:pPr>
            <a:r>
              <a:rPr lang="en-US" altLang="zh-CN" sz="1400">
                <a:solidFill>
                  <a:schemeClr val="tx1"/>
                </a:solidFill>
              </a:rPr>
              <a:t>	</a:t>
            </a:r>
            <a:r>
              <a:rPr lang="zh-CN" altLang="en-US" sz="1400">
                <a:solidFill>
                  <a:schemeClr val="tx1"/>
                </a:solidFill>
              </a:rPr>
              <a:t>自底向上方法的主要优缺点与自顶向下测试方法的主要优缺点刚好相反</a:t>
            </a:r>
            <a:endParaRPr lang="zh-CN" altLang="en-US" sz="14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确认测试</a:t>
            </a:r>
            <a:endParaRPr lang="zh-CN" altLang="en-US" sz="4400" b="1" kern="0">
              <a:solidFill>
                <a:schemeClr val="accent3"/>
              </a:solidFill>
              <a:cs typeface="+mn-ea"/>
              <a:sym typeface="+mn-lt"/>
            </a:endParaRPr>
          </a:p>
        </p:txBody>
      </p:sp>
      <p:sp>
        <p:nvSpPr>
          <p:cNvPr id="24" name="矩形: 圆角 23"/>
          <p:cNvSpPr/>
          <p:nvPr/>
        </p:nvSpPr>
        <p:spPr>
          <a:xfrm>
            <a:off x="1947545" y="213169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27355" y="476885"/>
            <a:ext cx="8424545" cy="3661410"/>
          </a:xfrm>
          <a:prstGeom prst="rect">
            <a:avLst/>
          </a:prstGeom>
          <a:noFill/>
        </p:spPr>
        <p:txBody>
          <a:bodyPr wrap="square" rtlCol="0">
            <a:spAutoFit/>
          </a:bodyPr>
          <a:p>
            <a:r>
              <a:rPr lang="en-US"/>
              <a:t>5.</a:t>
            </a:r>
            <a:r>
              <a:rPr lang="zh-CN" altLang="en-US"/>
              <a:t>确认测试</a:t>
            </a:r>
            <a:endParaRPr lang="zh-CN" altLang="en-US"/>
          </a:p>
          <a:p>
            <a:r>
              <a:rPr lang="en-US" altLang="zh-CN"/>
              <a:t>	</a:t>
            </a:r>
            <a:r>
              <a:rPr lang="en-US" altLang="zh-CN" sz="1600"/>
              <a:t>5.1</a:t>
            </a:r>
            <a:r>
              <a:rPr lang="zh-CN" altLang="en-US" sz="1600"/>
              <a:t>确认测试的范围</a:t>
            </a:r>
            <a:endParaRPr lang="zh-CN" altLang="en-US" sz="1600"/>
          </a:p>
          <a:p>
            <a:r>
              <a:rPr lang="en-US" altLang="zh-CN" sz="1600"/>
              <a:t>		</a:t>
            </a:r>
            <a:r>
              <a:rPr lang="zh-CN" altLang="en-US" sz="1400"/>
              <a:t>确认测试通常使用黑盒测试法。测试计划包括要进行的测试的种类及进度安排，测试过程规定</a:t>
            </a:r>
            <a:r>
              <a:rPr lang="en-US" altLang="zh-CN" sz="1400"/>
              <a:t>			</a:t>
            </a:r>
            <a:r>
              <a:rPr lang="zh-CN" altLang="en-US" sz="1400"/>
              <a:t>了用来检测软件是否与需求一致的测试方案。</a:t>
            </a:r>
            <a:endParaRPr lang="zh-CN" altLang="en-US" sz="1400"/>
          </a:p>
          <a:p>
            <a:r>
              <a:rPr lang="en-US" altLang="zh-CN"/>
              <a:t>		</a:t>
            </a:r>
            <a:r>
              <a:rPr lang="zh-CN" altLang="en-US" sz="1400"/>
              <a:t>测试的结果</a:t>
            </a:r>
            <a:r>
              <a:rPr lang="zh-CN" altLang="en-US" sz="1400"/>
              <a:t>：</a:t>
            </a:r>
            <a:endParaRPr lang="zh-CN" altLang="en-US" sz="1400"/>
          </a:p>
          <a:p>
            <a:pPr marL="1543050" lvl="3" indent="-171450" algn="l">
              <a:buFont typeface="Arial" panose="020B0604020202020204" pitchFamily="34" charset="0"/>
              <a:buChar char="•"/>
            </a:pPr>
            <a:r>
              <a:rPr lang="zh-CN" altLang="en-US" sz="1200">
                <a:solidFill>
                  <a:schemeClr val="tx1"/>
                </a:solidFill>
              </a:rPr>
              <a:t>功能和性能</a:t>
            </a:r>
            <a:r>
              <a:rPr lang="zh-CN" altLang="en-US" sz="1200">
                <a:solidFill>
                  <a:schemeClr val="tx1"/>
                </a:solidFill>
              </a:rPr>
              <a:t>与用户要求一致，软件是可以接受的</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功能和性能与用户要求有差距</a:t>
            </a:r>
            <a:endParaRPr lang="en-US" altLang="zh-CN">
              <a:solidFill>
                <a:schemeClr val="tx1"/>
              </a:solidFill>
            </a:endParaRPr>
          </a:p>
          <a:p>
            <a:pPr marL="0" lvl="0" indent="0" algn="l">
              <a:buFont typeface="Arial" panose="020B0604020202020204" pitchFamily="34" charset="0"/>
              <a:buNone/>
            </a:pPr>
            <a:r>
              <a:rPr lang="en-US" altLang="zh-CN">
                <a:solidFill>
                  <a:schemeClr val="tx1"/>
                </a:solidFill>
              </a:rPr>
              <a:t>	</a:t>
            </a:r>
            <a:r>
              <a:rPr lang="en-US" altLang="zh-CN" sz="1600">
                <a:solidFill>
                  <a:schemeClr val="tx1"/>
                </a:solidFill>
              </a:rPr>
              <a:t>5.2 </a:t>
            </a:r>
            <a:r>
              <a:rPr lang="zh-CN" altLang="en-US" sz="1600">
                <a:solidFill>
                  <a:schemeClr val="tx1"/>
                </a:solidFill>
              </a:rPr>
              <a:t>软件配置复查</a:t>
            </a:r>
            <a:endParaRPr lang="zh-CN" altLang="en-US" sz="1600">
              <a:solidFill>
                <a:schemeClr val="tx1"/>
              </a:solidFill>
            </a:endParaRPr>
          </a:p>
          <a:p>
            <a:pPr marL="0" lvl="0" indent="0" algn="l">
              <a:buFont typeface="Arial" panose="020B0604020202020204" pitchFamily="34" charset="0"/>
              <a:buNone/>
            </a:pPr>
            <a:r>
              <a:rPr lang="en-US" altLang="zh-CN" sz="1600">
                <a:solidFill>
                  <a:schemeClr val="tx1"/>
                </a:solidFill>
              </a:rPr>
              <a:t>		</a:t>
            </a:r>
            <a:r>
              <a:rPr lang="zh-CN" altLang="en-US" sz="1600">
                <a:solidFill>
                  <a:schemeClr val="tx1"/>
                </a:solidFill>
              </a:rPr>
              <a:t>复查的目的是保证软件配置的所有成分都齐全，质量符合要求，文档与程序完全一致，具有完成软件维护所必需的细节，而且已经编好</a:t>
            </a:r>
            <a:r>
              <a:rPr lang="zh-CN" altLang="en-US" sz="1600">
                <a:solidFill>
                  <a:schemeClr val="tx1"/>
                </a:solidFill>
              </a:rPr>
              <a:t>目录。</a:t>
            </a:r>
            <a:endParaRPr lang="zh-CN" altLang="en-US" sz="1200">
              <a:solidFill>
                <a:schemeClr val="tx1"/>
              </a:solidFill>
            </a:endParaRPr>
          </a:p>
          <a:p>
            <a:pPr lvl="1" indent="0" algn="l">
              <a:buFont typeface="Arial" panose="020B0604020202020204" pitchFamily="34" charset="0"/>
              <a:buNone/>
            </a:pPr>
            <a:r>
              <a:rPr lang="en-US" sz="1600">
                <a:solidFill>
                  <a:schemeClr val="tx1"/>
                </a:solidFill>
              </a:rPr>
              <a:t>5.3Alpha</a:t>
            </a:r>
            <a:r>
              <a:rPr lang="zh-CN" altLang="en-US" sz="1600">
                <a:solidFill>
                  <a:schemeClr val="tx1"/>
                </a:solidFill>
              </a:rPr>
              <a:t>和</a:t>
            </a:r>
            <a:r>
              <a:rPr lang="en-US" altLang="zh-CN" sz="1600">
                <a:solidFill>
                  <a:schemeClr val="tx1"/>
                </a:solidFill>
              </a:rPr>
              <a:t>Beta</a:t>
            </a:r>
            <a:r>
              <a:rPr lang="zh-CN" altLang="en-US" sz="1600">
                <a:solidFill>
                  <a:schemeClr val="tx1"/>
                </a:solidFill>
              </a:rPr>
              <a:t>测试</a:t>
            </a:r>
            <a:endParaRPr lang="zh-CN" altLang="en-US" sz="1600">
              <a:solidFill>
                <a:schemeClr val="tx1"/>
              </a:solidFill>
            </a:endParaRPr>
          </a:p>
          <a:p>
            <a:pPr lvl="1" indent="0" algn="l">
              <a:buFont typeface="Arial" panose="020B0604020202020204" pitchFamily="34" charset="0"/>
              <a:buNone/>
            </a:pPr>
            <a:r>
              <a:rPr lang="en-US" altLang="zh-CN" sz="1600">
                <a:solidFill>
                  <a:schemeClr val="tx1"/>
                </a:solidFill>
              </a:rPr>
              <a:t>	</a:t>
            </a:r>
            <a:r>
              <a:rPr lang="en-US" altLang="zh-CN" sz="1400">
                <a:solidFill>
                  <a:schemeClr val="tx1"/>
                </a:solidFill>
              </a:rPr>
              <a:t>Alpha</a:t>
            </a:r>
            <a:r>
              <a:rPr lang="zh-CN" altLang="en-US" sz="1400">
                <a:solidFill>
                  <a:schemeClr val="tx1"/>
                </a:solidFill>
              </a:rPr>
              <a:t>测试是由用户在开发者的场所进行，并且在开发者对用户的</a:t>
            </a:r>
            <a:r>
              <a:rPr lang="en-US" altLang="zh-CN" sz="1400">
                <a:solidFill>
                  <a:schemeClr val="tx1"/>
                </a:solidFill>
              </a:rPr>
              <a:t>”</a:t>
            </a:r>
            <a:r>
              <a:rPr lang="zh-CN" altLang="en-US" sz="1400">
                <a:sym typeface="+mn-ea"/>
              </a:rPr>
              <a:t>指导</a:t>
            </a:r>
            <a:r>
              <a:rPr lang="en-US" altLang="zh-CN" sz="1400">
                <a:solidFill>
                  <a:schemeClr val="tx1"/>
                </a:solidFill>
              </a:rPr>
              <a:t>“</a:t>
            </a:r>
            <a:r>
              <a:rPr lang="zh-CN" altLang="en-US" sz="1400">
                <a:solidFill>
                  <a:schemeClr val="tx1"/>
                </a:solidFill>
              </a:rPr>
              <a:t>下进行测试。开发者负责记录发现的错误和使用中的问题。</a:t>
            </a:r>
            <a:r>
              <a:rPr lang="en-US" altLang="zh-CN" sz="1400">
                <a:solidFill>
                  <a:schemeClr val="tx1"/>
                </a:solidFill>
              </a:rPr>
              <a:t>Alpha</a:t>
            </a:r>
            <a:r>
              <a:rPr lang="zh-CN" altLang="en-US" sz="1400">
                <a:solidFill>
                  <a:schemeClr val="tx1"/>
                </a:solidFill>
              </a:rPr>
              <a:t>是在受控的</a:t>
            </a:r>
            <a:r>
              <a:rPr lang="zh-CN" altLang="en-US" sz="1400">
                <a:solidFill>
                  <a:schemeClr val="tx1"/>
                </a:solidFill>
              </a:rPr>
              <a:t>环境中进行的</a:t>
            </a:r>
            <a:endParaRPr lang="zh-CN" altLang="en-US" sz="1400">
              <a:solidFill>
                <a:schemeClr val="tx1"/>
              </a:solidFill>
            </a:endParaRPr>
          </a:p>
          <a:p>
            <a:pPr lvl="1" indent="0" algn="l">
              <a:buFont typeface="Arial" panose="020B0604020202020204" pitchFamily="34" charset="0"/>
              <a:buNone/>
            </a:pPr>
            <a:r>
              <a:rPr lang="en-US" altLang="zh-CN" sz="1400">
                <a:solidFill>
                  <a:schemeClr val="tx1"/>
                </a:solidFill>
              </a:rPr>
              <a:t>	Beta</a:t>
            </a:r>
            <a:r>
              <a:rPr lang="zh-CN" altLang="en-US" sz="1400">
                <a:solidFill>
                  <a:schemeClr val="tx1"/>
                </a:solidFill>
              </a:rPr>
              <a:t>测试由软件的最终用户们在一个或多个客户场所进行。开发者通常不在</a:t>
            </a:r>
            <a:r>
              <a:rPr lang="en-US" altLang="zh-CN" sz="1400">
                <a:solidFill>
                  <a:schemeClr val="tx1"/>
                </a:solidFill>
              </a:rPr>
              <a:t>Beta</a:t>
            </a:r>
            <a:r>
              <a:rPr lang="zh-CN" altLang="en-US" sz="1400">
                <a:solidFill>
                  <a:schemeClr val="tx1"/>
                </a:solidFill>
              </a:rPr>
              <a:t>测试的现场，</a:t>
            </a:r>
            <a:r>
              <a:rPr lang="en-US" altLang="zh-CN" sz="1400">
                <a:solidFill>
                  <a:schemeClr val="tx1"/>
                </a:solidFill>
              </a:rPr>
              <a:t>Beta</a:t>
            </a:r>
            <a:r>
              <a:rPr lang="zh-CN" altLang="en-US" sz="1400">
                <a:solidFill>
                  <a:schemeClr val="tx1"/>
                </a:solidFill>
              </a:rPr>
              <a:t>测试是在在开发者不能控制的环境中的应用。</a:t>
            </a:r>
            <a:endParaRPr lang="zh-CN" altLang="en-US" sz="14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3363179" y="2018999"/>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白盒测试</a:t>
            </a:r>
            <a:endParaRPr lang="zh-CN" altLang="en-US" sz="4400" b="1" kern="0">
              <a:solidFill>
                <a:schemeClr val="accent3"/>
              </a:solidFill>
              <a:cs typeface="+mn-ea"/>
              <a:sym typeface="+mn-lt"/>
            </a:endParaRPr>
          </a:p>
        </p:txBody>
      </p:sp>
      <p:sp>
        <p:nvSpPr>
          <p:cNvPr id="24" name="矩形: 圆角 23"/>
          <p:cNvSpPr/>
          <p:nvPr/>
        </p:nvSpPr>
        <p:spPr>
          <a:xfrm>
            <a:off x="2204720" y="2105660"/>
            <a:ext cx="7937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24180"/>
            <a:ext cx="7362190" cy="368300"/>
          </a:xfrm>
          <a:prstGeom prst="rect">
            <a:avLst/>
          </a:prstGeom>
          <a:noFill/>
        </p:spPr>
        <p:txBody>
          <a:bodyPr wrap="square" rtlCol="0">
            <a:spAutoFit/>
          </a:bodyPr>
          <a:p>
            <a:r>
              <a:rPr lang="zh-CN" altLang="en-US" b="1"/>
              <a:t>白盒测试的概念</a:t>
            </a:r>
            <a:endParaRPr lang="zh-CN" altLang="en-US" b="1"/>
          </a:p>
        </p:txBody>
      </p:sp>
      <p:sp>
        <p:nvSpPr>
          <p:cNvPr id="5" name="文本框 4"/>
          <p:cNvSpPr txBox="1"/>
          <p:nvPr/>
        </p:nvSpPr>
        <p:spPr>
          <a:xfrm>
            <a:off x="464185" y="915035"/>
            <a:ext cx="8284210" cy="2306955"/>
          </a:xfrm>
          <a:prstGeom prst="rect">
            <a:avLst/>
          </a:prstGeom>
          <a:noFill/>
        </p:spPr>
        <p:txBody>
          <a:bodyPr wrap="square" rtlCol="0">
            <a:spAutoFit/>
          </a:bodyPr>
          <a:p>
            <a:r>
              <a:rPr lang="zh-CN" altLang="en-US"/>
              <a:t>白盒测试又称结构测试、透明盒测试、逻辑驱动测试或基于代码的测试，是一种测试用例设计方法，它从程序的控制结构导出测试用例。（测试用例由测试输入数据以及与之对应的输出结果组成。）</a:t>
            </a:r>
            <a:endParaRPr lang="zh-CN" altLang="en-US"/>
          </a:p>
          <a:p>
            <a:endParaRPr lang="zh-CN" altLang="en-US"/>
          </a:p>
          <a:p>
            <a:r>
              <a:rPr lang="zh-CN" altLang="en-US"/>
              <a:t>顾名思义，白盒测试使用被测单元内部如何工作的信息，允许测试人员对程序内部逻辑结构及有关信息来设计和选择测试用例，对程序的逻辑路径进行测试。即它是以程序对测试人员完全透明的前提下进行的。</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24180"/>
            <a:ext cx="7362190" cy="368300"/>
          </a:xfrm>
          <a:prstGeom prst="rect">
            <a:avLst/>
          </a:prstGeom>
          <a:noFill/>
        </p:spPr>
        <p:txBody>
          <a:bodyPr wrap="square" rtlCol="0">
            <a:spAutoFit/>
          </a:bodyPr>
          <a:p>
            <a:r>
              <a:rPr lang="zh-CN" altLang="en-US" b="1"/>
              <a:t>白盒测试的目的</a:t>
            </a:r>
            <a:endParaRPr lang="zh-CN" altLang="en-US" b="1"/>
          </a:p>
        </p:txBody>
      </p:sp>
      <p:sp>
        <p:nvSpPr>
          <p:cNvPr id="5" name="文本框 4"/>
          <p:cNvSpPr txBox="1"/>
          <p:nvPr/>
        </p:nvSpPr>
        <p:spPr>
          <a:xfrm>
            <a:off x="464185" y="915035"/>
            <a:ext cx="8284210" cy="3415030"/>
          </a:xfrm>
          <a:prstGeom prst="rect">
            <a:avLst/>
          </a:prstGeom>
          <a:noFill/>
        </p:spPr>
        <p:txBody>
          <a:bodyPr wrap="square" rtlCol="0">
            <a:spAutoFit/>
          </a:bodyPr>
          <a:p>
            <a:r>
              <a:rPr lang="zh-CN" altLang="en-US"/>
              <a:t>由于不可能进行穷尽的测试，所以测试需要设计方案。白盒测试方案的设计，其目的有以下几点：</a:t>
            </a:r>
            <a:endParaRPr lang="zh-CN" altLang="en-US"/>
          </a:p>
          <a:p>
            <a:r>
              <a:rPr lang="en-US" altLang="zh-CN"/>
              <a:t>1.</a:t>
            </a:r>
            <a:r>
              <a:rPr lang="zh-CN" altLang="en-US"/>
              <a:t>保证一个模块中的所有独立路径至少被执行一次；</a:t>
            </a:r>
            <a:endParaRPr lang="zh-CN" altLang="en-US"/>
          </a:p>
          <a:p>
            <a:r>
              <a:rPr lang="en-US" altLang="zh-CN"/>
              <a:t>2.</a:t>
            </a:r>
            <a:r>
              <a:rPr lang="zh-CN" altLang="en-US"/>
              <a:t>对所有的逻辑值均需要测试真、假两个分支；</a:t>
            </a:r>
            <a:endParaRPr lang="zh-CN" altLang="en-US"/>
          </a:p>
          <a:p>
            <a:r>
              <a:rPr lang="en-US" altLang="zh-CN"/>
              <a:t>3.</a:t>
            </a:r>
            <a:r>
              <a:rPr lang="zh-CN" altLang="en-US"/>
              <a:t>在上下边界及可操作范围内运行所有循环；</a:t>
            </a:r>
            <a:endParaRPr lang="zh-CN" altLang="en-US"/>
          </a:p>
          <a:p>
            <a:r>
              <a:rPr lang="en-US" altLang="zh-CN"/>
              <a:t>4.</a:t>
            </a:r>
            <a:r>
              <a:rPr lang="zh-CN" altLang="en-US"/>
              <a:t>检查内部数据结构以确保其有效性。</a:t>
            </a:r>
            <a:endParaRPr lang="zh-CN" altLang="en-US"/>
          </a:p>
          <a:p>
            <a:endParaRPr lang="zh-CN" altLang="en-US"/>
          </a:p>
          <a:p>
            <a:r>
              <a:rPr lang="zh-CN" altLang="en-US"/>
              <a:t>白盒测试法覆盖标准有逻辑覆盖、循环测试，条件测试和基本路径测试。</a:t>
            </a:r>
            <a:endParaRPr lang="zh-CN" altLang="en-US"/>
          </a:p>
          <a:p>
            <a:r>
              <a:rPr lang="zh-CN" altLang="en-US"/>
              <a:t>逻辑覆盖其实是对一系列测试过程的总称，包括语句覆盖、判定覆盖、条件覆盖、判定/条件覆盖、条件组合覆盖、点覆盖、边覆盖和路径覆盖。这组测试过程逐渐进行越来越完整的通路测试。</a:t>
            </a:r>
            <a:endParaRPr lang="zh-CN" altLang="en-US"/>
          </a:p>
          <a:p>
            <a:r>
              <a:rPr lang="zh-CN" altLang="en-US"/>
              <a:t>下面就详细讲解这些测试过程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语句覆盖</a:t>
            </a:r>
            <a:endParaRPr lang="zh-CN" altLang="en-US" b="1"/>
          </a:p>
        </p:txBody>
      </p:sp>
      <p:sp>
        <p:nvSpPr>
          <p:cNvPr id="5" name="文本框 4"/>
          <p:cNvSpPr txBox="1"/>
          <p:nvPr/>
        </p:nvSpPr>
        <p:spPr>
          <a:xfrm>
            <a:off x="464185" y="915035"/>
            <a:ext cx="8284210" cy="2306955"/>
          </a:xfrm>
          <a:prstGeom prst="rect">
            <a:avLst/>
          </a:prstGeom>
          <a:noFill/>
        </p:spPr>
        <p:txBody>
          <a:bodyPr wrap="square" rtlCol="0">
            <a:spAutoFit/>
          </a:bodyPr>
          <a:p>
            <a:r>
              <a:rPr lang="zh-CN" altLang="en-US"/>
              <a:t>语句覆盖的意思是，选择足够多的测试数据，使被测试程序中的每个语句至少执行一次。</a:t>
            </a:r>
            <a:endParaRPr lang="zh-CN" altLang="en-US"/>
          </a:p>
          <a:p>
            <a:r>
              <a:rPr lang="zh-CN" altLang="en-US"/>
              <a:t>它有如下特点：</a:t>
            </a:r>
            <a:endParaRPr lang="zh-CN" altLang="en-US"/>
          </a:p>
          <a:p>
            <a:r>
              <a:rPr lang="zh-CN" altLang="en-US"/>
              <a:t>1、程序中每一个语句执行一次</a:t>
            </a:r>
            <a:endParaRPr lang="zh-CN" altLang="en-US"/>
          </a:p>
          <a:p>
            <a:r>
              <a:rPr lang="zh-CN" altLang="en-US"/>
              <a:t>2、对程序执行逻辑的覆盖率低，属于最弱的覆盖方式</a:t>
            </a:r>
            <a:endParaRPr lang="zh-CN" altLang="en-US"/>
          </a:p>
          <a:p>
            <a:r>
              <a:rPr lang="zh-CN" altLang="en-US"/>
              <a:t>3、无需测试程序的分支情况</a:t>
            </a:r>
            <a:endParaRPr lang="zh-CN" altLang="en-US"/>
          </a:p>
          <a:p>
            <a:r>
              <a:rPr lang="zh-CN" altLang="en-US"/>
              <a:t>4、无需测试程序分支判断的输入值以及输入值的组合</a:t>
            </a:r>
            <a:endParaRPr lang="zh-CN" altLang="en-US"/>
          </a:p>
          <a:p>
            <a:r>
              <a:rPr lang="zh-CN" altLang="en-US"/>
              <a:t>5、无需测试程序执行的不同路径</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语句覆盖</a:t>
            </a:r>
            <a:endParaRPr lang="zh-CN" altLang="en-US" b="1"/>
          </a:p>
        </p:txBody>
      </p:sp>
      <p:sp>
        <p:nvSpPr>
          <p:cNvPr id="5" name="文本框 4"/>
          <p:cNvSpPr txBox="1"/>
          <p:nvPr/>
        </p:nvSpPr>
        <p:spPr>
          <a:xfrm>
            <a:off x="464185" y="915035"/>
            <a:ext cx="8284210" cy="922020"/>
          </a:xfrm>
          <a:prstGeom prst="rect">
            <a:avLst/>
          </a:prstGeom>
          <a:noFill/>
        </p:spPr>
        <p:txBody>
          <a:bodyPr wrap="square" rtlCol="0">
            <a:spAutoFit/>
          </a:bodyPr>
          <a:p>
            <a:r>
              <a:rPr lang="zh-CN" altLang="en-US"/>
              <a:t>对于如下程序流程图</a:t>
            </a:r>
            <a:endParaRPr lang="zh-CN" altLang="en-US"/>
          </a:p>
          <a:p>
            <a:endParaRPr lang="zh-CN" altLang="en-US"/>
          </a:p>
          <a:p>
            <a:endParaRPr lang="zh-CN" altLang="en-US"/>
          </a:p>
        </p:txBody>
      </p:sp>
      <p:pic>
        <p:nvPicPr>
          <p:cNvPr id="2" name="图片 1"/>
          <p:cNvPicPr>
            <a:picLocks noChangeAspect="1"/>
          </p:cNvPicPr>
          <p:nvPr>
            <p:custDataLst>
              <p:tags r:id="rId1"/>
            </p:custDataLst>
          </p:nvPr>
        </p:nvPicPr>
        <p:blipFill>
          <a:blip r:embed="rId2"/>
          <a:stretch>
            <a:fillRect/>
          </a:stretch>
        </p:blipFill>
        <p:spPr>
          <a:xfrm>
            <a:off x="346710" y="1276350"/>
            <a:ext cx="2264410" cy="3528060"/>
          </a:xfrm>
          <a:prstGeom prst="rect">
            <a:avLst/>
          </a:prstGeom>
        </p:spPr>
      </p:pic>
      <p:sp>
        <p:nvSpPr>
          <p:cNvPr id="3" name="文本框 2"/>
          <p:cNvSpPr txBox="1"/>
          <p:nvPr/>
        </p:nvSpPr>
        <p:spPr>
          <a:xfrm>
            <a:off x="2842895" y="724535"/>
            <a:ext cx="5483860" cy="1753235"/>
          </a:xfrm>
          <a:prstGeom prst="rect">
            <a:avLst/>
          </a:prstGeom>
          <a:noFill/>
        </p:spPr>
        <p:txBody>
          <a:bodyPr wrap="square" rtlCol="0">
            <a:spAutoFit/>
          </a:bodyPr>
          <a:p>
            <a:r>
              <a:rPr lang="zh-CN" altLang="en-US"/>
              <a:t>要想覆盖到所有路径，程序应该按照</a:t>
            </a:r>
            <a:r>
              <a:rPr lang="en-US" altLang="zh-CN"/>
              <a:t>a-c-b-e-d</a:t>
            </a:r>
            <a:r>
              <a:rPr lang="zh-CN" altLang="en-US"/>
              <a:t>的顺序执行。因此我们可以设计如下的测试用例：</a:t>
            </a:r>
            <a:endParaRPr lang="zh-CN" altLang="en-US"/>
          </a:p>
          <a:p>
            <a:r>
              <a:rPr lang="en-US" altLang="zh-CN"/>
              <a:t>A=2,B=0,X=3</a:t>
            </a:r>
            <a:r>
              <a:rPr lang="zh-CN" altLang="en-US"/>
              <a:t>，这样便可实现语句覆盖的目的。</a:t>
            </a:r>
            <a:endParaRPr lang="zh-CN" altLang="en-US"/>
          </a:p>
          <a:p>
            <a:r>
              <a:rPr lang="zh-CN" altLang="en-US"/>
              <a:t>但语句覆盖只关心程序是否能执行下去，如果第一个判定条件中</a:t>
            </a:r>
            <a:r>
              <a:rPr lang="en-US" altLang="zh-CN"/>
              <a:t>and</a:t>
            </a:r>
            <a:r>
              <a:rPr lang="zh-CN" altLang="en-US"/>
              <a:t>被开发者错写成</a:t>
            </a:r>
            <a:r>
              <a:rPr lang="en-US" altLang="zh-CN"/>
              <a:t>or</a:t>
            </a:r>
            <a:r>
              <a:rPr lang="zh-CN" altLang="en-US"/>
              <a:t>，则并不能发现这些错误。因此语句覆盖是很弱的逻辑覆盖标准。</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判定覆盖</a:t>
            </a:r>
            <a:endParaRPr lang="zh-CN" altLang="en-US" b="1"/>
          </a:p>
        </p:txBody>
      </p:sp>
      <p:sp>
        <p:nvSpPr>
          <p:cNvPr id="3" name="文本框 2"/>
          <p:cNvSpPr txBox="1"/>
          <p:nvPr/>
        </p:nvSpPr>
        <p:spPr>
          <a:xfrm>
            <a:off x="2842895" y="724535"/>
            <a:ext cx="5483860" cy="3415030"/>
          </a:xfrm>
          <a:prstGeom prst="rect">
            <a:avLst/>
          </a:prstGeom>
          <a:noFill/>
        </p:spPr>
        <p:txBody>
          <a:bodyPr wrap="square" rtlCol="0">
            <a:spAutoFit/>
          </a:bodyPr>
          <a:p>
            <a:r>
              <a:rPr lang="zh-CN" altLang="en-US"/>
              <a:t>判定覆盖又叫分支覆盖。它要求不仅每个语句必须至少执行一次，而且每个判定的每种可能的结果都应该至少执行一次，即每个判定的每个分支都应该至少执行一次。</a:t>
            </a:r>
            <a:endParaRPr lang="zh-CN" altLang="en-US"/>
          </a:p>
          <a:p>
            <a:r>
              <a:rPr lang="zh-CN" altLang="en-US"/>
              <a:t>同样对于这个例子，如果测试用例能够做到覆盖</a:t>
            </a:r>
            <a:r>
              <a:rPr lang="en-US" altLang="zh-CN"/>
              <a:t>a-c-b-d</a:t>
            </a:r>
            <a:r>
              <a:rPr lang="zh-CN" altLang="en-US"/>
              <a:t>以及</a:t>
            </a:r>
            <a:r>
              <a:rPr lang="en-US" altLang="zh-CN"/>
              <a:t>a-b-e-d</a:t>
            </a:r>
            <a:r>
              <a:rPr lang="zh-CN" altLang="en-US"/>
              <a:t>两种路径，我们就可以认为他做到了判定覆盖</a:t>
            </a:r>
            <a:endParaRPr lang="zh-CN" altLang="en-US"/>
          </a:p>
          <a:p>
            <a:r>
              <a:rPr lang="zh-CN" altLang="en-US"/>
              <a:t>这样我们就可以给出两组测试用例：</a:t>
            </a:r>
            <a:endParaRPr lang="zh-CN" altLang="en-US"/>
          </a:p>
          <a:p>
            <a:r>
              <a:rPr lang="en-US" altLang="zh-CN"/>
              <a:t>A=3,B=0,X=3</a:t>
            </a:r>
            <a:endParaRPr lang="en-US" altLang="zh-CN"/>
          </a:p>
          <a:p>
            <a:r>
              <a:rPr lang="en-US" altLang="zh-CN"/>
              <a:t>A=2,B=1,X=1</a:t>
            </a:r>
            <a:endParaRPr lang="en-US" altLang="zh-CN"/>
          </a:p>
          <a:p>
            <a:r>
              <a:rPr lang="zh-CN" altLang="en-US"/>
              <a:t>判定覆盖比语句覆盖要强一些，但也不能达到很高的逻辑覆盖程度。</a:t>
            </a:r>
            <a:endParaRPr lang="zh-CN" altLang="en-US"/>
          </a:p>
        </p:txBody>
      </p:sp>
      <p:pic>
        <p:nvPicPr>
          <p:cNvPr id="6" name="图片 5"/>
          <p:cNvPicPr>
            <a:picLocks noChangeAspect="1"/>
          </p:cNvPicPr>
          <p:nvPr>
            <p:custDataLst>
              <p:tags r:id="rId1"/>
            </p:custDataLst>
          </p:nvPr>
        </p:nvPicPr>
        <p:blipFill>
          <a:blip r:embed="rId2"/>
          <a:stretch>
            <a:fillRect/>
          </a:stretch>
        </p:blipFill>
        <p:spPr>
          <a:xfrm>
            <a:off x="366395" y="807720"/>
            <a:ext cx="2264410" cy="35280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条件覆盖</a:t>
            </a:r>
            <a:endParaRPr lang="zh-CN" altLang="en-US" b="1"/>
          </a:p>
        </p:txBody>
      </p:sp>
      <p:sp>
        <p:nvSpPr>
          <p:cNvPr id="3" name="文本框 2"/>
          <p:cNvSpPr txBox="1"/>
          <p:nvPr/>
        </p:nvSpPr>
        <p:spPr>
          <a:xfrm>
            <a:off x="2842895" y="724535"/>
            <a:ext cx="5875655" cy="3415030"/>
          </a:xfrm>
          <a:prstGeom prst="rect">
            <a:avLst/>
          </a:prstGeom>
          <a:noFill/>
        </p:spPr>
        <p:txBody>
          <a:bodyPr wrap="square" rtlCol="0">
            <a:spAutoFit/>
          </a:bodyPr>
          <a:p>
            <a:r>
              <a:rPr lang="zh-CN" altLang="en-US"/>
              <a:t>条件覆盖的含义是：不仅每个语句至少执行一次，而且使判定表达式中的每个条件都取到各种可能的结果</a:t>
            </a:r>
            <a:endParaRPr lang="zh-CN" altLang="en-US"/>
          </a:p>
          <a:p>
            <a:r>
              <a:rPr lang="zh-CN" altLang="en-US"/>
              <a:t>如对于左侧的流程图，它有两个判定表达式，每个判定表达式中有两个条件。为了做到条件覆盖，测试样例需要满足如下要求：</a:t>
            </a:r>
            <a:endParaRPr lang="zh-CN" altLang="en-US"/>
          </a:p>
          <a:p>
            <a:r>
              <a:rPr lang="en-US" altLang="zh-CN"/>
              <a:t>A&gt;1,A&lt;=1;B=0,B!=0</a:t>
            </a:r>
            <a:endParaRPr lang="en-US" altLang="zh-CN"/>
          </a:p>
          <a:p>
            <a:r>
              <a:rPr lang="en-US" altLang="zh-CN"/>
              <a:t>A=2,A!=2;X&gt;1,X&lt;=1</a:t>
            </a:r>
            <a:endParaRPr lang="en-US" altLang="zh-CN"/>
          </a:p>
          <a:p>
            <a:r>
              <a:rPr lang="zh-CN" altLang="en-US"/>
              <a:t>如此我们便可以设计测试样例</a:t>
            </a:r>
            <a:endParaRPr lang="zh-CN" altLang="en-US"/>
          </a:p>
          <a:p>
            <a:r>
              <a:rPr lang="en-US" altLang="zh-CN"/>
              <a:t>A=2,B=1,X=4(A&gt;1,B!=</a:t>
            </a:r>
            <a:r>
              <a:rPr lang="en-US" altLang="zh-CN"/>
              <a:t>1,X&gt;1)</a:t>
            </a:r>
            <a:r>
              <a:rPr lang="zh-CN" altLang="en-US"/>
              <a:t>执行</a:t>
            </a:r>
            <a:r>
              <a:rPr lang="en-US" altLang="zh-CN"/>
              <a:t>a-b-e-d</a:t>
            </a:r>
            <a:endParaRPr lang="en-US" altLang="zh-CN"/>
          </a:p>
          <a:p>
            <a:r>
              <a:rPr lang="en-US" altLang="zh-CN"/>
              <a:t>A=-1,B=0,X=1(A&lt;=1,B=0,A!=2,X&lt;=1)</a:t>
            </a:r>
            <a:r>
              <a:rPr lang="zh-CN" altLang="en-US"/>
              <a:t>执行</a:t>
            </a:r>
            <a:r>
              <a:rPr lang="en-US" altLang="zh-CN"/>
              <a:t>a-b-d</a:t>
            </a:r>
            <a:endParaRPr lang="en-US" altLang="zh-CN"/>
          </a:p>
          <a:p>
            <a:r>
              <a:rPr lang="zh-CN" altLang="en-US"/>
              <a:t>条件覆盖通常要比判定覆盖强，但如上所示，</a:t>
            </a:r>
            <a:r>
              <a:rPr lang="en-US" altLang="zh-CN"/>
              <a:t>c</a:t>
            </a:r>
            <a:r>
              <a:rPr lang="zh-CN" altLang="en-US"/>
              <a:t>路径未执行，</a:t>
            </a:r>
            <a:r>
              <a:rPr lang="zh-CN" altLang="en-US"/>
              <a:t>它并不满足语句覆盖，也不满足判定覆盖</a:t>
            </a:r>
            <a:endParaRPr lang="en-US" altLang="zh-CN"/>
          </a:p>
        </p:txBody>
      </p:sp>
      <p:pic>
        <p:nvPicPr>
          <p:cNvPr id="6" name="图片 5"/>
          <p:cNvPicPr>
            <a:picLocks noChangeAspect="1"/>
          </p:cNvPicPr>
          <p:nvPr>
            <p:custDataLst>
              <p:tags r:id="rId1"/>
            </p:custDataLst>
          </p:nvPr>
        </p:nvPicPr>
        <p:blipFill>
          <a:blip r:embed="rId2"/>
          <a:stretch>
            <a:fillRect/>
          </a:stretch>
        </p:blipFill>
        <p:spPr>
          <a:xfrm>
            <a:off x="366395" y="807720"/>
            <a:ext cx="2264410" cy="35280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判定</a:t>
            </a:r>
            <a:r>
              <a:rPr lang="en-US" altLang="zh-CN" b="1"/>
              <a:t>/</a:t>
            </a:r>
            <a:r>
              <a:rPr lang="zh-CN" altLang="en-US" b="1"/>
              <a:t>条件覆盖</a:t>
            </a:r>
            <a:endParaRPr lang="zh-CN" altLang="en-US" b="1"/>
          </a:p>
        </p:txBody>
      </p:sp>
      <p:sp>
        <p:nvSpPr>
          <p:cNvPr id="3" name="文本框 2"/>
          <p:cNvSpPr txBox="1"/>
          <p:nvPr/>
        </p:nvSpPr>
        <p:spPr>
          <a:xfrm>
            <a:off x="2842895" y="724535"/>
            <a:ext cx="5875655" cy="2584450"/>
          </a:xfrm>
          <a:prstGeom prst="rect">
            <a:avLst/>
          </a:prstGeom>
          <a:noFill/>
        </p:spPr>
        <p:txBody>
          <a:bodyPr wrap="square" rtlCol="0">
            <a:spAutoFit/>
          </a:bodyPr>
          <a:p>
            <a:r>
              <a:rPr lang="zh-CN" altLang="en-US"/>
              <a:t>为了同时满足判定覆盖和条件覆盖，人们提出了判定</a:t>
            </a:r>
            <a:r>
              <a:rPr lang="en-US" altLang="zh-CN"/>
              <a:t>/</a:t>
            </a:r>
            <a:r>
              <a:rPr lang="zh-CN" altLang="en-US"/>
              <a:t>条件覆盖。它的含义是，选取足够多的测试数据，使得判定表达式中的每个条件都取到各种可能的值，而且每个判定表达式也能取到各种可能的结果</a:t>
            </a:r>
            <a:endParaRPr lang="zh-CN" altLang="en-US"/>
          </a:p>
          <a:p>
            <a:r>
              <a:rPr lang="zh-CN" altLang="en-US"/>
              <a:t>我们可以选取如下的测试样例</a:t>
            </a:r>
            <a:endParaRPr lang="zh-CN" altLang="en-US"/>
          </a:p>
          <a:p>
            <a:r>
              <a:rPr lang="en-US" altLang="zh-CN"/>
              <a:t>A=2,B=0,X=4 </a:t>
            </a:r>
            <a:r>
              <a:rPr lang="zh-CN" altLang="en-US"/>
              <a:t>执行</a:t>
            </a:r>
            <a:r>
              <a:rPr lang="en-US" altLang="zh-CN"/>
              <a:t>a-c-b-e-d</a:t>
            </a:r>
            <a:endParaRPr lang="en-US" altLang="zh-CN"/>
          </a:p>
          <a:p>
            <a:r>
              <a:rPr lang="en-US" altLang="zh-CN"/>
              <a:t>A=1,B=1,X=1 </a:t>
            </a:r>
            <a:r>
              <a:rPr lang="zh-CN" altLang="en-US"/>
              <a:t>执行</a:t>
            </a:r>
            <a:r>
              <a:rPr lang="en-US" altLang="zh-CN"/>
              <a:t>a-b-d</a:t>
            </a:r>
            <a:endParaRPr lang="en-US" altLang="zh-CN"/>
          </a:p>
          <a:p>
            <a:r>
              <a:rPr lang="zh-CN" altLang="en-US"/>
              <a:t>这样即满足了判定覆盖，也满足了条件覆盖。但它与条件覆盖的强弱也并不是绝对的</a:t>
            </a:r>
            <a:endParaRPr lang="zh-CN" altLang="en-US"/>
          </a:p>
        </p:txBody>
      </p:sp>
      <p:pic>
        <p:nvPicPr>
          <p:cNvPr id="6" name="图片 5"/>
          <p:cNvPicPr>
            <a:picLocks noChangeAspect="1"/>
          </p:cNvPicPr>
          <p:nvPr>
            <p:custDataLst>
              <p:tags r:id="rId1"/>
            </p:custDataLst>
          </p:nvPr>
        </p:nvPicPr>
        <p:blipFill>
          <a:blip r:embed="rId2"/>
          <a:stretch>
            <a:fillRect/>
          </a:stretch>
        </p:blipFill>
        <p:spPr>
          <a:xfrm>
            <a:off x="366395" y="807720"/>
            <a:ext cx="2264410" cy="35280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路径覆盖</a:t>
            </a:r>
            <a:endParaRPr lang="zh-CN" altLang="en-US" b="1"/>
          </a:p>
        </p:txBody>
      </p:sp>
      <p:sp>
        <p:nvSpPr>
          <p:cNvPr id="2" name="文本框 1"/>
          <p:cNvSpPr txBox="1"/>
          <p:nvPr/>
        </p:nvSpPr>
        <p:spPr>
          <a:xfrm>
            <a:off x="555625" y="852805"/>
            <a:ext cx="8271510" cy="645160"/>
          </a:xfrm>
          <a:prstGeom prst="rect">
            <a:avLst/>
          </a:prstGeom>
          <a:noFill/>
        </p:spPr>
        <p:txBody>
          <a:bodyPr wrap="square" rtlCol="0">
            <a:spAutoFit/>
          </a:bodyPr>
          <a:p>
            <a:r>
              <a:rPr lang="zh-CN" altLang="en-US"/>
              <a:t>路径覆盖的标准是：要求选取足够多的数据，使得程序</a:t>
            </a:r>
            <a:r>
              <a:rPr lang="zh-CN"/>
              <a:t>每条可能路径都至少执行一次，如果程序中有环，则要求每个环至少经过一次</a:t>
            </a:r>
            <a:endParaRPr lang="zh-CN"/>
          </a:p>
        </p:txBody>
      </p:sp>
      <p:pic>
        <p:nvPicPr>
          <p:cNvPr id="6" name="图片 5"/>
          <p:cNvPicPr>
            <a:picLocks noChangeAspect="1"/>
          </p:cNvPicPr>
          <p:nvPr>
            <p:custDataLst>
              <p:tags r:id="rId1"/>
            </p:custDataLst>
          </p:nvPr>
        </p:nvPicPr>
        <p:blipFill>
          <a:blip r:embed="rId2"/>
          <a:stretch>
            <a:fillRect/>
          </a:stretch>
        </p:blipFill>
        <p:spPr>
          <a:xfrm>
            <a:off x="393065" y="1616075"/>
            <a:ext cx="2264410" cy="2945130"/>
          </a:xfrm>
          <a:prstGeom prst="rect">
            <a:avLst/>
          </a:prstGeom>
        </p:spPr>
      </p:pic>
      <p:sp>
        <p:nvSpPr>
          <p:cNvPr id="3" name="文本框 2"/>
          <p:cNvSpPr txBox="1"/>
          <p:nvPr/>
        </p:nvSpPr>
        <p:spPr>
          <a:xfrm>
            <a:off x="2427605" y="1644650"/>
            <a:ext cx="6262370" cy="645160"/>
          </a:xfrm>
          <a:prstGeom prst="rect">
            <a:avLst/>
          </a:prstGeom>
          <a:noFill/>
        </p:spPr>
        <p:txBody>
          <a:bodyPr wrap="square" rtlCol="0">
            <a:spAutoFit/>
          </a:bodyPr>
          <a:p>
            <a:r>
              <a:rPr lang="zh-CN" altLang="en-US"/>
              <a:t>如对于左图，若想满足路径覆盖，则测试用例必须经过</a:t>
            </a:r>
            <a:r>
              <a:rPr lang="en-US" altLang="zh-CN"/>
              <a:t>a-c-b-e-d,a-c-b-d,a-b-e-d,a-b-d</a:t>
            </a:r>
            <a:r>
              <a:rPr lang="zh-CN" altLang="en-US"/>
              <a:t>至少一次</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条件组合覆盖</a:t>
            </a:r>
            <a:endParaRPr lang="zh-CN" altLang="en-US" b="1"/>
          </a:p>
        </p:txBody>
      </p:sp>
      <p:sp>
        <p:nvSpPr>
          <p:cNvPr id="3" name="文本框 2"/>
          <p:cNvSpPr txBox="1"/>
          <p:nvPr/>
        </p:nvSpPr>
        <p:spPr>
          <a:xfrm>
            <a:off x="2842895" y="724535"/>
            <a:ext cx="5875655" cy="3415030"/>
          </a:xfrm>
          <a:prstGeom prst="rect">
            <a:avLst/>
          </a:prstGeom>
          <a:noFill/>
        </p:spPr>
        <p:txBody>
          <a:bodyPr wrap="square" rtlCol="0">
            <a:spAutoFit/>
          </a:bodyPr>
          <a:p>
            <a:r>
              <a:rPr lang="zh-CN" altLang="en-US"/>
              <a:t>条件组合覆盖要求选取足够多的测试数据，使得每个判定表达式中条件的各种组合都至少出现一次</a:t>
            </a:r>
            <a:endParaRPr lang="zh-CN" altLang="en-US"/>
          </a:p>
          <a:p>
            <a:r>
              <a:rPr lang="zh-CN" altLang="en-US"/>
              <a:t>由于组合很多，它需要花费更多的时间来设计测试用例</a:t>
            </a:r>
            <a:endParaRPr lang="zh-CN" altLang="en-US"/>
          </a:p>
          <a:p>
            <a:r>
              <a:rPr lang="zh-CN" altLang="en-US"/>
              <a:t>对于左图，将条件组合起来后一共有以下八种</a:t>
            </a:r>
            <a:endParaRPr lang="zh-CN" altLang="en-US"/>
          </a:p>
          <a:p>
            <a:r>
              <a:rPr lang="en-US" altLang="zh-CN"/>
              <a:t>1.A&gt;1,B=0</a:t>
            </a:r>
            <a:endParaRPr lang="en-US" altLang="zh-CN"/>
          </a:p>
          <a:p>
            <a:r>
              <a:rPr lang="en-US" altLang="zh-CN"/>
              <a:t>2.A&gt;1,B!=0</a:t>
            </a:r>
            <a:endParaRPr lang="en-US" altLang="zh-CN"/>
          </a:p>
          <a:p>
            <a:r>
              <a:rPr lang="en-US" altLang="zh-CN"/>
              <a:t>3.A&lt;=1,B=0</a:t>
            </a:r>
            <a:endParaRPr lang="en-US" altLang="zh-CN"/>
          </a:p>
          <a:p>
            <a:r>
              <a:rPr lang="en-US" altLang="zh-CN"/>
              <a:t>4.A&lt;=1,B!=0</a:t>
            </a:r>
            <a:endParaRPr lang="en-US" altLang="zh-CN"/>
          </a:p>
          <a:p>
            <a:r>
              <a:rPr lang="en-US" altLang="zh-CN"/>
              <a:t>5.A=2,X&gt;1</a:t>
            </a:r>
            <a:endParaRPr lang="en-US" altLang="zh-CN"/>
          </a:p>
          <a:p>
            <a:r>
              <a:rPr lang="en-US" altLang="zh-CN"/>
              <a:t>6.A=2,X&lt;=1</a:t>
            </a:r>
            <a:endParaRPr lang="en-US" altLang="zh-CN"/>
          </a:p>
          <a:p>
            <a:r>
              <a:rPr lang="en-US" altLang="zh-CN"/>
              <a:t>7.A!=2,X&gt;1</a:t>
            </a:r>
            <a:endParaRPr lang="en-US" altLang="zh-CN"/>
          </a:p>
          <a:p>
            <a:r>
              <a:rPr lang="en-US" altLang="zh-CN"/>
              <a:t>8.A!=2,X&lt;=1</a:t>
            </a:r>
            <a:endParaRPr lang="en-US" altLang="zh-CN"/>
          </a:p>
        </p:txBody>
      </p:sp>
      <p:pic>
        <p:nvPicPr>
          <p:cNvPr id="6" name="图片 5"/>
          <p:cNvPicPr>
            <a:picLocks noChangeAspect="1"/>
          </p:cNvPicPr>
          <p:nvPr>
            <p:custDataLst>
              <p:tags r:id="rId1"/>
            </p:custDataLst>
          </p:nvPr>
        </p:nvPicPr>
        <p:blipFill>
          <a:blip r:embed="rId2"/>
          <a:stretch>
            <a:fillRect/>
          </a:stretch>
        </p:blipFill>
        <p:spPr>
          <a:xfrm>
            <a:off x="366395" y="807720"/>
            <a:ext cx="2264410" cy="35280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条件组合覆盖</a:t>
            </a:r>
            <a:endParaRPr lang="zh-CN" altLang="en-US" b="1"/>
          </a:p>
        </p:txBody>
      </p:sp>
      <p:sp>
        <p:nvSpPr>
          <p:cNvPr id="3" name="文本框 2"/>
          <p:cNvSpPr txBox="1"/>
          <p:nvPr/>
        </p:nvSpPr>
        <p:spPr>
          <a:xfrm>
            <a:off x="2745105" y="488950"/>
            <a:ext cx="5875655" cy="3692525"/>
          </a:xfrm>
          <a:prstGeom prst="rect">
            <a:avLst/>
          </a:prstGeom>
          <a:noFill/>
        </p:spPr>
        <p:txBody>
          <a:bodyPr wrap="square" rtlCol="0">
            <a:spAutoFit/>
          </a:bodyPr>
          <a:p>
            <a:r>
              <a:rPr lang="zh-CN" altLang="en-US"/>
              <a:t>对于以上</a:t>
            </a:r>
            <a:r>
              <a:rPr lang="en-US" altLang="zh-CN"/>
              <a:t>8</a:t>
            </a:r>
            <a:r>
              <a:rPr lang="zh-CN" altLang="en-US"/>
              <a:t>中条件组合，我们可以设计如下测试样例来做到条件组合覆盖</a:t>
            </a:r>
            <a:endParaRPr lang="zh-CN" altLang="en-US"/>
          </a:p>
          <a:p>
            <a:r>
              <a:rPr lang="en-US" altLang="zh-CN"/>
              <a:t>1.A=2,B=0,X=4(</a:t>
            </a:r>
            <a:r>
              <a:rPr lang="zh-CN" altLang="en-US"/>
              <a:t>组合</a:t>
            </a:r>
            <a:r>
              <a:rPr lang="en-US" altLang="zh-CN"/>
              <a:t>1,5</a:t>
            </a:r>
            <a:r>
              <a:rPr lang="zh-CN" altLang="en-US"/>
              <a:t>）执行</a:t>
            </a:r>
            <a:r>
              <a:rPr lang="en-US" altLang="zh-CN"/>
              <a:t>a-c-b-e-d</a:t>
            </a:r>
            <a:endParaRPr lang="zh-CN" altLang="en-US"/>
          </a:p>
          <a:p>
            <a:r>
              <a:rPr lang="en-US" altLang="zh-CN"/>
              <a:t>2.A=2,B=1,X=1(</a:t>
            </a:r>
            <a:r>
              <a:rPr lang="zh-CN" altLang="en-US"/>
              <a:t>组合</a:t>
            </a:r>
            <a:r>
              <a:rPr lang="en-US" altLang="zh-CN"/>
              <a:t>2,6</a:t>
            </a:r>
            <a:r>
              <a:rPr lang="zh-CN" altLang="en-US"/>
              <a:t>）执行</a:t>
            </a:r>
            <a:r>
              <a:rPr lang="en-US" altLang="zh-CN"/>
              <a:t>a-b-e-d</a:t>
            </a:r>
            <a:endParaRPr lang="zh-CN" altLang="en-US"/>
          </a:p>
          <a:p>
            <a:r>
              <a:rPr lang="en-US" altLang="zh-CN"/>
              <a:t>3.A=1,B=0,X=2(</a:t>
            </a:r>
            <a:r>
              <a:rPr lang="zh-CN" altLang="en-US"/>
              <a:t>组合</a:t>
            </a:r>
            <a:r>
              <a:rPr lang="en-US" altLang="zh-CN"/>
              <a:t>3,7</a:t>
            </a:r>
            <a:r>
              <a:rPr lang="zh-CN" altLang="en-US"/>
              <a:t>）执行</a:t>
            </a:r>
            <a:r>
              <a:rPr lang="en-US" altLang="zh-CN"/>
              <a:t>a-b-e-d</a:t>
            </a:r>
            <a:endParaRPr lang="zh-CN" altLang="en-US"/>
          </a:p>
          <a:p>
            <a:r>
              <a:rPr lang="en-US" altLang="zh-CN"/>
              <a:t>4.A=1,B=1,X=1(</a:t>
            </a:r>
            <a:r>
              <a:rPr lang="zh-CN" altLang="en-US"/>
              <a:t>组合</a:t>
            </a:r>
            <a:r>
              <a:rPr lang="en-US" altLang="zh-CN"/>
              <a:t>4,8)  </a:t>
            </a:r>
            <a:r>
              <a:rPr lang="zh-CN" altLang="en-US"/>
              <a:t>执行</a:t>
            </a:r>
            <a:r>
              <a:rPr lang="en-US" altLang="zh-CN"/>
              <a:t>a-b-d</a:t>
            </a:r>
            <a:endParaRPr lang="en-US" altLang="zh-CN"/>
          </a:p>
          <a:p>
            <a:r>
              <a:rPr lang="zh-CN" altLang="en-US"/>
              <a:t>这样每个条件组合都可以覆盖到，并且可以得到条件组合的以下特点</a:t>
            </a:r>
            <a:endParaRPr lang="zh-CN" altLang="en-US"/>
          </a:p>
          <a:p>
            <a:r>
              <a:rPr lang="zh-CN" altLang="en-US"/>
              <a:t>满足条件组合覆盖的用例一定满足语句覆盖，条件覆盖</a:t>
            </a:r>
            <a:endParaRPr lang="zh-CN" altLang="en-US"/>
          </a:p>
          <a:p>
            <a:r>
              <a:rPr lang="zh-CN" altLang="en-US"/>
              <a:t>，判定覆盖以及判定</a:t>
            </a:r>
            <a:r>
              <a:rPr lang="en-US" altLang="zh-CN"/>
              <a:t>/</a:t>
            </a:r>
            <a:r>
              <a:rPr lang="zh-CN" altLang="en-US"/>
              <a:t>条件</a:t>
            </a:r>
            <a:r>
              <a:rPr lang="zh-CN" altLang="en-US"/>
              <a:t>覆盖</a:t>
            </a:r>
            <a:endParaRPr lang="zh-CN" altLang="en-US"/>
          </a:p>
          <a:p>
            <a:r>
              <a:rPr lang="zh-CN" altLang="en-US"/>
              <a:t>但条件组合覆盖没有考虑各判定结果（真或假）组合情况，不满足路径覆盖</a:t>
            </a:r>
            <a:endParaRPr lang="zh-CN" altLang="en-US"/>
          </a:p>
          <a:p>
            <a:endParaRPr lang="zh-CN" altLang="en-US"/>
          </a:p>
        </p:txBody>
      </p:sp>
      <p:pic>
        <p:nvPicPr>
          <p:cNvPr id="6" name="图片 5"/>
          <p:cNvPicPr>
            <a:picLocks noChangeAspect="1"/>
          </p:cNvPicPr>
          <p:nvPr>
            <p:custDataLst>
              <p:tags r:id="rId1"/>
            </p:custDataLst>
          </p:nvPr>
        </p:nvPicPr>
        <p:blipFill>
          <a:blip r:embed="rId2"/>
          <a:stretch>
            <a:fillRect/>
          </a:stretch>
        </p:blipFill>
        <p:spPr>
          <a:xfrm>
            <a:off x="366395" y="807720"/>
            <a:ext cx="2264410" cy="35280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4305" y="177165"/>
            <a:ext cx="3491230" cy="4262755"/>
          </a:xfrm>
          <a:prstGeom prst="rect">
            <a:avLst/>
          </a:prstGeom>
        </p:spPr>
      </p:pic>
      <p:sp>
        <p:nvSpPr>
          <p:cNvPr id="3" name="文本框 2"/>
          <p:cNvSpPr txBox="1"/>
          <p:nvPr/>
        </p:nvSpPr>
        <p:spPr>
          <a:xfrm>
            <a:off x="4010660" y="177165"/>
            <a:ext cx="4419600" cy="4523105"/>
          </a:xfrm>
          <a:prstGeom prst="rect">
            <a:avLst/>
          </a:prstGeom>
          <a:noFill/>
        </p:spPr>
        <p:txBody>
          <a:bodyPr wrap="square" rtlCol="0">
            <a:spAutoFit/>
          </a:bodyPr>
          <a:p>
            <a:r>
              <a:rPr lang="zh-CN" altLang="en-US"/>
              <a:t>对于加入购物车功能，我们可以得到他所有的条件组合</a:t>
            </a:r>
            <a:endParaRPr lang="zh-CN" altLang="en-US"/>
          </a:p>
          <a:p>
            <a:r>
              <a:rPr lang="en-US" altLang="zh-CN"/>
              <a:t>1.</a:t>
            </a:r>
            <a:r>
              <a:rPr lang="zh-CN" altLang="en-US"/>
              <a:t>已</a:t>
            </a:r>
            <a:r>
              <a:rPr lang="zh-CN" altLang="en-US"/>
              <a:t>登录，</a:t>
            </a:r>
            <a:endParaRPr lang="zh-CN" altLang="en-US"/>
          </a:p>
          <a:p>
            <a:r>
              <a:rPr lang="en-US" altLang="zh-CN"/>
              <a:t>2.</a:t>
            </a:r>
            <a:r>
              <a:rPr lang="zh-CN" altLang="en-US"/>
              <a:t>未登录，未注册</a:t>
            </a:r>
            <a:endParaRPr lang="zh-CN" altLang="en-US"/>
          </a:p>
          <a:p>
            <a:r>
              <a:rPr lang="en-US" altLang="zh-CN"/>
              <a:t>3.</a:t>
            </a:r>
            <a:r>
              <a:rPr lang="zh-CN" altLang="en-US"/>
              <a:t>未登录，已注册，</a:t>
            </a:r>
            <a:endParaRPr lang="zh-CN" altLang="en-US"/>
          </a:p>
          <a:p>
            <a:r>
              <a:rPr lang="en-US" altLang="zh-CN"/>
              <a:t>4.</a:t>
            </a:r>
            <a:r>
              <a:rPr lang="zh-CN" altLang="en-US">
                <a:sym typeface="+mn-ea"/>
              </a:rPr>
              <a:t>购物车已有该商品</a:t>
            </a:r>
            <a:endParaRPr lang="zh-CN" altLang="en-US">
              <a:sym typeface="+mn-ea"/>
            </a:endParaRPr>
          </a:p>
          <a:p>
            <a:r>
              <a:rPr lang="en-US" altLang="zh-CN"/>
              <a:t>5.</a:t>
            </a:r>
            <a:r>
              <a:rPr lang="zh-CN" altLang="en-US">
                <a:sym typeface="+mn-ea"/>
              </a:rPr>
              <a:t>购物车没有该商品</a:t>
            </a:r>
            <a:endParaRPr lang="zh-CN" altLang="en-US">
              <a:sym typeface="+mn-ea"/>
            </a:endParaRPr>
          </a:p>
          <a:p>
            <a:r>
              <a:rPr lang="zh-CN" altLang="en-US">
                <a:sym typeface="+mn-ea"/>
              </a:rPr>
              <a:t>我们便可以设计测试用例来达到条件组合覆盖</a:t>
            </a:r>
            <a:endParaRPr lang="zh-CN" altLang="en-US">
              <a:sym typeface="+mn-ea"/>
            </a:endParaRPr>
          </a:p>
          <a:p>
            <a:r>
              <a:rPr lang="en-US" altLang="zh-CN">
                <a:sym typeface="+mn-ea"/>
              </a:rPr>
              <a:t>1.</a:t>
            </a:r>
            <a:r>
              <a:rPr lang="zh-CN" altLang="en-US">
                <a:sym typeface="+mn-ea"/>
              </a:rPr>
              <a:t>已登录，</a:t>
            </a:r>
            <a:r>
              <a:rPr lang="zh-CN" altLang="en-US">
                <a:sym typeface="+mn-ea"/>
              </a:rPr>
              <a:t>购物车已有该商品</a:t>
            </a:r>
            <a:endParaRPr lang="zh-CN" altLang="en-US">
              <a:sym typeface="+mn-ea"/>
            </a:endParaRPr>
          </a:p>
          <a:p>
            <a:r>
              <a:rPr lang="en-US" altLang="zh-CN">
                <a:sym typeface="+mn-ea"/>
              </a:rPr>
              <a:t>2.</a:t>
            </a:r>
            <a:r>
              <a:rPr lang="zh-CN" altLang="en-US">
                <a:sym typeface="+mn-ea"/>
              </a:rPr>
              <a:t>已登录，购物车没有该商品</a:t>
            </a:r>
            <a:endParaRPr lang="zh-CN" altLang="en-US">
              <a:sym typeface="+mn-ea"/>
            </a:endParaRPr>
          </a:p>
          <a:p>
            <a:r>
              <a:rPr lang="en-US" altLang="zh-CN">
                <a:sym typeface="+mn-ea"/>
              </a:rPr>
              <a:t>3.</a:t>
            </a:r>
            <a:r>
              <a:rPr lang="zh-CN" altLang="en-US">
                <a:sym typeface="+mn-ea"/>
              </a:rPr>
              <a:t>未登录，未注册，</a:t>
            </a:r>
            <a:r>
              <a:rPr lang="zh-CN" altLang="en-US">
                <a:sym typeface="+mn-ea"/>
              </a:rPr>
              <a:t>购物车没有该商品</a:t>
            </a:r>
            <a:endParaRPr lang="zh-CN" altLang="en-US">
              <a:sym typeface="+mn-ea"/>
            </a:endParaRPr>
          </a:p>
          <a:p>
            <a:r>
              <a:rPr lang="en-US" altLang="zh-CN"/>
              <a:t>4.</a:t>
            </a:r>
            <a:r>
              <a:rPr lang="zh-CN" altLang="en-US">
                <a:sym typeface="+mn-ea"/>
              </a:rPr>
              <a:t>未登录，已注册，</a:t>
            </a:r>
            <a:r>
              <a:rPr lang="zh-CN" altLang="en-US">
                <a:sym typeface="+mn-ea"/>
              </a:rPr>
              <a:t>购物车没有该商品</a:t>
            </a:r>
            <a:endParaRPr lang="zh-CN" altLang="en-US"/>
          </a:p>
          <a:p>
            <a:r>
              <a:rPr lang="en-US" altLang="zh-CN">
                <a:sym typeface="+mn-ea"/>
              </a:rPr>
              <a:t>5.</a:t>
            </a:r>
            <a:r>
              <a:rPr lang="zh-CN" altLang="en-US">
                <a:sym typeface="+mn-ea"/>
              </a:rPr>
              <a:t>未登录，已注册，购物车已有该商品</a:t>
            </a:r>
            <a:endParaRPr lang="zh-CN" altLang="en-US"/>
          </a:p>
          <a:p>
            <a:endParaRPr lang="zh-CN" altLang="en-US">
              <a:sym typeface="+mn-ea"/>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点覆盖</a:t>
            </a:r>
            <a:endParaRPr lang="zh-CN" altLang="en-US" b="1"/>
          </a:p>
        </p:txBody>
      </p:sp>
      <p:sp>
        <p:nvSpPr>
          <p:cNvPr id="2" name="文本框 1"/>
          <p:cNvSpPr txBox="1"/>
          <p:nvPr/>
        </p:nvSpPr>
        <p:spPr>
          <a:xfrm>
            <a:off x="549275" y="852805"/>
            <a:ext cx="8271510" cy="1198880"/>
          </a:xfrm>
          <a:prstGeom prst="rect">
            <a:avLst/>
          </a:prstGeom>
          <a:noFill/>
        </p:spPr>
        <p:txBody>
          <a:bodyPr wrap="square" rtlCol="0">
            <a:spAutoFit/>
          </a:bodyPr>
          <a:p>
            <a:r>
              <a:rPr lang="zh-CN" altLang="en-US"/>
              <a:t>点覆盖的定义是：如果连通图</a:t>
            </a:r>
            <a:r>
              <a:rPr lang="en-US" altLang="zh-CN"/>
              <a:t>G</a:t>
            </a:r>
            <a:r>
              <a:rPr lang="zh-CN" altLang="en-US"/>
              <a:t>的子图</a:t>
            </a:r>
            <a:r>
              <a:rPr lang="en-US" altLang="zh-CN"/>
              <a:t>G‘</a:t>
            </a:r>
            <a:r>
              <a:rPr lang="zh-CN" altLang="en-US"/>
              <a:t>是连通的，而且包含</a:t>
            </a:r>
            <a:r>
              <a:rPr lang="en-US" altLang="zh-CN"/>
              <a:t>G</a:t>
            </a:r>
            <a:r>
              <a:rPr lang="zh-CN" altLang="en-US"/>
              <a:t>的所有结点，则称</a:t>
            </a:r>
            <a:r>
              <a:rPr lang="en-US" altLang="zh-CN"/>
              <a:t>G’</a:t>
            </a:r>
            <a:r>
              <a:rPr lang="zh-CN" altLang="en-US"/>
              <a:t>是</a:t>
            </a:r>
            <a:r>
              <a:rPr lang="en-US" altLang="zh-CN"/>
              <a:t>G</a:t>
            </a:r>
            <a:r>
              <a:rPr lang="zh-CN" altLang="en-US"/>
              <a:t>的点覆盖，</a:t>
            </a:r>
            <a:r>
              <a:rPr lang="zh-CN" altLang="en-US">
                <a:sym typeface="+mn-ea"/>
              </a:rPr>
              <a:t>一般情况下，程序流程图是连通的有向图，</a:t>
            </a:r>
            <a:endParaRPr lang="zh-CN" altLang="en-US"/>
          </a:p>
          <a:p>
            <a:r>
              <a:rPr lang="zh-CN" altLang="en-US"/>
              <a:t>点覆盖的标准是：选取足够多的测试数据，使得程序执行路径至少经过流程图的每个结点一次。因此点覆盖和语句覆盖的标准是相同的</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边覆盖</a:t>
            </a:r>
            <a:endParaRPr lang="zh-CN" altLang="en-US" b="1"/>
          </a:p>
        </p:txBody>
      </p:sp>
      <p:sp>
        <p:nvSpPr>
          <p:cNvPr id="2" name="文本框 1"/>
          <p:cNvSpPr txBox="1"/>
          <p:nvPr/>
        </p:nvSpPr>
        <p:spPr>
          <a:xfrm>
            <a:off x="549275" y="852805"/>
            <a:ext cx="8271510" cy="1198880"/>
          </a:xfrm>
          <a:prstGeom prst="rect">
            <a:avLst/>
          </a:prstGeom>
          <a:noFill/>
        </p:spPr>
        <p:txBody>
          <a:bodyPr wrap="square" rtlCol="0">
            <a:spAutoFit/>
          </a:bodyPr>
          <a:p>
            <a:r>
              <a:rPr lang="zh-CN" altLang="en-US"/>
              <a:t>边覆盖的定义是：如果连通图</a:t>
            </a:r>
            <a:r>
              <a:rPr lang="en-US" altLang="zh-CN"/>
              <a:t>G</a:t>
            </a:r>
            <a:r>
              <a:rPr lang="zh-CN" altLang="en-US"/>
              <a:t>的子图</a:t>
            </a:r>
            <a:r>
              <a:rPr lang="en-US" altLang="zh-CN"/>
              <a:t>G‘</a:t>
            </a:r>
            <a:r>
              <a:rPr lang="zh-CN" altLang="en-US"/>
              <a:t>是连通的，而且包含</a:t>
            </a:r>
            <a:r>
              <a:rPr lang="en-US" altLang="zh-CN"/>
              <a:t>G</a:t>
            </a:r>
            <a:r>
              <a:rPr lang="zh-CN" altLang="en-US"/>
              <a:t>的所有边，则称</a:t>
            </a:r>
            <a:r>
              <a:rPr lang="en-US" altLang="zh-CN"/>
              <a:t>G’</a:t>
            </a:r>
            <a:r>
              <a:rPr lang="zh-CN" altLang="en-US"/>
              <a:t>是</a:t>
            </a:r>
            <a:r>
              <a:rPr lang="en-US" altLang="zh-CN"/>
              <a:t>G</a:t>
            </a:r>
            <a:r>
              <a:rPr lang="zh-CN" altLang="en-US"/>
              <a:t>的边覆盖，</a:t>
            </a:r>
            <a:r>
              <a:rPr lang="zh-CN" altLang="en-US">
                <a:sym typeface="+mn-ea"/>
              </a:rPr>
              <a:t>一般情况下，程序流程图是连通的有向图</a:t>
            </a:r>
            <a:endParaRPr lang="zh-CN" altLang="en-US"/>
          </a:p>
          <a:p>
            <a:r>
              <a:rPr lang="zh-CN" altLang="en-US"/>
              <a:t>边覆盖的标准是：要求选取足够多的数据，使得程序执行路径至少经过流程图中的每条边一次，因此点覆盖和语句覆盖的标准是相同的</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1170" y="411480"/>
            <a:ext cx="7362190" cy="645160"/>
          </a:xfrm>
          <a:prstGeom prst="rect">
            <a:avLst/>
          </a:prstGeom>
          <a:noFill/>
        </p:spPr>
        <p:txBody>
          <a:bodyPr wrap="square" rtlCol="0">
            <a:spAutoFit/>
          </a:bodyPr>
          <a:p>
            <a:r>
              <a:rPr lang="en-US" altLang="zh-CN" b="1"/>
              <a:t>Q1</a:t>
            </a:r>
            <a:r>
              <a:rPr lang="zh-CN" altLang="en-US" b="1"/>
              <a:t>：判定</a:t>
            </a:r>
            <a:r>
              <a:rPr lang="en-US" altLang="zh-CN" b="1"/>
              <a:t>/</a:t>
            </a:r>
            <a:r>
              <a:rPr lang="zh-CN" altLang="en-US" b="1"/>
              <a:t>条件覆盖既可以满足判定覆盖，也可以满足条件覆盖，它的逻辑强度一定比条件覆盖强</a:t>
            </a:r>
            <a:endParaRPr lang="zh-CN" altLang="en-US" b="1"/>
          </a:p>
        </p:txBody>
      </p:sp>
      <p:sp>
        <p:nvSpPr>
          <p:cNvPr id="2" name="文本框 1"/>
          <p:cNvSpPr txBox="1"/>
          <p:nvPr/>
        </p:nvSpPr>
        <p:spPr>
          <a:xfrm>
            <a:off x="604520" y="2416175"/>
            <a:ext cx="7362190" cy="922020"/>
          </a:xfrm>
          <a:prstGeom prst="rect">
            <a:avLst/>
          </a:prstGeom>
          <a:noFill/>
        </p:spPr>
        <p:txBody>
          <a:bodyPr wrap="square" rtlCol="0">
            <a:spAutoFit/>
          </a:bodyPr>
          <a:p>
            <a:r>
              <a:rPr lang="en-US" altLang="zh-CN" b="1"/>
              <a:t>Q2</a:t>
            </a:r>
            <a:r>
              <a:rPr lang="zh-CN" altLang="en-US" b="1"/>
              <a:t>：满足</a:t>
            </a:r>
            <a:r>
              <a:rPr lang="zh-CN" b="1"/>
              <a:t>条件组合覆盖一定满足路径覆盖，</a:t>
            </a:r>
            <a:r>
              <a:rPr lang="zh-CN" altLang="en-US" b="1">
                <a:sym typeface="+mn-ea"/>
              </a:rPr>
              <a:t>语句覆盖，条件覆盖</a:t>
            </a:r>
            <a:endParaRPr lang="zh-CN" altLang="en-US" b="1"/>
          </a:p>
          <a:p>
            <a:r>
              <a:rPr lang="zh-CN" altLang="en-US" b="1">
                <a:sym typeface="+mn-ea"/>
              </a:rPr>
              <a:t>，判定覆盖，以及判定</a:t>
            </a:r>
            <a:r>
              <a:rPr lang="en-US" altLang="zh-CN" b="1">
                <a:sym typeface="+mn-ea"/>
              </a:rPr>
              <a:t>/</a:t>
            </a:r>
            <a:r>
              <a:rPr lang="zh-CN" altLang="en-US" b="1">
                <a:sym typeface="+mn-ea"/>
              </a:rPr>
              <a:t>条件覆盖</a:t>
            </a:r>
            <a:endParaRPr lang="zh-CN" altLang="en-US" b="1"/>
          </a:p>
          <a:p>
            <a:endParaRPr lang="zh-CN" b="1"/>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1170" y="411480"/>
            <a:ext cx="7362190" cy="645160"/>
          </a:xfrm>
          <a:prstGeom prst="rect">
            <a:avLst/>
          </a:prstGeom>
          <a:noFill/>
        </p:spPr>
        <p:txBody>
          <a:bodyPr wrap="square" rtlCol="0">
            <a:spAutoFit/>
          </a:bodyPr>
          <a:p>
            <a:r>
              <a:rPr lang="en-US" altLang="zh-CN" b="1"/>
              <a:t>A1</a:t>
            </a:r>
            <a:r>
              <a:rPr lang="zh-CN" altLang="en-US" b="1"/>
              <a:t>：虽然判定</a:t>
            </a:r>
            <a:r>
              <a:rPr lang="en-US" altLang="zh-CN" b="1"/>
              <a:t>/</a:t>
            </a:r>
            <a:r>
              <a:rPr lang="zh-CN" altLang="en-US" b="1"/>
              <a:t>条件覆盖可以同时满足判定覆盖和条件覆盖，但它的逻辑强度和条件覆盖不是绝对的</a:t>
            </a:r>
            <a:endParaRPr lang="zh-CN" altLang="en-US" b="1"/>
          </a:p>
        </p:txBody>
      </p:sp>
      <p:sp>
        <p:nvSpPr>
          <p:cNvPr id="2" name="文本框 1"/>
          <p:cNvSpPr txBox="1"/>
          <p:nvPr/>
        </p:nvSpPr>
        <p:spPr>
          <a:xfrm>
            <a:off x="604520" y="2416175"/>
            <a:ext cx="7362190" cy="368300"/>
          </a:xfrm>
          <a:prstGeom prst="rect">
            <a:avLst/>
          </a:prstGeom>
          <a:noFill/>
        </p:spPr>
        <p:txBody>
          <a:bodyPr wrap="square" rtlCol="0">
            <a:spAutoFit/>
          </a:bodyPr>
          <a:p>
            <a:r>
              <a:rPr lang="en-US" altLang="zh-CN" b="1"/>
              <a:t>A2</a:t>
            </a:r>
            <a:r>
              <a:rPr lang="zh-CN" altLang="en-US" b="1"/>
              <a:t>：满足</a:t>
            </a:r>
            <a:r>
              <a:rPr lang="zh-CN" b="1"/>
              <a:t>条件组合覆盖不一定满足路径覆盖</a:t>
            </a:r>
            <a:endParaRPr lang="zh-CN" b="1"/>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基本路径测试</a:t>
            </a:r>
            <a:endParaRPr lang="zh-CN" altLang="zh-CN" b="1"/>
          </a:p>
        </p:txBody>
      </p:sp>
      <p:sp>
        <p:nvSpPr>
          <p:cNvPr id="2" name="文本框 1"/>
          <p:cNvSpPr txBox="1"/>
          <p:nvPr/>
        </p:nvSpPr>
        <p:spPr>
          <a:xfrm>
            <a:off x="464185" y="873125"/>
            <a:ext cx="7743190" cy="1476375"/>
          </a:xfrm>
          <a:prstGeom prst="rect">
            <a:avLst/>
          </a:prstGeom>
          <a:noFill/>
        </p:spPr>
        <p:txBody>
          <a:bodyPr wrap="square" rtlCol="0" anchor="t">
            <a:spAutoFit/>
          </a:bodyPr>
          <a:p>
            <a:r>
              <a:rPr lang="zh-CN" altLang="en-US"/>
              <a:t>在实际开发过程中，一段不太复杂的程序，其路径的组合都是一个庞大的数字。基本路径测试是在程序控制流图的基础上，通过分析控制构造的环路复杂性，导出基本可执行路径集合，从而设计测试用例的方法。在基本路径测试中，设计出的测试用例要保证在被测程序的每一条可执行语句上至少执行一次。</a:t>
            </a:r>
            <a:endParaRPr lang="zh-CN" altLang="en-US"/>
          </a:p>
        </p:txBody>
      </p:sp>
      <p:sp>
        <p:nvSpPr>
          <p:cNvPr id="8" name="文本框 7"/>
          <p:cNvSpPr txBox="1"/>
          <p:nvPr/>
        </p:nvSpPr>
        <p:spPr>
          <a:xfrm>
            <a:off x="464185" y="2602865"/>
            <a:ext cx="7743825" cy="1753235"/>
          </a:xfrm>
          <a:prstGeom prst="rect">
            <a:avLst/>
          </a:prstGeom>
          <a:noFill/>
        </p:spPr>
        <p:txBody>
          <a:bodyPr wrap="square" rtlCol="0" anchor="t">
            <a:spAutoFit/>
          </a:bodyPr>
          <a:p>
            <a:r>
              <a:rPr lang="zh-CN" altLang="en-US"/>
              <a:t>基本路径测试法的步骤：</a:t>
            </a:r>
            <a:endParaRPr lang="zh-CN" altLang="en-US"/>
          </a:p>
          <a:p>
            <a:endParaRPr lang="zh-CN" altLang="en-US"/>
          </a:p>
          <a:p>
            <a:r>
              <a:rPr lang="zh-CN" altLang="en-US"/>
              <a:t>导出程序流程图的拓扑结构-流图(控制流程图)</a:t>
            </a:r>
            <a:endParaRPr lang="zh-CN" altLang="en-US"/>
          </a:p>
          <a:p>
            <a:r>
              <a:rPr lang="zh-CN" altLang="en-US"/>
              <a:t>计算流图G的环路复杂性V(G)</a:t>
            </a:r>
            <a:endParaRPr lang="zh-CN" altLang="en-US"/>
          </a:p>
          <a:p>
            <a:r>
              <a:rPr lang="zh-CN" altLang="en-US"/>
              <a:t>确定只包含独立路径的基本路径集</a:t>
            </a:r>
            <a:endParaRPr lang="zh-CN" altLang="en-US"/>
          </a:p>
          <a:p>
            <a:r>
              <a:rPr lang="zh-CN" altLang="en-US"/>
              <a:t>设计测试用例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基本路径测试</a:t>
            </a:r>
            <a:endParaRPr lang="zh-CN" altLang="zh-CN" b="1"/>
          </a:p>
        </p:txBody>
      </p:sp>
      <p:sp>
        <p:nvSpPr>
          <p:cNvPr id="3" name="文本框 2"/>
          <p:cNvSpPr txBox="1"/>
          <p:nvPr/>
        </p:nvSpPr>
        <p:spPr>
          <a:xfrm>
            <a:off x="3721100" y="417830"/>
            <a:ext cx="7515225" cy="4523105"/>
          </a:xfrm>
          <a:prstGeom prst="rect">
            <a:avLst/>
          </a:prstGeom>
          <a:noFill/>
        </p:spPr>
        <p:txBody>
          <a:bodyPr wrap="square" rtlCol="0" anchor="t">
            <a:spAutoFit/>
          </a:bodyPr>
          <a:p>
            <a:r>
              <a:rPr lang="zh-CN" altLang="en-US" sz="1200"/>
              <a:t>int Test(int i_count, int i_flag)</a:t>
            </a:r>
            <a:endParaRPr lang="zh-CN" altLang="en-US" sz="1200"/>
          </a:p>
          <a:p>
            <a:r>
              <a:rPr lang="zh-CN" altLang="en-US" sz="1200"/>
              <a:t>{</a:t>
            </a:r>
            <a:endParaRPr lang="zh-CN" altLang="en-US" sz="1200"/>
          </a:p>
          <a:p>
            <a:r>
              <a:rPr lang="en-US" altLang="zh-CN" sz="1200"/>
              <a:t>	</a:t>
            </a:r>
            <a:r>
              <a:rPr lang="zh-CN" altLang="en-US" sz="1200"/>
              <a:t>int i_temp=0;</a:t>
            </a:r>
            <a:endParaRPr lang="zh-CN" altLang="en-US" sz="1200"/>
          </a:p>
          <a:p>
            <a:r>
              <a:rPr lang="en-US" altLang="zh-CN" sz="1200"/>
              <a:t>	</a:t>
            </a:r>
            <a:r>
              <a:rPr lang="zh-CN" altLang="en-US" sz="1200"/>
              <a:t>while (i_count&gt;0)</a:t>
            </a:r>
            <a:endParaRPr lang="zh-CN" altLang="en-US" sz="1200"/>
          </a:p>
          <a:p>
            <a:r>
              <a:rPr lang="en-US" altLang="zh-CN" sz="1200"/>
              <a:t>	</a:t>
            </a:r>
            <a:r>
              <a:rPr lang="zh-CN" altLang="en-US" sz="1200"/>
              <a:t>{</a:t>
            </a:r>
            <a:endParaRPr lang="zh-CN" altLang="en-US" sz="1200"/>
          </a:p>
          <a:p>
            <a:r>
              <a:rPr lang="zh-CN" altLang="en-US" sz="1200"/>
              <a:t> </a:t>
            </a:r>
            <a:r>
              <a:rPr lang="en-US" altLang="zh-CN" sz="1200"/>
              <a:t>		</a:t>
            </a:r>
            <a:r>
              <a:rPr lang="zh-CN" altLang="en-US" sz="1200"/>
              <a:t>If (0 == i_flag)</a:t>
            </a:r>
            <a:endParaRPr lang="zh-CN" altLang="en-US" sz="1200"/>
          </a:p>
          <a:p>
            <a:r>
              <a:rPr lang="en-US" altLang="zh-CN" sz="1200"/>
              <a:t>	</a:t>
            </a:r>
            <a:r>
              <a:rPr lang="zh-CN" altLang="en-US" sz="1200"/>
              <a:t>{</a:t>
            </a:r>
            <a:endParaRPr lang="zh-CN" altLang="en-US" sz="1200"/>
          </a:p>
          <a:p>
            <a:r>
              <a:rPr lang="zh-CN" altLang="en-US" sz="1200"/>
              <a:t> </a:t>
            </a:r>
            <a:r>
              <a:rPr lang="en-US" altLang="zh-CN" sz="1200"/>
              <a:t>	</a:t>
            </a:r>
            <a:r>
              <a:rPr lang="zh-CN" altLang="en-US" sz="1200"/>
              <a:t>i_temp=i_count+100;</a:t>
            </a:r>
            <a:endParaRPr lang="zh-CN" altLang="en-US" sz="1200"/>
          </a:p>
          <a:p>
            <a:r>
              <a:rPr lang="zh-CN" altLang="en-US" sz="1200"/>
              <a:t> </a:t>
            </a:r>
            <a:r>
              <a:rPr lang="en-US" altLang="zh-CN" sz="1200"/>
              <a:t>	</a:t>
            </a:r>
            <a:r>
              <a:rPr lang="zh-CN" altLang="en-US" sz="1200"/>
              <a:t>break;</a:t>
            </a:r>
            <a:endParaRPr lang="zh-CN" altLang="en-US" sz="1200"/>
          </a:p>
          <a:p>
            <a:r>
              <a:rPr lang="en-US" altLang="zh-CN" sz="1200"/>
              <a:t>	</a:t>
            </a:r>
            <a:r>
              <a:rPr lang="zh-CN" altLang="en-US" sz="1200"/>
              <a:t>}</a:t>
            </a:r>
            <a:endParaRPr lang="zh-CN" altLang="en-US" sz="1200"/>
          </a:p>
          <a:p>
            <a:r>
              <a:rPr lang="zh-CN" altLang="en-US" sz="1200"/>
              <a:t> </a:t>
            </a:r>
            <a:r>
              <a:rPr lang="en-US" altLang="zh-CN" sz="1200"/>
              <a:t>	</a:t>
            </a:r>
            <a:r>
              <a:rPr lang="zh-CN" altLang="en-US" sz="1200"/>
              <a:t>else{</a:t>
            </a:r>
            <a:endParaRPr lang="zh-CN" altLang="en-US" sz="1200"/>
          </a:p>
          <a:p>
            <a:r>
              <a:rPr lang="en-US" altLang="zh-CN" sz="1200"/>
              <a:t>		</a:t>
            </a:r>
            <a:r>
              <a:rPr lang="zh-CN" altLang="en-US" sz="1200"/>
              <a:t> If (1==i_flag)</a:t>
            </a:r>
            <a:endParaRPr lang="zh-CN" altLang="en-US" sz="1200"/>
          </a:p>
          <a:p>
            <a:r>
              <a:rPr lang="en-US" altLang="zh-CN" sz="1200"/>
              <a:t>	</a:t>
            </a:r>
            <a:r>
              <a:rPr lang="zh-CN" altLang="en-US" sz="1200"/>
              <a:t>{</a:t>
            </a:r>
            <a:endParaRPr lang="zh-CN" altLang="en-US" sz="1200"/>
          </a:p>
          <a:p>
            <a:r>
              <a:rPr lang="zh-CN" altLang="en-US" sz="1200"/>
              <a:t> </a:t>
            </a:r>
            <a:r>
              <a:rPr lang="en-US" altLang="zh-CN" sz="1200"/>
              <a:t>	</a:t>
            </a:r>
            <a:r>
              <a:rPr lang="zh-CN" altLang="en-US" sz="1200"/>
              <a:t>i_temp=i_temp+10;</a:t>
            </a:r>
            <a:endParaRPr lang="zh-CN" altLang="en-US" sz="1200"/>
          </a:p>
          <a:p>
            <a:r>
              <a:rPr lang="en-US" altLang="zh-CN" sz="1200"/>
              <a:t>	</a:t>
            </a:r>
            <a:r>
              <a:rPr lang="zh-CN" altLang="en-US" sz="1200"/>
              <a:t>}</a:t>
            </a:r>
            <a:endParaRPr lang="zh-CN" altLang="en-US" sz="1200"/>
          </a:p>
          <a:p>
            <a:r>
              <a:rPr lang="en-US" altLang="zh-CN" sz="1200"/>
              <a:t>	</a:t>
            </a:r>
            <a:r>
              <a:rPr lang="zh-CN" altLang="en-US" sz="1200"/>
              <a:t> else</a:t>
            </a:r>
            <a:endParaRPr lang="zh-CN" altLang="en-US" sz="1200"/>
          </a:p>
          <a:p>
            <a:r>
              <a:rPr lang="en-US" altLang="zh-CN" sz="1200"/>
              <a:t>	</a:t>
            </a:r>
            <a:r>
              <a:rPr lang="zh-CN" altLang="en-US" sz="1200"/>
              <a:t>{</a:t>
            </a:r>
            <a:endParaRPr lang="zh-CN" altLang="en-US" sz="1200"/>
          </a:p>
          <a:p>
            <a:r>
              <a:rPr lang="zh-CN" altLang="en-US" sz="1200"/>
              <a:t> </a:t>
            </a:r>
            <a:r>
              <a:rPr lang="en-US" altLang="zh-CN" sz="1200"/>
              <a:t>		</a:t>
            </a:r>
            <a:r>
              <a:rPr lang="zh-CN" altLang="en-US" sz="1200"/>
              <a:t>i_temp=i_temp+20;</a:t>
            </a:r>
            <a:endParaRPr lang="zh-CN" altLang="en-US" sz="1200"/>
          </a:p>
          <a:p>
            <a:r>
              <a:rPr lang="en-US" altLang="zh-CN" sz="1200"/>
              <a:t>	</a:t>
            </a:r>
            <a:r>
              <a:rPr lang="zh-CN" altLang="en-US" sz="1200"/>
              <a:t>}</a:t>
            </a:r>
            <a:endParaRPr lang="zh-CN" altLang="en-US" sz="1200"/>
          </a:p>
          <a:p>
            <a:r>
              <a:rPr lang="en-US" altLang="zh-CN" sz="1200"/>
              <a:t>	</a:t>
            </a:r>
            <a:r>
              <a:rPr lang="zh-CN" altLang="en-US" sz="1200"/>
              <a:t>}</a:t>
            </a:r>
            <a:endParaRPr lang="zh-CN" altLang="en-US" sz="1200"/>
          </a:p>
          <a:p>
            <a:r>
              <a:rPr lang="en-US" altLang="zh-CN" sz="1200"/>
              <a:t>	</a:t>
            </a:r>
            <a:r>
              <a:rPr lang="zh-CN" altLang="en-US" sz="1200"/>
              <a:t> i_count–;</a:t>
            </a:r>
            <a:endParaRPr lang="zh-CN" altLang="en-US" sz="1200"/>
          </a:p>
          <a:p>
            <a:r>
              <a:rPr lang="en-US" altLang="zh-CN" sz="1200"/>
              <a:t>	</a:t>
            </a:r>
            <a:r>
              <a:rPr lang="zh-CN" altLang="en-US" sz="1200"/>
              <a:t>}</a:t>
            </a:r>
            <a:endParaRPr lang="zh-CN" altLang="en-US" sz="1200"/>
          </a:p>
          <a:p>
            <a:r>
              <a:rPr lang="zh-CN" altLang="en-US" sz="1200"/>
              <a:t> </a:t>
            </a:r>
            <a:r>
              <a:rPr lang="en-US" altLang="zh-CN" sz="1200"/>
              <a:t>	</a:t>
            </a:r>
            <a:r>
              <a:rPr lang="zh-CN" altLang="en-US" sz="1200"/>
              <a:t>return i_temp;</a:t>
            </a:r>
            <a:endParaRPr lang="zh-CN" altLang="en-US" sz="1200"/>
          </a:p>
          <a:p>
            <a:r>
              <a:rPr lang="zh-CN" altLang="en-US" sz="1200"/>
              <a:t>}</a:t>
            </a:r>
            <a:endParaRPr lang="zh-CN" altLang="en-US" sz="1200"/>
          </a:p>
        </p:txBody>
      </p:sp>
      <p:sp>
        <p:nvSpPr>
          <p:cNvPr id="5" name="文本框 4"/>
          <p:cNvSpPr txBox="1"/>
          <p:nvPr/>
        </p:nvSpPr>
        <p:spPr>
          <a:xfrm>
            <a:off x="722630" y="1657350"/>
            <a:ext cx="2724785" cy="645160"/>
          </a:xfrm>
          <a:prstGeom prst="rect">
            <a:avLst/>
          </a:prstGeom>
          <a:noFill/>
        </p:spPr>
        <p:txBody>
          <a:bodyPr wrap="square" rtlCol="0" anchor="t">
            <a:spAutoFit/>
          </a:bodyPr>
          <a:p>
            <a:r>
              <a:rPr lang="zh-CN" altLang="en-US">
                <a:sym typeface="+mn-ea"/>
              </a:rPr>
              <a:t>针对test函数按照基本路径测试方法设计测试用例。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基本路径测试</a:t>
            </a:r>
            <a:endParaRPr lang="zh-CN" altLang="zh-CN" b="1"/>
          </a:p>
        </p:txBody>
      </p:sp>
      <p:pic>
        <p:nvPicPr>
          <p:cNvPr id="2" name="图片 1"/>
          <p:cNvPicPr>
            <a:picLocks noChangeAspect="1"/>
          </p:cNvPicPr>
          <p:nvPr/>
        </p:nvPicPr>
        <p:blipFill>
          <a:blip r:embed="rId1"/>
          <a:stretch>
            <a:fillRect/>
          </a:stretch>
        </p:blipFill>
        <p:spPr>
          <a:xfrm>
            <a:off x="1789430" y="1722755"/>
            <a:ext cx="2675890" cy="2987040"/>
          </a:xfrm>
          <a:prstGeom prst="rect">
            <a:avLst/>
          </a:prstGeom>
        </p:spPr>
      </p:pic>
      <p:sp>
        <p:nvSpPr>
          <p:cNvPr id="6" name="文本框 5"/>
          <p:cNvSpPr txBox="1"/>
          <p:nvPr/>
        </p:nvSpPr>
        <p:spPr>
          <a:xfrm>
            <a:off x="464185" y="1077595"/>
            <a:ext cx="2540000" cy="645160"/>
          </a:xfrm>
          <a:prstGeom prst="rect">
            <a:avLst/>
          </a:prstGeom>
          <a:noFill/>
        </p:spPr>
        <p:txBody>
          <a:bodyPr wrap="square" rtlCol="0" anchor="t">
            <a:spAutoFit/>
          </a:bodyPr>
          <a:p>
            <a:r>
              <a:rPr lang="zh-CN" altLang="en-US"/>
              <a:t>导出程序流程图的拓扑结构-流图(控制流程图)</a:t>
            </a:r>
            <a:endParaRPr lang="zh-CN" altLang="en-US"/>
          </a:p>
        </p:txBody>
      </p:sp>
      <p:pic>
        <p:nvPicPr>
          <p:cNvPr id="7" name="图片 6"/>
          <p:cNvPicPr>
            <a:picLocks noChangeAspect="1"/>
          </p:cNvPicPr>
          <p:nvPr/>
        </p:nvPicPr>
        <p:blipFill>
          <a:blip r:embed="rId2"/>
          <a:stretch>
            <a:fillRect/>
          </a:stretch>
        </p:blipFill>
        <p:spPr>
          <a:xfrm>
            <a:off x="4940935" y="986155"/>
            <a:ext cx="3785870" cy="31711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基本路径测试</a:t>
            </a:r>
            <a:endParaRPr lang="zh-CN" altLang="zh-CN" b="1"/>
          </a:p>
        </p:txBody>
      </p:sp>
      <p:sp>
        <p:nvSpPr>
          <p:cNvPr id="3" name="文本框 2"/>
          <p:cNvSpPr txBox="1"/>
          <p:nvPr/>
        </p:nvSpPr>
        <p:spPr>
          <a:xfrm>
            <a:off x="883285" y="940435"/>
            <a:ext cx="2540000" cy="645160"/>
          </a:xfrm>
          <a:prstGeom prst="rect">
            <a:avLst/>
          </a:prstGeom>
          <a:noFill/>
        </p:spPr>
        <p:txBody>
          <a:bodyPr wrap="square" rtlCol="0" anchor="t">
            <a:spAutoFit/>
          </a:bodyPr>
          <a:p>
            <a:r>
              <a:rPr lang="zh-CN" altLang="en-US"/>
              <a:t>计算流图G的环路复杂性V(G)</a:t>
            </a:r>
            <a:endParaRPr lang="zh-CN" altLang="en-US"/>
          </a:p>
        </p:txBody>
      </p:sp>
      <p:sp>
        <p:nvSpPr>
          <p:cNvPr id="5" name="文本框 4"/>
          <p:cNvSpPr txBox="1"/>
          <p:nvPr/>
        </p:nvSpPr>
        <p:spPr>
          <a:xfrm>
            <a:off x="1636395" y="1941830"/>
            <a:ext cx="4662170" cy="2030095"/>
          </a:xfrm>
          <a:prstGeom prst="rect">
            <a:avLst/>
          </a:prstGeom>
          <a:noFill/>
        </p:spPr>
        <p:txBody>
          <a:bodyPr wrap="square" rtlCol="0" anchor="t">
            <a:spAutoFit/>
          </a:bodyPr>
          <a:p>
            <a:r>
              <a:rPr lang="zh-CN" altLang="en-US"/>
              <a:t>V(G) = P + 1；(P为程序控制流图中的判定结点数)</a:t>
            </a:r>
            <a:endParaRPr lang="zh-CN" altLang="en-US"/>
          </a:p>
          <a:p>
            <a:r>
              <a:rPr lang="zh-CN" altLang="en-US"/>
              <a:t>V(G) = 3 + 1 = 4；</a:t>
            </a:r>
            <a:endParaRPr lang="zh-CN" altLang="en-US"/>
          </a:p>
          <a:p>
            <a:endParaRPr lang="zh-CN" altLang="en-US"/>
          </a:p>
          <a:p>
            <a:r>
              <a:rPr lang="zh-CN" altLang="en-US"/>
              <a:t>V(G) = E - N + 2；(E为程序控制流图的边数，N为图的结点数)</a:t>
            </a:r>
            <a:endParaRPr lang="zh-CN" altLang="en-US"/>
          </a:p>
          <a:p>
            <a:r>
              <a:rPr lang="zh-CN" altLang="en-US"/>
              <a:t>V(G) = 11 - 9 + 2 = 4；</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基本路径测试</a:t>
            </a:r>
            <a:endParaRPr lang="zh-CN" altLang="zh-CN" b="1"/>
          </a:p>
        </p:txBody>
      </p:sp>
      <p:sp>
        <p:nvSpPr>
          <p:cNvPr id="3" name="文本框 2"/>
          <p:cNvSpPr txBox="1"/>
          <p:nvPr/>
        </p:nvSpPr>
        <p:spPr>
          <a:xfrm>
            <a:off x="883285" y="940435"/>
            <a:ext cx="2540000" cy="645160"/>
          </a:xfrm>
          <a:prstGeom prst="rect">
            <a:avLst/>
          </a:prstGeom>
          <a:noFill/>
        </p:spPr>
        <p:txBody>
          <a:bodyPr wrap="square" rtlCol="0" anchor="t">
            <a:spAutoFit/>
          </a:bodyPr>
          <a:p>
            <a:r>
              <a:rPr lang="zh-CN" altLang="en-US"/>
              <a:t>确定只包含独立路径的基本路径集</a:t>
            </a:r>
            <a:endParaRPr lang="zh-CN" altLang="en-US"/>
          </a:p>
        </p:txBody>
      </p:sp>
      <p:sp>
        <p:nvSpPr>
          <p:cNvPr id="5" name="文本框 4"/>
          <p:cNvSpPr txBox="1"/>
          <p:nvPr/>
        </p:nvSpPr>
        <p:spPr>
          <a:xfrm>
            <a:off x="1644015" y="1926590"/>
            <a:ext cx="4662170" cy="1753235"/>
          </a:xfrm>
          <a:prstGeom prst="rect">
            <a:avLst/>
          </a:prstGeom>
          <a:noFill/>
        </p:spPr>
        <p:txBody>
          <a:bodyPr wrap="square" rtlCol="0" anchor="t">
            <a:spAutoFit/>
          </a:bodyPr>
          <a:p>
            <a:r>
              <a:rPr lang="zh-CN" altLang="en-US"/>
              <a:t>path1：1-2-12</a:t>
            </a:r>
            <a:endParaRPr lang="zh-CN" altLang="en-US"/>
          </a:p>
          <a:p>
            <a:r>
              <a:rPr lang="zh-CN" altLang="en-US"/>
              <a:t>path2：1-2-3-4-5-12</a:t>
            </a:r>
            <a:endParaRPr lang="zh-CN" altLang="en-US"/>
          </a:p>
          <a:p>
            <a:r>
              <a:rPr lang="zh-CN" altLang="en-US"/>
              <a:t>path3：1-2-3-6-7-8-11-2-12</a:t>
            </a:r>
            <a:endParaRPr lang="zh-CN" altLang="en-US"/>
          </a:p>
          <a:p>
            <a:r>
              <a:rPr lang="zh-CN" altLang="en-US"/>
              <a:t>path4：1-2-3-6-7-9-10-11-2-12</a:t>
            </a:r>
            <a:endParaRPr lang="zh-CN" altLang="en-US"/>
          </a:p>
          <a:p>
            <a:endParaRPr lang="zh-CN" altLang="en-US"/>
          </a:p>
          <a:p>
            <a:r>
              <a:rPr lang="zh-CN" altLang="en-US"/>
              <a:t>设计测试用例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基本路径测试</a:t>
            </a:r>
            <a:endParaRPr lang="zh-CN" altLang="zh-CN" b="1"/>
          </a:p>
        </p:txBody>
      </p:sp>
      <p:sp>
        <p:nvSpPr>
          <p:cNvPr id="3" name="文本框 2"/>
          <p:cNvSpPr txBox="1"/>
          <p:nvPr/>
        </p:nvSpPr>
        <p:spPr>
          <a:xfrm>
            <a:off x="883285" y="940435"/>
            <a:ext cx="2540000" cy="368300"/>
          </a:xfrm>
          <a:prstGeom prst="rect">
            <a:avLst/>
          </a:prstGeom>
          <a:noFill/>
        </p:spPr>
        <p:txBody>
          <a:bodyPr wrap="square" rtlCol="0" anchor="t">
            <a:spAutoFit/>
          </a:bodyPr>
          <a:p>
            <a:r>
              <a:rPr lang="zh-CN" altLang="en-US"/>
              <a:t>设计测试用例</a:t>
            </a:r>
            <a:endParaRPr lang="zh-CN" altLang="en-US"/>
          </a:p>
        </p:txBody>
      </p:sp>
      <p:pic>
        <p:nvPicPr>
          <p:cNvPr id="2" name="图片 1"/>
          <p:cNvPicPr>
            <a:picLocks noChangeAspect="1"/>
          </p:cNvPicPr>
          <p:nvPr/>
        </p:nvPicPr>
        <p:blipFill>
          <a:blip r:embed="rId1"/>
          <a:stretch>
            <a:fillRect/>
          </a:stretch>
        </p:blipFill>
        <p:spPr>
          <a:xfrm>
            <a:off x="387985" y="1657350"/>
            <a:ext cx="8246745" cy="1828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2" name="文本框 1"/>
          <p:cNvSpPr txBox="1"/>
          <p:nvPr/>
        </p:nvSpPr>
        <p:spPr>
          <a:xfrm>
            <a:off x="534035" y="929005"/>
            <a:ext cx="8271510" cy="3415030"/>
          </a:xfrm>
          <a:prstGeom prst="rect">
            <a:avLst/>
          </a:prstGeom>
          <a:noFill/>
        </p:spPr>
        <p:txBody>
          <a:bodyPr wrap="square" rtlCol="0">
            <a:spAutoFit/>
          </a:bodyPr>
          <a:p>
            <a:r>
              <a:rPr lang="zh-CN"/>
              <a:t>条件测试方法注重于测试程序中的条件。是检查程序模块中所包含逻辑条件的测试用例设计方法。</a:t>
            </a:r>
            <a:endParaRPr lang="zh-CN"/>
          </a:p>
          <a:p>
            <a:r>
              <a:t>程序中的条件分为简单条件和复合条件。</a:t>
            </a:r>
          </a:p>
          <a:p>
            <a:r>
              <a:t>简单条件是一个布尔变量或一个可能带有NOT(“！”)操作符的关系表达式。关系表达式的形式如：</a:t>
            </a:r>
          </a:p>
          <a:p>
            <a:r>
              <a:t>E1＜关系操作符＞E2</a:t>
            </a:r>
          </a:p>
          <a:p>
            <a:r>
              <a:t>其中E1和E2是算术表达式，而＜关系操作符＞是下列之一：“＜”、“≤”、“=”、“≠”(“！=”)、“＞”、或“≥”。</a:t>
            </a:r>
          </a:p>
          <a:p>
            <a:r>
              <a:t>复合条件由简单条件通过逻辑运算符（AND、OR、NOT）和括号连接而成，不含关系表达式的条件称为布尔表达式。</a:t>
            </a:r>
          </a:p>
          <a:p>
            <a:r>
              <a:t>所以条件的成分类型包括：布尔操作符、布尔变量、布尔括弧(括住简单或复杂条件)、关系操作符、算术表达式。</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2" name="文本框 1"/>
          <p:cNvSpPr txBox="1"/>
          <p:nvPr/>
        </p:nvSpPr>
        <p:spPr>
          <a:xfrm>
            <a:off x="549275" y="1438910"/>
            <a:ext cx="8271510" cy="2584450"/>
          </a:xfrm>
          <a:prstGeom prst="rect">
            <a:avLst/>
          </a:prstGeom>
          <a:noFill/>
        </p:spPr>
        <p:txBody>
          <a:bodyPr wrap="square" rtlCol="0">
            <a:spAutoFit/>
          </a:bodyPr>
          <a:p>
            <a:r>
              <a:rPr lang="zh-CN"/>
              <a:t>条件测试是测试程序条件错误和程序的其他错误。如果程序的测试集能够有效地检测程序中的条件错误，则该测试集可能也会有效地检测程序中的其他错误。此外，如果测试策略对检测条件错误有效，则它也可能有效地检测程序错误。</a:t>
            </a:r>
            <a:endParaRPr lang="zh-CN"/>
          </a:p>
          <a:p>
            <a:r>
              <a:rPr lang="zh-CN"/>
              <a:t>用条件测试技术设计出的测试用例，能够检查程序模块中包含的逻辑条件。一个简单条件是一个布尔变量或一个关系表达式，在布尔变量或关系表达式之前还可能有一个</a:t>
            </a:r>
            <a:r>
              <a:rPr lang="en-US" altLang="zh-CN"/>
              <a:t>NOT</a:t>
            </a:r>
            <a:r>
              <a:rPr lang="zh-CN" altLang="en-US"/>
              <a:t>算符。关系表达式：</a:t>
            </a:r>
            <a:r>
              <a:rPr lang="en-US" altLang="zh-CN"/>
              <a:t>E1&lt;</a:t>
            </a:r>
            <a:r>
              <a:rPr lang="zh-CN" altLang="en-US"/>
              <a:t>关系算符</a:t>
            </a:r>
            <a:r>
              <a:rPr lang="en-US" altLang="zh-CN"/>
              <a:t>&gt;E2</a:t>
            </a:r>
            <a:endParaRPr lang="en-US" altLang="zh-CN"/>
          </a:p>
          <a:p>
            <a:r>
              <a:rPr lang="zh-CN" altLang="en-US"/>
              <a:t>其中，</a:t>
            </a:r>
            <a:r>
              <a:rPr lang="en-US" altLang="zh-CN"/>
              <a:t>E1</a:t>
            </a:r>
            <a:r>
              <a:rPr lang="zh-CN" altLang="en-US"/>
              <a:t>和</a:t>
            </a:r>
            <a:r>
              <a:rPr lang="en-US" altLang="zh-CN"/>
              <a:t>E2</a:t>
            </a:r>
            <a:r>
              <a:rPr lang="zh-CN" altLang="en-US"/>
              <a:t>是算数表达式而</a:t>
            </a:r>
            <a:r>
              <a:rPr lang="en-US" altLang="zh-CN">
                <a:sym typeface="+mn-ea"/>
              </a:rPr>
              <a:t>&lt;</a:t>
            </a:r>
            <a:r>
              <a:rPr lang="zh-CN" altLang="en-US">
                <a:sym typeface="+mn-ea"/>
              </a:rPr>
              <a:t>关系算符</a:t>
            </a:r>
            <a:r>
              <a:rPr lang="en-US" altLang="zh-CN">
                <a:sym typeface="+mn-ea"/>
              </a:rPr>
              <a:t>&gt;</a:t>
            </a:r>
            <a:r>
              <a:rPr lang="zh-CN" altLang="en-US">
                <a:sym typeface="+mn-ea"/>
              </a:rPr>
              <a:t>是下列算符之一：</a:t>
            </a:r>
            <a:r>
              <a:rPr lang="en-US" altLang="zh-CN">
                <a:sym typeface="+mn-ea"/>
              </a:rPr>
              <a:t>&lt;,≤,</a:t>
            </a:r>
            <a:r>
              <a:rPr lang="zh-CN" altLang="en-US">
                <a:sym typeface="+mn-ea"/>
              </a:rPr>
              <a:t>＝</a:t>
            </a:r>
            <a:r>
              <a:rPr lang="en-US" altLang="zh-CN">
                <a:sym typeface="+mn-ea"/>
              </a:rPr>
              <a:t>,</a:t>
            </a:r>
            <a:r>
              <a:rPr lang="en-US" altLang="zh-CN">
                <a:sym typeface="+mn-ea"/>
              </a:rPr>
              <a:t>≠</a:t>
            </a:r>
            <a:r>
              <a:rPr lang="zh-CN" altLang="en-US">
                <a:sym typeface="+mn-ea"/>
              </a:rPr>
              <a:t>或</a:t>
            </a:r>
            <a:r>
              <a:rPr lang="en-US" altLang="zh-CN">
                <a:sym typeface="+mn-ea"/>
              </a:rPr>
              <a:t>≥</a:t>
            </a:r>
            <a:r>
              <a:rPr lang="zh-CN" altLang="en-US">
                <a:sym typeface="+mn-ea"/>
              </a:rPr>
              <a:t>。</a:t>
            </a:r>
            <a:endParaRPr lang="zh-CN" altLang="en-US">
              <a:sym typeface="+mn-ea"/>
            </a:endParaRPr>
          </a:p>
          <a:p>
            <a:r>
              <a:rPr lang="zh-CN" altLang="en-US">
                <a:sym typeface="+mn-ea"/>
              </a:rPr>
              <a:t>复合条件由两个或多个简单条件、布尔算符和括弧组成。布尔算符有</a:t>
            </a:r>
            <a:r>
              <a:rPr lang="en-US" altLang="zh-CN">
                <a:sym typeface="+mn-ea"/>
              </a:rPr>
              <a:t>OR</a:t>
            </a:r>
            <a:r>
              <a:rPr lang="zh-CN" altLang="en-US">
                <a:sym typeface="+mn-ea"/>
              </a:rPr>
              <a:t>，</a:t>
            </a:r>
            <a:r>
              <a:rPr lang="en-US" altLang="zh-CN">
                <a:sym typeface="+mn-ea"/>
              </a:rPr>
              <a:t>AND</a:t>
            </a:r>
            <a:r>
              <a:rPr lang="zh-CN" altLang="en-US">
                <a:sym typeface="+mn-ea"/>
              </a:rPr>
              <a:t>和</a:t>
            </a:r>
            <a:r>
              <a:rPr lang="en-US" altLang="zh-CN">
                <a:sym typeface="+mn-ea"/>
              </a:rPr>
              <a:t>NOT</a:t>
            </a:r>
            <a:r>
              <a:rPr lang="zh-CN" altLang="en-US">
                <a:sym typeface="+mn-ea"/>
              </a:rPr>
              <a:t>。不包含关系表达式的条件称为布尔表达式。</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2" name="文本框 1"/>
          <p:cNvSpPr txBox="1"/>
          <p:nvPr/>
        </p:nvSpPr>
        <p:spPr>
          <a:xfrm>
            <a:off x="1019175" y="897255"/>
            <a:ext cx="7233920" cy="2584450"/>
          </a:xfrm>
          <a:prstGeom prst="rect">
            <a:avLst/>
          </a:prstGeom>
          <a:noFill/>
        </p:spPr>
        <p:txBody>
          <a:bodyPr wrap="square" rtlCol="0">
            <a:spAutoFit/>
          </a:bodyPr>
          <a:p>
            <a:r>
              <a:rPr lang="zh-CN" altLang="en-US"/>
              <a:t>因此，条件成分的类型包括布尔算符、布尔变量、布尔括弧，关系算符及算术表达式。</a:t>
            </a:r>
            <a:endParaRPr lang="zh-CN" altLang="en-US"/>
          </a:p>
          <a:p>
            <a:r>
              <a:rPr lang="zh-CN" altLang="en-US"/>
              <a:t>如果条件不挣钱，则至少条件的一个成分不挣钱。因此，条件错误的类型如下：</a:t>
            </a:r>
            <a:endParaRPr lang="zh-CN" altLang="en-US"/>
          </a:p>
          <a:p>
            <a:r>
              <a:rPr lang="zh-CN" altLang="en-US"/>
              <a:t>布尔算符错（布尔算符不正确，遗漏布尔算符或有多余的布尔算符）</a:t>
            </a:r>
            <a:endParaRPr lang="zh-CN" altLang="en-US"/>
          </a:p>
          <a:p>
            <a:r>
              <a:rPr lang="zh-CN" altLang="en-US"/>
              <a:t>布尔变量错</a:t>
            </a:r>
            <a:endParaRPr lang="zh-CN" altLang="en-US"/>
          </a:p>
          <a:p>
            <a:r>
              <a:rPr lang="zh-CN" altLang="en-US"/>
              <a:t>布尔括弧错</a:t>
            </a:r>
            <a:endParaRPr lang="zh-CN" altLang="en-US"/>
          </a:p>
          <a:p>
            <a:r>
              <a:rPr lang="zh-CN" altLang="en-US"/>
              <a:t>关系算符错</a:t>
            </a:r>
            <a:endParaRPr lang="zh-CN" altLang="en-US"/>
          </a:p>
          <a:p>
            <a:r>
              <a:rPr lang="zh-CN" altLang="en-US"/>
              <a:t>算术表达式错</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5" name="文本框 4"/>
          <p:cNvSpPr txBox="1"/>
          <p:nvPr/>
        </p:nvSpPr>
        <p:spPr>
          <a:xfrm>
            <a:off x="1012190" y="896620"/>
            <a:ext cx="7080885" cy="2584450"/>
          </a:xfrm>
          <a:prstGeom prst="rect">
            <a:avLst/>
          </a:prstGeom>
          <a:noFill/>
        </p:spPr>
        <p:txBody>
          <a:bodyPr wrap="square" rtlCol="0" anchor="t">
            <a:spAutoFit/>
          </a:bodyPr>
          <a:p>
            <a:r>
              <a:rPr lang="zh-CN" altLang="en-US"/>
              <a:t>条件测试方法有着冲测试程序中的每个条件。条件测试策略有两个优点：</a:t>
            </a:r>
            <a:endParaRPr lang="zh-CN" altLang="en-US"/>
          </a:p>
          <a:p>
            <a:r>
              <a:rPr lang="en-US" altLang="zh-CN"/>
              <a:t>1.</a:t>
            </a:r>
            <a:r>
              <a:rPr lang="zh-CN" altLang="en-US"/>
              <a:t>容易度量条件的测试覆盖率</a:t>
            </a:r>
            <a:endParaRPr lang="zh-CN" altLang="en-US"/>
          </a:p>
          <a:p>
            <a:r>
              <a:rPr lang="en-US" altLang="zh-CN"/>
              <a:t>2.</a:t>
            </a:r>
            <a:r>
              <a:rPr lang="zh-CN" altLang="en-US"/>
              <a:t>程序内条件的测试覆盖率可知道附加测试的设计</a:t>
            </a:r>
            <a:endParaRPr lang="zh-CN" altLang="en-US"/>
          </a:p>
          <a:p>
            <a:r>
              <a:rPr lang="zh-CN" altLang="en-US"/>
              <a:t>条件测试的目的不仅是检测程序条件中的错误，而且是检测过程中的其他错误。如果程序</a:t>
            </a:r>
            <a:r>
              <a:rPr lang="en-US" altLang="zh-CN"/>
              <a:t>P</a:t>
            </a:r>
            <a:r>
              <a:rPr lang="zh-CN" altLang="en-US"/>
              <a:t>的测试集能有效地检测</a:t>
            </a:r>
            <a:r>
              <a:rPr lang="en-US" altLang="zh-CN"/>
              <a:t>P</a:t>
            </a:r>
            <a:r>
              <a:rPr lang="zh-CN" altLang="en-US"/>
              <a:t>中条件的错误，则它很可能也可以有效地检测</a:t>
            </a:r>
            <a:r>
              <a:rPr lang="en-US" altLang="zh-CN"/>
              <a:t>P</a:t>
            </a:r>
            <a:r>
              <a:rPr lang="zh-CN" altLang="en-US"/>
              <a:t>中的其他错误。此外，如果一个测试策略对检测条件错误是有效的，则很可能该策略对检测程序的其他错误也是有效的。</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2" name="文本框 1"/>
          <p:cNvSpPr txBox="1"/>
          <p:nvPr/>
        </p:nvSpPr>
        <p:spPr>
          <a:xfrm>
            <a:off x="1019175" y="897255"/>
            <a:ext cx="1102360" cy="368300"/>
          </a:xfrm>
          <a:prstGeom prst="rect">
            <a:avLst/>
          </a:prstGeom>
          <a:noFill/>
        </p:spPr>
        <p:txBody>
          <a:bodyPr wrap="square" rtlCol="0">
            <a:spAutoFit/>
          </a:bodyPr>
          <a:p>
            <a:r>
              <a:rPr lang="zh-CN" altLang="en-US"/>
              <a:t>分支测试</a:t>
            </a:r>
            <a:endParaRPr lang="zh-CN" altLang="en-US"/>
          </a:p>
        </p:txBody>
      </p:sp>
      <p:sp>
        <p:nvSpPr>
          <p:cNvPr id="3" name="文本框 2"/>
          <p:cNvSpPr txBox="1"/>
          <p:nvPr/>
        </p:nvSpPr>
        <p:spPr>
          <a:xfrm>
            <a:off x="1019175" y="1505585"/>
            <a:ext cx="7099935" cy="645160"/>
          </a:xfrm>
          <a:prstGeom prst="rect">
            <a:avLst/>
          </a:prstGeom>
          <a:noFill/>
        </p:spPr>
        <p:txBody>
          <a:bodyPr wrap="square" rtlCol="0">
            <a:spAutoFit/>
          </a:bodyPr>
          <a:p>
            <a:r>
              <a:rPr lang="zh-CN" altLang="en-US"/>
              <a:t>对于复合条件</a:t>
            </a:r>
            <a:r>
              <a:rPr lang="en-US" altLang="zh-CN"/>
              <a:t>C</a:t>
            </a:r>
            <a:r>
              <a:rPr lang="zh-CN" altLang="en-US"/>
              <a:t>来说，</a:t>
            </a:r>
            <a:r>
              <a:rPr lang="en-US" altLang="zh-CN"/>
              <a:t>C</a:t>
            </a:r>
            <a:r>
              <a:rPr lang="zh-CN" altLang="en-US"/>
              <a:t>的真分支和假分支以及</a:t>
            </a:r>
            <a:r>
              <a:rPr lang="en-US" altLang="zh-CN"/>
              <a:t>C</a:t>
            </a:r>
            <a:r>
              <a:rPr lang="zh-CN" altLang="en-US"/>
              <a:t>中的每个简单条件，都应该至少执行一次。</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2" name="文本框 1"/>
          <p:cNvSpPr txBox="1"/>
          <p:nvPr/>
        </p:nvSpPr>
        <p:spPr>
          <a:xfrm>
            <a:off x="1019175" y="897255"/>
            <a:ext cx="1102360" cy="368300"/>
          </a:xfrm>
          <a:prstGeom prst="rect">
            <a:avLst/>
          </a:prstGeom>
          <a:noFill/>
        </p:spPr>
        <p:txBody>
          <a:bodyPr wrap="square" rtlCol="0">
            <a:spAutoFit/>
          </a:bodyPr>
          <a:p>
            <a:r>
              <a:rPr lang="zh-CN" altLang="en-US"/>
              <a:t>域测试</a:t>
            </a:r>
            <a:endParaRPr lang="zh-CN" altLang="en-US"/>
          </a:p>
        </p:txBody>
      </p:sp>
      <p:sp>
        <p:nvSpPr>
          <p:cNvPr id="3" name="文本框 2"/>
          <p:cNvSpPr txBox="1"/>
          <p:nvPr/>
        </p:nvSpPr>
        <p:spPr>
          <a:xfrm>
            <a:off x="1022350" y="1323340"/>
            <a:ext cx="7099935" cy="2306955"/>
          </a:xfrm>
          <a:prstGeom prst="rect">
            <a:avLst/>
          </a:prstGeom>
          <a:noFill/>
        </p:spPr>
        <p:txBody>
          <a:bodyPr wrap="square" rtlCol="0">
            <a:spAutoFit/>
          </a:bodyPr>
          <a:p>
            <a:r>
              <a:rPr lang="zh-CN"/>
              <a:t>域测试要求对一个关系表达式执行</a:t>
            </a:r>
            <a:r>
              <a:rPr lang="en-US" altLang="zh-CN"/>
              <a:t>3</a:t>
            </a:r>
            <a:r>
              <a:rPr lang="zh-CN" altLang="en-US"/>
              <a:t>个或</a:t>
            </a:r>
            <a:r>
              <a:rPr lang="en-US" altLang="zh-CN"/>
              <a:t>4</a:t>
            </a:r>
            <a:r>
              <a:rPr lang="zh-CN" altLang="en-US"/>
              <a:t>个测试。对于形式为</a:t>
            </a:r>
            <a:endParaRPr lang="zh-CN" altLang="en-US"/>
          </a:p>
          <a:p>
            <a:r>
              <a:rPr lang="en-US" altLang="zh-CN">
                <a:sym typeface="+mn-ea"/>
              </a:rPr>
              <a:t>E1&lt;</a:t>
            </a:r>
            <a:r>
              <a:rPr lang="zh-CN" altLang="en-US">
                <a:sym typeface="+mn-ea"/>
              </a:rPr>
              <a:t>关系算符</a:t>
            </a:r>
            <a:r>
              <a:rPr lang="en-US" altLang="zh-CN">
                <a:sym typeface="+mn-ea"/>
              </a:rPr>
              <a:t>&gt;E2</a:t>
            </a:r>
            <a:endParaRPr lang="en-US" altLang="zh-CN"/>
          </a:p>
          <a:p>
            <a:r>
              <a:rPr lang="zh-CN" altLang="en-US"/>
              <a:t>的关系表达式来说，需要三个测试分别使</a:t>
            </a:r>
            <a:r>
              <a:rPr lang="en-US" altLang="zh-CN"/>
              <a:t>E1</a:t>
            </a:r>
            <a:r>
              <a:rPr lang="zh-CN" altLang="en-US"/>
              <a:t>的值大鱼、等于或小于</a:t>
            </a:r>
            <a:r>
              <a:rPr lang="en-US" altLang="zh-CN"/>
              <a:t>E2</a:t>
            </a:r>
            <a:r>
              <a:rPr lang="zh-CN" altLang="en-US"/>
              <a:t>的值。如果</a:t>
            </a:r>
            <a:r>
              <a:rPr lang="en-US" altLang="zh-CN">
                <a:sym typeface="+mn-ea"/>
              </a:rPr>
              <a:t>&lt;</a:t>
            </a:r>
            <a:r>
              <a:rPr lang="zh-CN" altLang="en-US">
                <a:sym typeface="+mn-ea"/>
              </a:rPr>
              <a:t>关系算符</a:t>
            </a:r>
            <a:r>
              <a:rPr lang="en-US" altLang="zh-CN">
                <a:sym typeface="+mn-ea"/>
              </a:rPr>
              <a:t>&gt;</a:t>
            </a:r>
            <a:r>
              <a:rPr lang="zh-CN" altLang="en-US">
                <a:sym typeface="+mn-ea"/>
              </a:rPr>
              <a:t>错误而</a:t>
            </a:r>
            <a:r>
              <a:rPr lang="en-US" altLang="zh-CN">
                <a:sym typeface="+mn-ea"/>
              </a:rPr>
              <a:t>E1</a:t>
            </a:r>
            <a:r>
              <a:rPr lang="zh-CN" altLang="en-US">
                <a:sym typeface="+mn-ea"/>
              </a:rPr>
              <a:t>和</a:t>
            </a:r>
            <a:r>
              <a:rPr lang="en-US" altLang="zh-CN">
                <a:sym typeface="+mn-ea"/>
              </a:rPr>
              <a:t>E2</a:t>
            </a:r>
            <a:r>
              <a:rPr lang="zh-CN" altLang="en-US">
                <a:sym typeface="+mn-ea"/>
              </a:rPr>
              <a:t>正确，则这</a:t>
            </a:r>
            <a:r>
              <a:rPr lang="en-US" altLang="zh-CN">
                <a:sym typeface="+mn-ea"/>
              </a:rPr>
              <a:t>3</a:t>
            </a:r>
            <a:r>
              <a:rPr lang="zh-CN" altLang="en-US">
                <a:sym typeface="+mn-ea"/>
              </a:rPr>
              <a:t>个测试能够发现关系算符的错误。为了发现</a:t>
            </a:r>
            <a:r>
              <a:rPr lang="en-US" altLang="zh-CN">
                <a:sym typeface="+mn-ea"/>
              </a:rPr>
              <a:t>E1</a:t>
            </a:r>
            <a:r>
              <a:rPr lang="zh-CN" altLang="en-US">
                <a:sym typeface="+mn-ea"/>
              </a:rPr>
              <a:t>和</a:t>
            </a:r>
            <a:r>
              <a:rPr lang="en-US" altLang="zh-CN">
                <a:sym typeface="+mn-ea"/>
              </a:rPr>
              <a:t>E2</a:t>
            </a:r>
            <a:r>
              <a:rPr lang="zh-CN" altLang="en-US">
                <a:sym typeface="+mn-ea"/>
              </a:rPr>
              <a:t>中的错误，让</a:t>
            </a:r>
            <a:r>
              <a:rPr lang="en-US" altLang="zh-CN">
                <a:sym typeface="+mn-ea"/>
              </a:rPr>
              <a:t>E1</a:t>
            </a:r>
            <a:r>
              <a:rPr lang="zh-CN" altLang="en-US">
                <a:sym typeface="+mn-ea"/>
              </a:rPr>
              <a:t>值大于或小于</a:t>
            </a:r>
            <a:r>
              <a:rPr lang="en-US" altLang="zh-CN">
                <a:sym typeface="+mn-ea"/>
              </a:rPr>
              <a:t>E2</a:t>
            </a:r>
            <a:r>
              <a:rPr lang="zh-CN" altLang="en-US">
                <a:sym typeface="+mn-ea"/>
              </a:rPr>
              <a:t>值的测试数据应该使这两个值之间的差别尽可能小。</a:t>
            </a:r>
            <a:endParaRPr lang="zh-CN" altLang="en-US">
              <a:sym typeface="+mn-ea"/>
            </a:endParaRPr>
          </a:p>
          <a:p>
            <a:r>
              <a:rPr lang="zh-CN" altLang="en-US">
                <a:sym typeface="+mn-ea"/>
              </a:rPr>
              <a:t>包含</a:t>
            </a:r>
            <a:r>
              <a:rPr lang="en-US" altLang="zh-CN">
                <a:sym typeface="+mn-ea"/>
              </a:rPr>
              <a:t>n</a:t>
            </a:r>
            <a:r>
              <a:rPr lang="zh-CN" altLang="en-US">
                <a:sym typeface="+mn-ea"/>
              </a:rPr>
              <a:t>个变量的布尔表达式需要</a:t>
            </a:r>
            <a:r>
              <a:rPr lang="en-US" altLang="zh-CN">
                <a:sym typeface="+mn-ea"/>
              </a:rPr>
              <a:t>2</a:t>
            </a:r>
            <a:r>
              <a:rPr lang="zh-CN" altLang="en-US">
                <a:sym typeface="+mn-ea"/>
              </a:rPr>
              <a:t>的</a:t>
            </a:r>
            <a:r>
              <a:rPr lang="en-US" altLang="zh-CN">
                <a:sym typeface="+mn-ea"/>
              </a:rPr>
              <a:t>n</a:t>
            </a:r>
            <a:r>
              <a:rPr lang="zh-CN" altLang="en-US">
                <a:sym typeface="+mn-ea"/>
              </a:rPr>
              <a:t>次方个测试。这个策略可以发现布尔算符、变量和括弧的错误，但是仅在</a:t>
            </a:r>
            <a:r>
              <a:rPr lang="en-US" altLang="zh-CN">
                <a:sym typeface="+mn-ea"/>
              </a:rPr>
              <a:t>n</a:t>
            </a:r>
            <a:r>
              <a:rPr lang="zh-CN" altLang="en-US">
                <a:sym typeface="+mn-ea"/>
              </a:rPr>
              <a:t>很小时实用。</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2" name="文本框 1"/>
          <p:cNvSpPr txBox="1"/>
          <p:nvPr/>
        </p:nvSpPr>
        <p:spPr>
          <a:xfrm>
            <a:off x="1019175" y="897255"/>
            <a:ext cx="1254125" cy="368300"/>
          </a:xfrm>
          <a:prstGeom prst="rect">
            <a:avLst/>
          </a:prstGeom>
          <a:noFill/>
        </p:spPr>
        <p:txBody>
          <a:bodyPr wrap="square" rtlCol="0">
            <a:spAutoFit/>
          </a:bodyPr>
          <a:p>
            <a:r>
              <a:rPr lang="en-US" altLang="zh-CN"/>
              <a:t>BRO</a:t>
            </a:r>
            <a:r>
              <a:rPr lang="zh-CN" altLang="en-US"/>
              <a:t>测试</a:t>
            </a:r>
            <a:endParaRPr lang="zh-CN" altLang="en-US"/>
          </a:p>
        </p:txBody>
      </p:sp>
      <p:sp>
        <p:nvSpPr>
          <p:cNvPr id="3" name="文本框 2"/>
          <p:cNvSpPr txBox="1"/>
          <p:nvPr/>
        </p:nvSpPr>
        <p:spPr>
          <a:xfrm>
            <a:off x="1019175" y="1323340"/>
            <a:ext cx="7099935" cy="2584450"/>
          </a:xfrm>
          <a:prstGeom prst="rect">
            <a:avLst/>
          </a:prstGeom>
          <a:noFill/>
        </p:spPr>
        <p:txBody>
          <a:bodyPr wrap="square" rtlCol="0">
            <a:spAutoFit/>
          </a:bodyPr>
          <a:p>
            <a:r>
              <a:rPr lang="zh-CN"/>
              <a:t>如果在条件中所有布尔变量和关系算符都只出现一次而且没有公共变量，则</a:t>
            </a:r>
            <a:r>
              <a:rPr lang="en-US" altLang="zh-CN"/>
              <a:t>BRO</a:t>
            </a:r>
            <a:r>
              <a:rPr lang="zh-CN" altLang="en-US"/>
              <a:t>测试保证能发现该条件中的分支错和关系算符错。</a:t>
            </a:r>
            <a:endParaRPr lang="zh-CN" altLang="en-US"/>
          </a:p>
          <a:p>
            <a:r>
              <a:rPr lang="en-US" altLang="zh-CN"/>
              <a:t>BRO</a:t>
            </a:r>
            <a:r>
              <a:rPr lang="zh-CN" altLang="en-US"/>
              <a:t>测试利用条件</a:t>
            </a:r>
            <a:r>
              <a:rPr lang="en-US" altLang="zh-CN"/>
              <a:t>C</a:t>
            </a:r>
            <a:r>
              <a:rPr lang="zh-CN" altLang="en-US"/>
              <a:t>的条件约束来设计测试用例。包含</a:t>
            </a:r>
            <a:r>
              <a:rPr lang="en-US" altLang="zh-CN"/>
              <a:t>n</a:t>
            </a:r>
            <a:r>
              <a:rPr lang="zh-CN" altLang="en-US"/>
              <a:t>个简单条件的条件</a:t>
            </a:r>
            <a:r>
              <a:rPr lang="en-US" altLang="zh-CN"/>
              <a:t>C</a:t>
            </a:r>
            <a:r>
              <a:rPr lang="zh-CN" altLang="en-US"/>
              <a:t>的条件约束定义为（</a:t>
            </a:r>
            <a:r>
              <a:rPr lang="en-US" altLang="zh-CN"/>
              <a:t>D1,D2......Dn</a:t>
            </a:r>
            <a:r>
              <a:rPr lang="zh-CN" altLang="en-US"/>
              <a:t>）其中</a:t>
            </a:r>
            <a:r>
              <a:rPr lang="en-US" altLang="zh-CN"/>
              <a:t>Di</a:t>
            </a:r>
            <a:r>
              <a:rPr lang="zh-CN" altLang="en-US"/>
              <a:t>（</a:t>
            </a:r>
            <a:r>
              <a:rPr lang="en-US" altLang="zh-CN"/>
              <a:t>0&lt;Di</a:t>
            </a:r>
            <a:r>
              <a:rPr lang="en-US" altLang="zh-CN">
                <a:sym typeface="+mn-ea"/>
              </a:rPr>
              <a:t>≤n)</a:t>
            </a:r>
            <a:r>
              <a:rPr lang="zh-CN" altLang="en-US">
                <a:sym typeface="+mn-ea"/>
              </a:rPr>
              <a:t>表示条件</a:t>
            </a:r>
            <a:r>
              <a:rPr lang="en-US" altLang="zh-CN">
                <a:sym typeface="+mn-ea"/>
              </a:rPr>
              <a:t>C</a:t>
            </a:r>
            <a:r>
              <a:rPr lang="zh-CN" altLang="en-US">
                <a:sym typeface="+mn-ea"/>
              </a:rPr>
              <a:t>中第</a:t>
            </a:r>
            <a:r>
              <a:rPr lang="en-US" altLang="zh-CN">
                <a:sym typeface="+mn-ea"/>
              </a:rPr>
              <a:t>i</a:t>
            </a:r>
            <a:r>
              <a:rPr lang="zh-CN" altLang="en-US">
                <a:sym typeface="+mn-ea"/>
              </a:rPr>
              <a:t>个简单条件的输出约束。如果在条件</a:t>
            </a:r>
            <a:r>
              <a:rPr lang="en-US" altLang="zh-CN">
                <a:sym typeface="+mn-ea"/>
              </a:rPr>
              <a:t>C</a:t>
            </a:r>
            <a:r>
              <a:rPr lang="zh-CN" altLang="en-US">
                <a:sym typeface="+mn-ea"/>
              </a:rPr>
              <a:t>的一次执行过程中，</a:t>
            </a:r>
            <a:r>
              <a:rPr lang="en-US" altLang="zh-CN">
                <a:sym typeface="+mn-ea"/>
              </a:rPr>
              <a:t>C</a:t>
            </a:r>
            <a:r>
              <a:rPr lang="zh-CN" altLang="en-US">
                <a:sym typeface="+mn-ea"/>
              </a:rPr>
              <a:t>中每个简单条件的输出都满足</a:t>
            </a:r>
            <a:r>
              <a:rPr lang="en-US" altLang="zh-CN">
                <a:sym typeface="+mn-ea"/>
              </a:rPr>
              <a:t>D</a:t>
            </a:r>
            <a:r>
              <a:rPr lang="zh-CN" altLang="en-US">
                <a:sym typeface="+mn-ea"/>
              </a:rPr>
              <a:t>中对应的约束，则称</a:t>
            </a:r>
            <a:r>
              <a:rPr lang="en-US" altLang="zh-CN">
                <a:sym typeface="+mn-ea"/>
              </a:rPr>
              <a:t>C</a:t>
            </a:r>
            <a:r>
              <a:rPr lang="zh-CN" altLang="en-US">
                <a:sym typeface="+mn-ea"/>
              </a:rPr>
              <a:t>的这次执行覆盖了</a:t>
            </a:r>
            <a:r>
              <a:rPr lang="en-US" altLang="zh-CN">
                <a:sym typeface="+mn-ea"/>
              </a:rPr>
              <a:t>C</a:t>
            </a:r>
            <a:r>
              <a:rPr lang="zh-CN" altLang="en-US">
                <a:sym typeface="+mn-ea"/>
              </a:rPr>
              <a:t>的条件约束</a:t>
            </a:r>
            <a:r>
              <a:rPr lang="en-US" altLang="zh-CN">
                <a:sym typeface="+mn-ea"/>
              </a:rPr>
              <a:t>D</a:t>
            </a:r>
            <a:r>
              <a:rPr lang="zh-CN" altLang="en-US">
                <a:sym typeface="+mn-ea"/>
              </a:rPr>
              <a:t>。</a:t>
            </a:r>
            <a:endParaRPr lang="zh-CN" altLang="en-US">
              <a:sym typeface="+mn-ea"/>
            </a:endParaRPr>
          </a:p>
          <a:p>
            <a:r>
              <a:rPr lang="zh-CN" altLang="en-US">
                <a:sym typeface="+mn-ea"/>
              </a:rPr>
              <a:t>对于布尔变量</a:t>
            </a:r>
            <a:r>
              <a:rPr lang="en-US" altLang="zh-CN">
                <a:sym typeface="+mn-ea"/>
              </a:rPr>
              <a:t>B</a:t>
            </a:r>
            <a:r>
              <a:rPr lang="zh-CN" altLang="en-US">
                <a:sym typeface="+mn-ea"/>
              </a:rPr>
              <a:t>来说，</a:t>
            </a:r>
            <a:r>
              <a:rPr lang="en-US" altLang="zh-CN">
                <a:sym typeface="+mn-ea"/>
              </a:rPr>
              <a:t>B</a:t>
            </a:r>
            <a:r>
              <a:rPr lang="zh-CN" altLang="en-US">
                <a:sym typeface="+mn-ea"/>
              </a:rPr>
              <a:t>的输出约束指出，</a:t>
            </a:r>
            <a:r>
              <a:rPr lang="en-US" altLang="zh-CN">
                <a:sym typeface="+mn-ea"/>
              </a:rPr>
              <a:t>B</a:t>
            </a:r>
            <a:r>
              <a:rPr lang="zh-CN" altLang="en-US">
                <a:sym typeface="+mn-ea"/>
              </a:rPr>
              <a:t>必须是真或假。类似地，对于关系表达式来说，用符号</a:t>
            </a:r>
            <a:r>
              <a:rPr lang="en-US" altLang="zh-CN">
                <a:sym typeface="+mn-ea"/>
              </a:rPr>
              <a:t>&gt;,=</a:t>
            </a:r>
            <a:r>
              <a:rPr lang="zh-CN" altLang="en-US">
                <a:sym typeface="+mn-ea"/>
              </a:rPr>
              <a:t>和</a:t>
            </a:r>
            <a:r>
              <a:rPr lang="en-US" altLang="zh-CN">
                <a:sym typeface="+mn-ea"/>
              </a:rPr>
              <a:t>&lt;</a:t>
            </a:r>
            <a:r>
              <a:rPr lang="zh-CN" altLang="en-US">
                <a:sym typeface="+mn-ea"/>
              </a:rPr>
              <a:t>指定表达式的输出约束。</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3" name="文本框 2"/>
          <p:cNvSpPr txBox="1"/>
          <p:nvPr/>
        </p:nvSpPr>
        <p:spPr>
          <a:xfrm>
            <a:off x="1021715" y="1338580"/>
            <a:ext cx="7099935" cy="2030095"/>
          </a:xfrm>
          <a:prstGeom prst="rect">
            <a:avLst/>
          </a:prstGeom>
          <a:noFill/>
        </p:spPr>
        <p:txBody>
          <a:bodyPr wrap="square" rtlCol="0">
            <a:spAutoFit/>
          </a:bodyPr>
          <a:p>
            <a:r>
              <a:rPr lang="zh-CN"/>
              <a:t>作为第一个例子，考虑下列条件</a:t>
            </a:r>
            <a:endParaRPr lang="zh-CN"/>
          </a:p>
          <a:p>
            <a:r>
              <a:rPr lang="en-US" altLang="zh-CN">
                <a:sym typeface="+mn-ea"/>
              </a:rPr>
              <a:t>C1:B1</a:t>
            </a:r>
            <a:r>
              <a:rPr lang="zh-CN" altLang="en-US">
                <a:sym typeface="+mn-ea"/>
              </a:rPr>
              <a:t>＆</a:t>
            </a:r>
            <a:r>
              <a:rPr lang="en-US" altLang="zh-CN">
                <a:sym typeface="+mn-ea"/>
              </a:rPr>
              <a:t>B2</a:t>
            </a:r>
            <a:endParaRPr lang="en-US" altLang="zh-CN">
              <a:sym typeface="+mn-ea"/>
            </a:endParaRPr>
          </a:p>
          <a:p>
            <a:r>
              <a:rPr lang="zh-CN" altLang="en-US">
                <a:sym typeface="+mn-ea"/>
              </a:rPr>
              <a:t>其中</a:t>
            </a:r>
            <a:r>
              <a:rPr lang="en-US" altLang="zh-CN">
                <a:sym typeface="+mn-ea"/>
              </a:rPr>
              <a:t>B1</a:t>
            </a:r>
            <a:r>
              <a:rPr lang="zh-CN" altLang="en-US">
                <a:sym typeface="+mn-ea"/>
              </a:rPr>
              <a:t>和</a:t>
            </a:r>
            <a:r>
              <a:rPr lang="en-US" altLang="zh-CN">
                <a:sym typeface="+mn-ea"/>
              </a:rPr>
              <a:t>B2</a:t>
            </a:r>
            <a:r>
              <a:rPr lang="zh-CN" altLang="en-US">
                <a:sym typeface="+mn-ea"/>
              </a:rPr>
              <a:t>是布尔变量。</a:t>
            </a:r>
            <a:r>
              <a:rPr lang="en-US" altLang="zh-CN">
                <a:sym typeface="+mn-ea"/>
              </a:rPr>
              <a:t>C1</a:t>
            </a:r>
            <a:r>
              <a:rPr lang="zh-CN" altLang="en-US">
                <a:sym typeface="+mn-ea"/>
              </a:rPr>
              <a:t>的条件约束形式为（</a:t>
            </a:r>
            <a:r>
              <a:rPr lang="en-US" altLang="zh-CN">
                <a:sym typeface="+mn-ea"/>
              </a:rPr>
              <a:t>D1,D2</a:t>
            </a:r>
            <a:r>
              <a:rPr lang="zh-CN" altLang="en-US">
                <a:sym typeface="+mn-ea"/>
              </a:rPr>
              <a:t>），其中</a:t>
            </a:r>
            <a:r>
              <a:rPr lang="en-US" altLang="zh-CN">
                <a:sym typeface="+mn-ea"/>
              </a:rPr>
              <a:t>D1</a:t>
            </a:r>
            <a:r>
              <a:rPr lang="zh-CN" altLang="en-US">
                <a:sym typeface="+mn-ea"/>
              </a:rPr>
              <a:t>和</a:t>
            </a:r>
            <a:r>
              <a:rPr lang="en-US" altLang="zh-CN">
                <a:sym typeface="+mn-ea"/>
              </a:rPr>
              <a:t>D2</a:t>
            </a:r>
            <a:r>
              <a:rPr lang="zh-CN" altLang="en-US">
                <a:sym typeface="+mn-ea"/>
              </a:rPr>
              <a:t>中的每一个都是</a:t>
            </a:r>
            <a:r>
              <a:rPr lang="en-US" altLang="zh-CN">
                <a:sym typeface="+mn-ea"/>
              </a:rPr>
              <a:t>t</a:t>
            </a:r>
            <a:r>
              <a:rPr lang="zh-CN" altLang="en-US">
                <a:sym typeface="+mn-ea"/>
              </a:rPr>
              <a:t>或</a:t>
            </a:r>
            <a:r>
              <a:rPr lang="en-US" altLang="zh-CN">
                <a:sym typeface="+mn-ea"/>
              </a:rPr>
              <a:t>f</a:t>
            </a:r>
            <a:r>
              <a:rPr lang="zh-CN" altLang="en-US">
                <a:sym typeface="+mn-ea"/>
              </a:rPr>
              <a:t>。值（</a:t>
            </a:r>
            <a:r>
              <a:rPr lang="en-US" altLang="zh-CN">
                <a:sym typeface="+mn-ea"/>
              </a:rPr>
              <a:t>t</a:t>
            </a:r>
            <a:r>
              <a:rPr lang="zh-CN" altLang="en-US">
                <a:sym typeface="+mn-ea"/>
              </a:rPr>
              <a:t>，</a:t>
            </a:r>
            <a:r>
              <a:rPr lang="en-US" altLang="zh-CN">
                <a:sym typeface="+mn-ea"/>
              </a:rPr>
              <a:t>f</a:t>
            </a:r>
            <a:r>
              <a:rPr lang="zh-CN" altLang="en-US">
                <a:sym typeface="+mn-ea"/>
              </a:rPr>
              <a:t>）是</a:t>
            </a:r>
            <a:r>
              <a:rPr lang="en-US" altLang="zh-CN">
                <a:sym typeface="+mn-ea"/>
              </a:rPr>
              <a:t>C1</a:t>
            </a:r>
            <a:r>
              <a:rPr lang="zh-CN" altLang="en-US">
                <a:sym typeface="+mn-ea"/>
              </a:rPr>
              <a:t>的一个条件约束，并由使</a:t>
            </a:r>
            <a:r>
              <a:rPr lang="en-US" altLang="zh-CN">
                <a:sym typeface="+mn-ea"/>
              </a:rPr>
              <a:t>B1</a:t>
            </a:r>
            <a:r>
              <a:rPr lang="zh-CN" altLang="en-US">
                <a:sym typeface="+mn-ea"/>
              </a:rPr>
              <a:t>值为真</a:t>
            </a:r>
            <a:r>
              <a:rPr lang="en-US" altLang="zh-CN">
                <a:sym typeface="+mn-ea"/>
              </a:rPr>
              <a:t>B2</a:t>
            </a:r>
            <a:r>
              <a:rPr lang="zh-CN" altLang="en-US">
                <a:sym typeface="+mn-ea"/>
              </a:rPr>
              <a:t>值为假的测试所覆盖。</a:t>
            </a:r>
            <a:r>
              <a:rPr lang="en-US" altLang="zh-CN">
                <a:sym typeface="+mn-ea"/>
              </a:rPr>
              <a:t>BRO</a:t>
            </a:r>
            <a:r>
              <a:rPr lang="zh-CN" altLang="en-US">
                <a:sym typeface="+mn-ea"/>
              </a:rPr>
              <a:t>测试策略要求，约束集</a:t>
            </a:r>
            <a:r>
              <a:rPr lang="en-US" altLang="zh-CN">
                <a:sym typeface="+mn-ea"/>
              </a:rPr>
              <a:t>{</a:t>
            </a:r>
            <a:r>
              <a:rPr lang="zh-CN" altLang="en-US">
                <a:sym typeface="+mn-ea"/>
              </a:rPr>
              <a:t>（</a:t>
            </a:r>
            <a:r>
              <a:rPr lang="en-US" altLang="zh-CN">
                <a:sym typeface="+mn-ea"/>
              </a:rPr>
              <a:t>t,t),(f,t),(t,f)}</a:t>
            </a:r>
            <a:r>
              <a:rPr lang="zh-CN" altLang="en-US">
                <a:sym typeface="+mn-ea"/>
              </a:rPr>
              <a:t>被</a:t>
            </a:r>
            <a:r>
              <a:rPr lang="en-US" altLang="zh-CN">
                <a:sym typeface="+mn-ea"/>
              </a:rPr>
              <a:t>C1</a:t>
            </a:r>
            <a:r>
              <a:rPr lang="zh-CN" altLang="en-US">
                <a:sym typeface="+mn-ea"/>
              </a:rPr>
              <a:t>的执行所覆盖。如果</a:t>
            </a:r>
            <a:r>
              <a:rPr lang="en-US" altLang="zh-CN">
                <a:sym typeface="+mn-ea"/>
              </a:rPr>
              <a:t>C1</a:t>
            </a:r>
            <a:r>
              <a:rPr lang="zh-CN" altLang="en-US">
                <a:sym typeface="+mn-ea"/>
              </a:rPr>
              <a:t>因布尔算符错误而不正确，则至少上述约束集中的一个约束将迫使</a:t>
            </a:r>
            <a:r>
              <a:rPr lang="en-US" altLang="zh-CN">
                <a:sym typeface="+mn-ea"/>
              </a:rPr>
              <a:t>C1</a:t>
            </a:r>
            <a:r>
              <a:rPr lang="zh-CN" altLang="en-US">
                <a:sym typeface="+mn-ea"/>
              </a:rPr>
              <a:t>失败。</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3" name="文本框 2"/>
          <p:cNvSpPr txBox="1"/>
          <p:nvPr/>
        </p:nvSpPr>
        <p:spPr>
          <a:xfrm>
            <a:off x="1021715" y="1338580"/>
            <a:ext cx="7099935" cy="2861310"/>
          </a:xfrm>
          <a:prstGeom prst="rect">
            <a:avLst/>
          </a:prstGeom>
          <a:noFill/>
        </p:spPr>
        <p:txBody>
          <a:bodyPr wrap="square" rtlCol="0">
            <a:spAutoFit/>
          </a:bodyPr>
          <a:p>
            <a:r>
              <a:rPr lang="zh-CN"/>
              <a:t>作为第二个例子，考虑下列条件</a:t>
            </a:r>
            <a:endParaRPr lang="zh-CN"/>
          </a:p>
          <a:p>
            <a:r>
              <a:rPr lang="en-US" altLang="zh-CN">
                <a:sym typeface="+mn-ea"/>
              </a:rPr>
              <a:t>C1:B1</a:t>
            </a:r>
            <a:r>
              <a:rPr lang="zh-CN" altLang="en-US">
                <a:sym typeface="+mn-ea"/>
              </a:rPr>
              <a:t>＆（</a:t>
            </a:r>
            <a:r>
              <a:rPr lang="en-US" altLang="zh-CN">
                <a:sym typeface="+mn-ea"/>
              </a:rPr>
              <a:t>E3=E4</a:t>
            </a:r>
            <a:r>
              <a:rPr lang="zh-CN" altLang="en-US">
                <a:sym typeface="+mn-ea"/>
              </a:rPr>
              <a:t>）</a:t>
            </a:r>
            <a:endParaRPr lang="en-US" altLang="zh-CN">
              <a:sym typeface="+mn-ea"/>
            </a:endParaRPr>
          </a:p>
          <a:p>
            <a:r>
              <a:rPr lang="zh-CN" altLang="en-US">
                <a:sym typeface="+mn-ea"/>
              </a:rPr>
              <a:t>其中</a:t>
            </a:r>
            <a:r>
              <a:rPr lang="en-US" altLang="zh-CN">
                <a:sym typeface="+mn-ea"/>
              </a:rPr>
              <a:t>B1</a:t>
            </a:r>
            <a:r>
              <a:rPr lang="zh-CN" altLang="en-US">
                <a:sym typeface="+mn-ea"/>
              </a:rPr>
              <a:t>是布尔变量，</a:t>
            </a:r>
            <a:r>
              <a:rPr lang="en-US" altLang="zh-CN">
                <a:sym typeface="+mn-ea"/>
              </a:rPr>
              <a:t>E3</a:t>
            </a:r>
            <a:r>
              <a:rPr lang="zh-CN" altLang="en-US">
                <a:sym typeface="+mn-ea"/>
              </a:rPr>
              <a:t>和</a:t>
            </a:r>
            <a:r>
              <a:rPr lang="en-US" altLang="zh-CN">
                <a:sym typeface="+mn-ea"/>
              </a:rPr>
              <a:t>E4</a:t>
            </a:r>
            <a:r>
              <a:rPr lang="zh-CN" altLang="en-US">
                <a:sym typeface="+mn-ea"/>
              </a:rPr>
              <a:t>是算数表达式。</a:t>
            </a:r>
            <a:r>
              <a:rPr lang="en-US" altLang="zh-CN">
                <a:sym typeface="+mn-ea"/>
              </a:rPr>
              <a:t>C2</a:t>
            </a:r>
            <a:r>
              <a:rPr lang="zh-CN" altLang="en-US">
                <a:sym typeface="+mn-ea"/>
              </a:rPr>
              <a:t>的条件约束形式为（</a:t>
            </a:r>
            <a:r>
              <a:rPr lang="en-US" altLang="zh-CN">
                <a:sym typeface="+mn-ea"/>
              </a:rPr>
              <a:t>D1,D2</a:t>
            </a:r>
            <a:r>
              <a:rPr lang="zh-CN" altLang="en-US">
                <a:sym typeface="+mn-ea"/>
              </a:rPr>
              <a:t>），其中</a:t>
            </a:r>
            <a:r>
              <a:rPr lang="en-US" altLang="zh-CN">
                <a:sym typeface="+mn-ea"/>
              </a:rPr>
              <a:t>D1</a:t>
            </a:r>
            <a:r>
              <a:rPr lang="zh-CN" altLang="en-US">
                <a:sym typeface="+mn-ea"/>
              </a:rPr>
              <a:t>是</a:t>
            </a:r>
            <a:r>
              <a:rPr lang="en-US" altLang="zh-CN">
                <a:sym typeface="+mn-ea"/>
              </a:rPr>
              <a:t>t</a:t>
            </a:r>
            <a:r>
              <a:rPr lang="zh-CN" altLang="en-US">
                <a:sym typeface="+mn-ea"/>
              </a:rPr>
              <a:t>或</a:t>
            </a:r>
            <a:r>
              <a:rPr lang="en-US" altLang="zh-CN">
                <a:sym typeface="+mn-ea"/>
              </a:rPr>
              <a:t>f</a:t>
            </a:r>
            <a:r>
              <a:rPr lang="zh-CN" altLang="en-US">
                <a:sym typeface="+mn-ea"/>
              </a:rPr>
              <a:t>，</a:t>
            </a:r>
            <a:r>
              <a:rPr lang="en-US" altLang="zh-CN">
                <a:sym typeface="+mn-ea"/>
              </a:rPr>
              <a:t>D2</a:t>
            </a:r>
            <a:r>
              <a:rPr lang="zh-CN" altLang="en-US">
                <a:sym typeface="+mn-ea"/>
              </a:rPr>
              <a:t>是</a:t>
            </a:r>
            <a:r>
              <a:rPr lang="en-US" altLang="zh-CN">
                <a:sym typeface="+mn-ea"/>
              </a:rPr>
              <a:t>&gt;,=</a:t>
            </a:r>
            <a:r>
              <a:rPr lang="zh-CN" altLang="en-US">
                <a:sym typeface="+mn-ea"/>
              </a:rPr>
              <a:t>或</a:t>
            </a:r>
            <a:r>
              <a:rPr lang="en-US" altLang="zh-CN">
                <a:sym typeface="+mn-ea"/>
              </a:rPr>
              <a:t>&lt;</a:t>
            </a:r>
            <a:r>
              <a:rPr lang="zh-CN" altLang="en-US">
                <a:sym typeface="+mn-ea"/>
              </a:rPr>
              <a:t>。除了</a:t>
            </a:r>
            <a:r>
              <a:rPr lang="en-US" altLang="zh-CN">
                <a:sym typeface="+mn-ea"/>
              </a:rPr>
              <a:t>C2</a:t>
            </a:r>
            <a:r>
              <a:rPr lang="zh-CN" altLang="en-US">
                <a:sym typeface="+mn-ea"/>
              </a:rPr>
              <a:t>的第二个简单条件是关系表达式之外，</a:t>
            </a:r>
            <a:r>
              <a:rPr lang="en-US" altLang="zh-CN">
                <a:sym typeface="+mn-ea"/>
              </a:rPr>
              <a:t>C2</a:t>
            </a:r>
            <a:r>
              <a:rPr lang="zh-CN" altLang="en-US">
                <a:sym typeface="+mn-ea"/>
              </a:rPr>
              <a:t>和</a:t>
            </a:r>
            <a:r>
              <a:rPr lang="en-US" altLang="zh-CN">
                <a:sym typeface="+mn-ea"/>
              </a:rPr>
              <a:t>C1</a:t>
            </a:r>
            <a:r>
              <a:rPr lang="zh-CN" altLang="en-US">
                <a:sym typeface="+mn-ea"/>
              </a:rPr>
              <a:t>相同，因此，可以通过修改</a:t>
            </a:r>
            <a:r>
              <a:rPr lang="en-US" altLang="zh-CN">
                <a:sym typeface="+mn-ea"/>
              </a:rPr>
              <a:t>C1</a:t>
            </a:r>
            <a:r>
              <a:rPr lang="zh-CN">
                <a:sym typeface="+mn-ea"/>
              </a:rPr>
              <a:t>的</a:t>
            </a:r>
            <a:r>
              <a:rPr lang="zh-CN" altLang="en-US">
                <a:sym typeface="+mn-ea"/>
              </a:rPr>
              <a:t>约束集</a:t>
            </a:r>
            <a:r>
              <a:rPr lang="en-US" altLang="zh-CN">
                <a:sym typeface="+mn-ea"/>
              </a:rPr>
              <a:t>{</a:t>
            </a:r>
            <a:r>
              <a:rPr lang="zh-CN" altLang="en-US">
                <a:sym typeface="+mn-ea"/>
              </a:rPr>
              <a:t>（</a:t>
            </a:r>
            <a:r>
              <a:rPr lang="en-US" altLang="zh-CN">
                <a:sym typeface="+mn-ea"/>
              </a:rPr>
              <a:t>t,t),(f,t),(t,f)}</a:t>
            </a:r>
            <a:r>
              <a:rPr lang="zh-CN">
                <a:sym typeface="+mn-ea"/>
              </a:rPr>
              <a:t>得出</a:t>
            </a:r>
            <a:r>
              <a:rPr lang="en-US" altLang="zh-CN">
                <a:sym typeface="+mn-ea"/>
              </a:rPr>
              <a:t>C2</a:t>
            </a:r>
            <a:r>
              <a:rPr lang="zh-CN" altLang="en-US">
                <a:sym typeface="+mn-ea"/>
              </a:rPr>
              <a:t>的约束集。注意，对于</a:t>
            </a:r>
            <a:r>
              <a:rPr lang="en-US" altLang="zh-CN">
                <a:sym typeface="+mn-ea"/>
              </a:rPr>
              <a:t>(E3=E4)</a:t>
            </a:r>
            <a:r>
              <a:rPr lang="zh-CN" altLang="en-US">
                <a:sym typeface="+mn-ea"/>
              </a:rPr>
              <a:t>来说，</a:t>
            </a:r>
            <a:r>
              <a:rPr lang="en-US" altLang="zh-CN">
                <a:sym typeface="+mn-ea"/>
              </a:rPr>
              <a:t>t</a:t>
            </a:r>
            <a:r>
              <a:rPr lang="zh-CN" altLang="en-US">
                <a:sym typeface="+mn-ea"/>
              </a:rPr>
              <a:t>意味着</a:t>
            </a:r>
            <a:r>
              <a:rPr lang="en-US" altLang="zh-CN">
                <a:sym typeface="+mn-ea"/>
              </a:rPr>
              <a:t>=</a:t>
            </a:r>
            <a:r>
              <a:rPr lang="zh-CN" altLang="en-US">
                <a:sym typeface="+mn-ea"/>
              </a:rPr>
              <a:t>，而</a:t>
            </a:r>
            <a:r>
              <a:rPr lang="en-US" altLang="zh-CN">
                <a:sym typeface="+mn-ea"/>
              </a:rPr>
              <a:t>f</a:t>
            </a:r>
            <a:r>
              <a:rPr lang="zh-CN" altLang="en-US">
                <a:sym typeface="+mn-ea"/>
              </a:rPr>
              <a:t>意味着</a:t>
            </a:r>
            <a:r>
              <a:rPr lang="en-US" altLang="zh-CN">
                <a:sym typeface="+mn-ea"/>
              </a:rPr>
              <a:t>&lt;</a:t>
            </a:r>
            <a:r>
              <a:rPr lang="zh-CN" altLang="en-US">
                <a:sym typeface="+mn-ea"/>
              </a:rPr>
              <a:t>或</a:t>
            </a:r>
            <a:r>
              <a:rPr lang="en-US" altLang="zh-CN">
                <a:sym typeface="+mn-ea"/>
              </a:rPr>
              <a:t>&gt;</a:t>
            </a:r>
            <a:r>
              <a:rPr lang="zh-CN" altLang="en-US">
                <a:sym typeface="+mn-ea"/>
              </a:rPr>
              <a:t>，因此分别用（</a:t>
            </a:r>
            <a:r>
              <a:rPr lang="en-US" altLang="zh-CN">
                <a:sym typeface="+mn-ea"/>
              </a:rPr>
              <a:t>t</a:t>
            </a:r>
            <a:r>
              <a:rPr lang="zh-CN" altLang="en-US">
                <a:sym typeface="+mn-ea"/>
              </a:rPr>
              <a:t>，</a:t>
            </a:r>
            <a:r>
              <a:rPr lang="en-US" altLang="zh-CN">
                <a:sym typeface="+mn-ea"/>
              </a:rPr>
              <a:t>=</a:t>
            </a:r>
            <a:r>
              <a:rPr lang="zh-CN" altLang="en-US">
                <a:sym typeface="+mn-ea"/>
              </a:rPr>
              <a:t>）和（</a:t>
            </a:r>
            <a:r>
              <a:rPr lang="en-US" altLang="zh-CN">
                <a:sym typeface="+mn-ea"/>
              </a:rPr>
              <a:t>f</a:t>
            </a:r>
            <a:r>
              <a:rPr lang="zh-CN" altLang="en-US">
                <a:sym typeface="+mn-ea"/>
              </a:rPr>
              <a:t>，</a:t>
            </a:r>
            <a:r>
              <a:rPr lang="en-US" altLang="zh-CN">
                <a:sym typeface="+mn-ea"/>
              </a:rPr>
              <a:t>=</a:t>
            </a:r>
            <a:r>
              <a:rPr lang="zh-CN" altLang="en-US">
                <a:sym typeface="+mn-ea"/>
              </a:rPr>
              <a:t>）替换（</a:t>
            </a:r>
            <a:r>
              <a:rPr lang="en-US" altLang="zh-CN">
                <a:sym typeface="+mn-ea"/>
              </a:rPr>
              <a:t>t</a:t>
            </a:r>
            <a:r>
              <a:rPr lang="zh-CN" altLang="en-US">
                <a:sym typeface="+mn-ea"/>
              </a:rPr>
              <a:t>，</a:t>
            </a:r>
            <a:r>
              <a:rPr lang="en-US" altLang="zh-CN">
                <a:sym typeface="+mn-ea"/>
              </a:rPr>
              <a:t>t</a:t>
            </a:r>
            <a:r>
              <a:rPr lang="zh-CN" altLang="en-US">
                <a:sym typeface="+mn-ea"/>
              </a:rPr>
              <a:t>）和（</a:t>
            </a:r>
            <a:r>
              <a:rPr lang="en-US" altLang="zh-CN">
                <a:sym typeface="+mn-ea"/>
              </a:rPr>
              <a:t>f</a:t>
            </a:r>
            <a:r>
              <a:rPr lang="zh-CN" altLang="en-US">
                <a:sym typeface="+mn-ea"/>
              </a:rPr>
              <a:t>，</a:t>
            </a:r>
            <a:r>
              <a:rPr lang="en-US" altLang="zh-CN">
                <a:sym typeface="+mn-ea"/>
              </a:rPr>
              <a:t>t</a:t>
            </a:r>
            <a:r>
              <a:rPr lang="zh-CN" altLang="en-US">
                <a:sym typeface="+mn-ea"/>
              </a:rPr>
              <a:t>），并用（</a:t>
            </a:r>
            <a:r>
              <a:rPr lang="en-US" altLang="zh-CN">
                <a:sym typeface="+mn-ea"/>
              </a:rPr>
              <a:t>t,&lt;)</a:t>
            </a:r>
            <a:r>
              <a:rPr lang="zh-CN" altLang="en-US">
                <a:sym typeface="+mn-ea"/>
              </a:rPr>
              <a:t>和（</a:t>
            </a:r>
            <a:r>
              <a:rPr lang="en-US" altLang="zh-CN">
                <a:sym typeface="+mn-ea"/>
              </a:rPr>
              <a:t>t,&gt;)</a:t>
            </a:r>
            <a:r>
              <a:rPr lang="zh-CN" altLang="en-US">
                <a:sym typeface="+mn-ea"/>
              </a:rPr>
              <a:t>替换（</a:t>
            </a:r>
            <a:r>
              <a:rPr lang="en-US" altLang="zh-CN">
                <a:sym typeface="+mn-ea"/>
              </a:rPr>
              <a:t>t</a:t>
            </a:r>
            <a:r>
              <a:rPr lang="zh-CN" altLang="en-US">
                <a:sym typeface="+mn-ea"/>
              </a:rPr>
              <a:t>，</a:t>
            </a:r>
            <a:r>
              <a:rPr lang="en-US" altLang="zh-CN">
                <a:sym typeface="+mn-ea"/>
              </a:rPr>
              <a:t>f</a:t>
            </a:r>
            <a:r>
              <a:rPr lang="zh-CN" altLang="en-US">
                <a:sym typeface="+mn-ea"/>
              </a:rPr>
              <a:t>），就得到</a:t>
            </a:r>
            <a:r>
              <a:rPr lang="en-US" altLang="zh-CN">
                <a:sym typeface="+mn-ea"/>
              </a:rPr>
              <a:t>C2</a:t>
            </a:r>
            <a:r>
              <a:rPr lang="zh-CN" altLang="en-US">
                <a:sym typeface="+mn-ea"/>
              </a:rPr>
              <a:t>的约束集</a:t>
            </a:r>
            <a:r>
              <a:rPr lang="en-US" altLang="zh-CN">
                <a:sym typeface="+mn-ea"/>
              </a:rPr>
              <a:t>{</a:t>
            </a:r>
            <a:r>
              <a:rPr lang="zh-CN" altLang="en-US">
                <a:sym typeface="+mn-ea"/>
              </a:rPr>
              <a:t>（</a:t>
            </a:r>
            <a:r>
              <a:rPr lang="en-US" altLang="zh-CN">
                <a:sym typeface="+mn-ea"/>
              </a:rPr>
              <a:t>t</a:t>
            </a:r>
            <a:r>
              <a:rPr lang="zh-CN" altLang="en-US">
                <a:sym typeface="+mn-ea"/>
              </a:rPr>
              <a:t>，</a:t>
            </a:r>
            <a:r>
              <a:rPr lang="en-US" altLang="zh-CN">
                <a:sym typeface="+mn-ea"/>
              </a:rPr>
              <a:t>=</a:t>
            </a:r>
            <a:r>
              <a:rPr lang="zh-CN" altLang="en-US">
                <a:sym typeface="+mn-ea"/>
              </a:rPr>
              <a:t>），（</a:t>
            </a:r>
            <a:r>
              <a:rPr lang="en-US" altLang="zh-CN">
                <a:sym typeface="+mn-ea"/>
              </a:rPr>
              <a:t>f</a:t>
            </a:r>
            <a:r>
              <a:rPr lang="zh-CN" altLang="en-US">
                <a:sym typeface="+mn-ea"/>
              </a:rPr>
              <a:t>，</a:t>
            </a:r>
            <a:r>
              <a:rPr lang="en-US" altLang="zh-CN">
                <a:sym typeface="+mn-ea"/>
              </a:rPr>
              <a:t>=</a:t>
            </a:r>
            <a:r>
              <a:rPr lang="zh-CN" altLang="en-US">
                <a:sym typeface="+mn-ea"/>
              </a:rPr>
              <a:t>），（</a:t>
            </a:r>
            <a:r>
              <a:rPr lang="en-US" altLang="zh-CN">
                <a:sym typeface="+mn-ea"/>
              </a:rPr>
              <a:t>t,&lt;)</a:t>
            </a:r>
            <a:r>
              <a:rPr lang="zh-CN" altLang="en-US">
                <a:sym typeface="+mn-ea"/>
              </a:rPr>
              <a:t>，（</a:t>
            </a:r>
            <a:r>
              <a:rPr lang="en-US" altLang="zh-CN">
                <a:sym typeface="+mn-ea"/>
              </a:rPr>
              <a:t>t,&gt;)}</a:t>
            </a:r>
            <a:r>
              <a:rPr lang="zh-CN" altLang="en-US">
                <a:sym typeface="+mn-ea"/>
              </a:rPr>
              <a:t>。覆盖上述条件约束集的测试，保证可以发现</a:t>
            </a:r>
            <a:r>
              <a:rPr lang="en-US" altLang="zh-CN">
                <a:sym typeface="+mn-ea"/>
              </a:rPr>
              <a:t>C2</a:t>
            </a:r>
            <a:r>
              <a:rPr lang="zh-CN" altLang="en-US">
                <a:sym typeface="+mn-ea"/>
              </a:rPr>
              <a:t>中布尔算符和关系算符的错误。</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条件测试</a:t>
            </a:r>
            <a:endParaRPr lang="zh-CN" altLang="zh-CN" b="1"/>
          </a:p>
        </p:txBody>
      </p:sp>
      <p:sp>
        <p:nvSpPr>
          <p:cNvPr id="3" name="文本框 2"/>
          <p:cNvSpPr txBox="1"/>
          <p:nvPr/>
        </p:nvSpPr>
        <p:spPr>
          <a:xfrm>
            <a:off x="1021715" y="1338580"/>
            <a:ext cx="7099935" cy="2030095"/>
          </a:xfrm>
          <a:prstGeom prst="rect">
            <a:avLst/>
          </a:prstGeom>
          <a:noFill/>
        </p:spPr>
        <p:txBody>
          <a:bodyPr wrap="square" rtlCol="0">
            <a:spAutoFit/>
          </a:bodyPr>
          <a:p>
            <a:r>
              <a:rPr lang="zh-CN"/>
              <a:t>作为第三个例子，考虑下列条件</a:t>
            </a:r>
            <a:endParaRPr lang="zh-CN"/>
          </a:p>
          <a:p>
            <a:r>
              <a:rPr lang="en-US" altLang="zh-CN">
                <a:sym typeface="+mn-ea"/>
              </a:rPr>
              <a:t>C1:</a:t>
            </a:r>
            <a:r>
              <a:rPr lang="zh-CN" altLang="en-US">
                <a:sym typeface="+mn-ea"/>
              </a:rPr>
              <a:t>（</a:t>
            </a:r>
            <a:r>
              <a:rPr lang="en-US" altLang="zh-CN">
                <a:sym typeface="+mn-ea"/>
              </a:rPr>
              <a:t>E1&gt;E2)</a:t>
            </a:r>
            <a:r>
              <a:rPr lang="zh-CN" altLang="en-US">
                <a:sym typeface="+mn-ea"/>
              </a:rPr>
              <a:t>＆（</a:t>
            </a:r>
            <a:r>
              <a:rPr lang="en-US" altLang="zh-CN">
                <a:sym typeface="+mn-ea"/>
              </a:rPr>
              <a:t>E3=E4</a:t>
            </a:r>
            <a:r>
              <a:rPr lang="zh-CN" altLang="en-US">
                <a:sym typeface="+mn-ea"/>
              </a:rPr>
              <a:t>）</a:t>
            </a:r>
            <a:endParaRPr lang="en-US" altLang="zh-CN">
              <a:sym typeface="+mn-ea"/>
            </a:endParaRPr>
          </a:p>
          <a:p>
            <a:r>
              <a:rPr lang="zh-CN" altLang="en-US">
                <a:sym typeface="+mn-ea"/>
              </a:rPr>
              <a:t>其中</a:t>
            </a:r>
            <a:r>
              <a:rPr lang="en-US" altLang="zh-CN">
                <a:sym typeface="+mn-ea"/>
              </a:rPr>
              <a:t>E1,E2,</a:t>
            </a:r>
            <a:r>
              <a:rPr lang="en-US" altLang="zh-CN">
                <a:sym typeface="+mn-ea"/>
              </a:rPr>
              <a:t>E3</a:t>
            </a:r>
            <a:r>
              <a:rPr lang="zh-CN" altLang="en-US">
                <a:sym typeface="+mn-ea"/>
              </a:rPr>
              <a:t>和</a:t>
            </a:r>
            <a:r>
              <a:rPr lang="en-US" altLang="zh-CN">
                <a:sym typeface="+mn-ea"/>
              </a:rPr>
              <a:t>E4</a:t>
            </a:r>
            <a:r>
              <a:rPr lang="zh-CN" altLang="en-US">
                <a:sym typeface="+mn-ea"/>
              </a:rPr>
              <a:t>是算数表达式</a:t>
            </a:r>
            <a:r>
              <a:rPr lang="zh-CN" altLang="en-US">
                <a:sym typeface="+mn-ea"/>
              </a:rPr>
              <a:t>。</a:t>
            </a:r>
            <a:r>
              <a:rPr lang="en-US" altLang="zh-CN">
                <a:sym typeface="+mn-ea"/>
              </a:rPr>
              <a:t>C3</a:t>
            </a:r>
            <a:r>
              <a:rPr lang="zh-CN" altLang="en-US">
                <a:sym typeface="+mn-ea"/>
              </a:rPr>
              <a:t>的条件约束形式为（</a:t>
            </a:r>
            <a:r>
              <a:rPr lang="en-US" altLang="zh-CN">
                <a:sym typeface="+mn-ea"/>
              </a:rPr>
              <a:t>D1,D2</a:t>
            </a:r>
            <a:r>
              <a:rPr lang="zh-CN" altLang="en-US">
                <a:sym typeface="+mn-ea"/>
              </a:rPr>
              <a:t>），而</a:t>
            </a:r>
            <a:r>
              <a:rPr lang="en-US" altLang="zh-CN">
                <a:sym typeface="+mn-ea"/>
              </a:rPr>
              <a:t>D1</a:t>
            </a:r>
            <a:r>
              <a:rPr lang="zh-CN" altLang="en-US">
                <a:sym typeface="+mn-ea"/>
              </a:rPr>
              <a:t>和</a:t>
            </a:r>
            <a:r>
              <a:rPr lang="en-US" altLang="zh-CN">
                <a:sym typeface="+mn-ea"/>
              </a:rPr>
              <a:t>D2</a:t>
            </a:r>
            <a:r>
              <a:rPr lang="zh-CN" altLang="en-US">
                <a:sym typeface="+mn-ea"/>
              </a:rPr>
              <a:t>中的每一个都是</a:t>
            </a:r>
            <a:r>
              <a:rPr lang="en-US" altLang="zh-CN">
                <a:sym typeface="+mn-ea"/>
              </a:rPr>
              <a:t>&gt;,=</a:t>
            </a:r>
            <a:r>
              <a:rPr lang="zh-CN" altLang="en-US">
                <a:sym typeface="+mn-ea"/>
              </a:rPr>
              <a:t>或</a:t>
            </a:r>
            <a:r>
              <a:rPr lang="en-US" altLang="zh-CN">
                <a:sym typeface="+mn-ea"/>
              </a:rPr>
              <a:t>&lt;</a:t>
            </a:r>
            <a:r>
              <a:rPr lang="zh-CN" altLang="en-US">
                <a:sym typeface="+mn-ea"/>
              </a:rPr>
              <a:t>。</a:t>
            </a:r>
            <a:r>
              <a:rPr lang="zh-CN" altLang="en-US">
                <a:sym typeface="+mn-ea"/>
              </a:rPr>
              <a:t>除了</a:t>
            </a:r>
            <a:r>
              <a:rPr lang="en-US" altLang="zh-CN">
                <a:sym typeface="+mn-ea"/>
              </a:rPr>
              <a:t>C3</a:t>
            </a:r>
            <a:r>
              <a:rPr lang="zh-CN" altLang="en-US">
                <a:sym typeface="+mn-ea"/>
              </a:rPr>
              <a:t>的第一个简单条件是关系表达式之外，</a:t>
            </a:r>
            <a:r>
              <a:rPr lang="en-US" altLang="zh-CN">
                <a:sym typeface="+mn-ea"/>
              </a:rPr>
              <a:t>C3</a:t>
            </a:r>
            <a:r>
              <a:rPr lang="zh-CN" altLang="en-US">
                <a:sym typeface="+mn-ea"/>
              </a:rPr>
              <a:t>和</a:t>
            </a:r>
            <a:r>
              <a:rPr lang="en-US" altLang="zh-CN">
                <a:sym typeface="+mn-ea"/>
              </a:rPr>
              <a:t>C2</a:t>
            </a:r>
            <a:r>
              <a:rPr lang="zh-CN" altLang="en-US">
                <a:sym typeface="+mn-ea"/>
              </a:rPr>
              <a:t>相同</a:t>
            </a:r>
            <a:r>
              <a:rPr lang="zh-CN" altLang="en-US">
                <a:sym typeface="+mn-ea"/>
              </a:rPr>
              <a:t>。</a:t>
            </a:r>
            <a:r>
              <a:rPr lang="zh-CN" altLang="en-US">
                <a:sym typeface="+mn-ea"/>
              </a:rPr>
              <a:t>因此，可以通过修改</a:t>
            </a:r>
            <a:r>
              <a:rPr lang="en-US" altLang="zh-CN">
                <a:sym typeface="+mn-ea"/>
              </a:rPr>
              <a:t>C2</a:t>
            </a:r>
            <a:r>
              <a:rPr lang="zh-CN">
                <a:sym typeface="+mn-ea"/>
              </a:rPr>
              <a:t>的</a:t>
            </a:r>
            <a:r>
              <a:rPr lang="zh-CN" altLang="en-US">
                <a:sym typeface="+mn-ea"/>
              </a:rPr>
              <a:t>约束集</a:t>
            </a:r>
            <a:r>
              <a:rPr lang="zh-CN">
                <a:sym typeface="+mn-ea"/>
              </a:rPr>
              <a:t>得出</a:t>
            </a:r>
            <a:r>
              <a:rPr lang="en-US" altLang="zh-CN">
                <a:sym typeface="+mn-ea"/>
              </a:rPr>
              <a:t>C3</a:t>
            </a:r>
            <a:r>
              <a:rPr lang="zh-CN" altLang="en-US">
                <a:sym typeface="+mn-ea"/>
              </a:rPr>
              <a:t>的约束集：</a:t>
            </a:r>
            <a:r>
              <a:rPr lang="en-US" altLang="zh-CN">
                <a:sym typeface="+mn-ea"/>
              </a:rPr>
              <a:t>{(&gt;,=),(=,=),(&lt;,=),(&gt;,&lt;),(&gt;,&gt;)}</a:t>
            </a:r>
            <a:r>
              <a:rPr lang="zh-CN" altLang="en-US">
                <a:sym typeface="+mn-ea"/>
              </a:rPr>
              <a:t>覆盖上述条件约束集的测试，保证可以发现</a:t>
            </a:r>
            <a:r>
              <a:rPr lang="en-US" altLang="zh-CN">
                <a:sym typeface="+mn-ea"/>
              </a:rPr>
              <a:t>C3</a:t>
            </a:r>
            <a:r>
              <a:rPr lang="zh-CN" altLang="en-US">
                <a:sym typeface="+mn-ea"/>
              </a:rPr>
              <a:t>中关系算符的错误。</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14045" y="495935"/>
            <a:ext cx="7814945" cy="368300"/>
          </a:xfrm>
          <a:prstGeom prst="rect">
            <a:avLst/>
          </a:prstGeom>
          <a:noFill/>
        </p:spPr>
        <p:txBody>
          <a:bodyPr wrap="square" rtlCol="0">
            <a:spAutoFit/>
          </a:bodyPr>
          <a:p>
            <a:r>
              <a:rPr lang="zh-CN" altLang="en-US" b="1"/>
              <a:t>循环测试</a:t>
            </a:r>
            <a:endParaRPr lang="zh-CN" altLang="en-US" b="1"/>
          </a:p>
        </p:txBody>
      </p:sp>
      <p:sp>
        <p:nvSpPr>
          <p:cNvPr id="3" name="文本框 2"/>
          <p:cNvSpPr txBox="1"/>
          <p:nvPr/>
        </p:nvSpPr>
        <p:spPr>
          <a:xfrm>
            <a:off x="593090" y="1014730"/>
            <a:ext cx="7856220" cy="645160"/>
          </a:xfrm>
          <a:prstGeom prst="rect">
            <a:avLst/>
          </a:prstGeom>
          <a:noFill/>
        </p:spPr>
        <p:txBody>
          <a:bodyPr wrap="square" rtlCol="0">
            <a:spAutoFit/>
          </a:bodyPr>
          <a:p>
            <a:r>
              <a:rPr lang="zh-CN" altLang="en-US"/>
              <a:t>循环测试是一种白盒测试技术，它专注于测试循环结构的有效性。在结构化的程序中通常只有三种循环，即简单循环，串接循环和嵌套循环。</a:t>
            </a:r>
            <a:endParaRPr lang="zh-CN" altLang="en-US"/>
          </a:p>
        </p:txBody>
      </p:sp>
      <p:sp>
        <p:nvSpPr>
          <p:cNvPr id="4" name="文本框 3"/>
          <p:cNvSpPr txBox="1"/>
          <p:nvPr/>
        </p:nvSpPr>
        <p:spPr>
          <a:xfrm>
            <a:off x="679450" y="1745615"/>
            <a:ext cx="6229985" cy="1753235"/>
          </a:xfrm>
          <a:prstGeom prst="rect">
            <a:avLst/>
          </a:prstGeom>
          <a:noFill/>
        </p:spPr>
        <p:txBody>
          <a:bodyPr wrap="square" rtlCol="0">
            <a:spAutoFit/>
          </a:bodyPr>
          <a:p>
            <a:r>
              <a:rPr lang="zh-CN" altLang="en-US"/>
              <a:t>简单循环的测试集（</a:t>
            </a:r>
            <a:r>
              <a:rPr lang="en-US" altLang="zh-CN"/>
              <a:t>n</a:t>
            </a:r>
            <a:r>
              <a:rPr lang="zh-CN" altLang="en-US"/>
              <a:t>是允许通过循环的最大次数</a:t>
            </a:r>
            <a:r>
              <a:rPr lang="zh-CN" altLang="en-US"/>
              <a:t>）</a:t>
            </a:r>
            <a:r>
              <a:rPr lang="zh-CN" altLang="en-US"/>
              <a:t>：</a:t>
            </a:r>
            <a:endParaRPr lang="zh-CN" altLang="en-US"/>
          </a:p>
          <a:p>
            <a:pPr marL="457200" lvl="1" indent="0">
              <a:buNone/>
            </a:pPr>
            <a:r>
              <a:rPr lang="zh-CN" altLang="en-US">
                <a:solidFill>
                  <a:schemeClr val="tx1"/>
                </a:solidFill>
              </a:rPr>
              <a:t>跳过循环</a:t>
            </a:r>
            <a:endParaRPr lang="zh-CN" altLang="en-US">
              <a:solidFill>
                <a:schemeClr val="tx1"/>
              </a:solidFill>
            </a:endParaRPr>
          </a:p>
          <a:p>
            <a:pPr marL="457200" lvl="1" indent="0">
              <a:buNone/>
            </a:pPr>
            <a:r>
              <a:rPr lang="zh-CN" altLang="en-US">
                <a:solidFill>
                  <a:schemeClr val="tx1"/>
                </a:solidFill>
              </a:rPr>
              <a:t>只通过一次循环</a:t>
            </a:r>
            <a:endParaRPr lang="zh-CN" altLang="en-US">
              <a:solidFill>
                <a:schemeClr val="tx1"/>
              </a:solidFill>
            </a:endParaRPr>
          </a:p>
          <a:p>
            <a:pPr marL="457200" lvl="1" indent="0">
              <a:buNone/>
            </a:pPr>
            <a:r>
              <a:rPr lang="zh-CN" altLang="en-US">
                <a:solidFill>
                  <a:schemeClr val="tx1"/>
                </a:solidFill>
              </a:rPr>
              <a:t>通过循环两次</a:t>
            </a:r>
            <a:endParaRPr lang="zh-CN" altLang="en-US">
              <a:solidFill>
                <a:schemeClr val="tx1"/>
              </a:solidFill>
            </a:endParaRPr>
          </a:p>
          <a:p>
            <a:pPr marL="457200" lvl="1" indent="0">
              <a:buNone/>
            </a:pPr>
            <a:r>
              <a:rPr lang="zh-CN" altLang="en-US">
                <a:solidFill>
                  <a:schemeClr val="tx1"/>
                </a:solidFill>
              </a:rPr>
              <a:t>通过循环</a:t>
            </a:r>
            <a:r>
              <a:rPr lang="en-US" altLang="zh-CN">
                <a:solidFill>
                  <a:schemeClr val="tx1"/>
                </a:solidFill>
              </a:rPr>
              <a:t>m</a:t>
            </a:r>
            <a:r>
              <a:rPr lang="zh-CN" altLang="en-US">
                <a:solidFill>
                  <a:schemeClr val="tx1"/>
                </a:solidFill>
              </a:rPr>
              <a:t>次，其中</a:t>
            </a:r>
            <a:r>
              <a:rPr lang="en-US" altLang="zh-CN">
                <a:solidFill>
                  <a:schemeClr val="tx1"/>
                </a:solidFill>
              </a:rPr>
              <a:t>m&lt;n-1</a:t>
            </a:r>
            <a:r>
              <a:rPr lang="zh-CN" altLang="en-US">
                <a:solidFill>
                  <a:schemeClr val="tx1"/>
                </a:solidFill>
              </a:rPr>
              <a:t>。</a:t>
            </a:r>
            <a:endParaRPr lang="zh-CN" altLang="en-US">
              <a:solidFill>
                <a:schemeClr val="tx1"/>
              </a:solidFill>
            </a:endParaRPr>
          </a:p>
          <a:p>
            <a:pPr marL="457200" lvl="1" indent="0">
              <a:buNone/>
            </a:pPr>
            <a:r>
              <a:rPr lang="zh-CN" altLang="en-US">
                <a:solidFill>
                  <a:schemeClr val="tx1"/>
                </a:solidFill>
              </a:rPr>
              <a:t>通过循环</a:t>
            </a:r>
            <a:r>
              <a:rPr lang="en-US" altLang="zh-CN">
                <a:solidFill>
                  <a:schemeClr val="tx1"/>
                </a:solidFill>
              </a:rPr>
              <a:t>n-1</a:t>
            </a:r>
            <a:r>
              <a:rPr lang="zh-CN" altLang="en-US">
                <a:solidFill>
                  <a:schemeClr val="tx1"/>
                </a:solidFill>
              </a:rPr>
              <a:t>，</a:t>
            </a:r>
            <a:r>
              <a:rPr lang="en-US" altLang="zh-CN">
                <a:solidFill>
                  <a:schemeClr val="tx1"/>
                </a:solidFill>
              </a:rPr>
              <a:t>n</a:t>
            </a:r>
            <a:r>
              <a:rPr lang="zh-CN" altLang="en-US">
                <a:solidFill>
                  <a:schemeClr val="tx1"/>
                </a:solidFill>
              </a:rPr>
              <a:t>，</a:t>
            </a:r>
            <a:r>
              <a:rPr lang="en-US" altLang="zh-CN">
                <a:solidFill>
                  <a:schemeClr val="tx1"/>
                </a:solidFill>
              </a:rPr>
              <a:t>n+1</a:t>
            </a:r>
            <a:r>
              <a:rPr lang="zh-CN" altLang="en-US">
                <a:solidFill>
                  <a:schemeClr val="tx1"/>
                </a:solidFill>
              </a:rPr>
              <a:t>次。</a:t>
            </a:r>
            <a:endParaRPr lang="zh-CN" altLang="en-US">
              <a:solidFill>
                <a:schemeClr val="tx1"/>
              </a:solidFill>
            </a:endParaRPr>
          </a:p>
        </p:txBody>
      </p:sp>
      <p:pic>
        <p:nvPicPr>
          <p:cNvPr id="5" name="图片 4"/>
          <p:cNvPicPr>
            <a:picLocks noChangeAspect="1"/>
          </p:cNvPicPr>
          <p:nvPr/>
        </p:nvPicPr>
        <p:blipFill>
          <a:blip r:embed="rId1"/>
          <a:srcRect l="-87" t="-92" r="72269" b="14423"/>
          <a:stretch>
            <a:fillRect/>
          </a:stretch>
        </p:blipFill>
        <p:spPr>
          <a:xfrm>
            <a:off x="5965190" y="1744980"/>
            <a:ext cx="1443355" cy="26797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rcRect l="54684" t="8365" r="28304" b="24037"/>
          <a:stretch>
            <a:fillRect/>
          </a:stretch>
        </p:blipFill>
        <p:spPr>
          <a:xfrm>
            <a:off x="6096635" y="2622550"/>
            <a:ext cx="784860" cy="2130425"/>
          </a:xfrm>
          <a:prstGeom prst="rect">
            <a:avLst/>
          </a:prstGeom>
        </p:spPr>
      </p:pic>
      <p:pic>
        <p:nvPicPr>
          <p:cNvPr id="4" name="图片 3"/>
          <p:cNvPicPr>
            <a:picLocks noChangeAspect="1"/>
          </p:cNvPicPr>
          <p:nvPr>
            <p:custDataLst>
              <p:tags r:id="rId2"/>
            </p:custDataLst>
          </p:nvPr>
        </p:nvPicPr>
        <p:blipFill>
          <a:blip r:embed="rId1"/>
          <a:srcRect l="30910" t="14332" r="47215" b="16363"/>
          <a:stretch>
            <a:fillRect/>
          </a:stretch>
        </p:blipFill>
        <p:spPr>
          <a:xfrm>
            <a:off x="7204075" y="814705"/>
            <a:ext cx="928370" cy="2037080"/>
          </a:xfrm>
          <a:prstGeom prst="rect">
            <a:avLst/>
          </a:prstGeom>
        </p:spPr>
      </p:pic>
      <p:sp>
        <p:nvSpPr>
          <p:cNvPr id="2" name="文本框 1"/>
          <p:cNvSpPr txBox="1"/>
          <p:nvPr/>
        </p:nvSpPr>
        <p:spPr>
          <a:xfrm>
            <a:off x="457200" y="376555"/>
            <a:ext cx="8121650" cy="2430145"/>
          </a:xfrm>
          <a:prstGeom prst="rect">
            <a:avLst/>
          </a:prstGeom>
          <a:noFill/>
        </p:spPr>
        <p:txBody>
          <a:bodyPr wrap="square" rtlCol="0">
            <a:spAutoFit/>
          </a:bodyPr>
          <a:p>
            <a:r>
              <a:rPr lang="zh-CN" altLang="en-US"/>
              <a:t>嵌套循环。如果把简单循环的测试方法直接用到嵌套循环，可能的测试数就会随嵌套层数的增加按几何数增长，这会导致不切实际的测试数目。</a:t>
            </a:r>
            <a:endParaRPr lang="zh-CN" altLang="en-US"/>
          </a:p>
          <a:p>
            <a:r>
              <a:rPr lang="zh-CN" altLang="en-US" sz="1600"/>
              <a:t>嵌套循环的测试方法</a:t>
            </a:r>
            <a:r>
              <a:rPr lang="zh-CN" altLang="en-US"/>
              <a:t>：</a:t>
            </a:r>
            <a:endParaRPr lang="zh-CN" altLang="en-US"/>
          </a:p>
          <a:p>
            <a:pPr marL="742950" lvl="1" indent="-285750">
              <a:buFont typeface="Wingdings" panose="05000000000000000000" charset="0"/>
              <a:buChar char="l"/>
            </a:pPr>
            <a:r>
              <a:rPr lang="zh-CN" altLang="en-US" sz="1400">
                <a:solidFill>
                  <a:schemeClr val="tx1"/>
                </a:solidFill>
              </a:rPr>
              <a:t>从最内侧循环开始测试，把其他循环都设置为最小值。</a:t>
            </a:r>
            <a:endParaRPr lang="zh-CN" altLang="en-US" sz="1400">
              <a:solidFill>
                <a:schemeClr val="tx1"/>
              </a:solidFill>
            </a:endParaRPr>
          </a:p>
          <a:p>
            <a:pPr marL="742950" lvl="1" indent="-285750">
              <a:buFont typeface="Wingdings" panose="05000000000000000000" charset="0"/>
              <a:buChar char="l"/>
            </a:pPr>
            <a:r>
              <a:rPr lang="zh-CN" altLang="en-US" sz="1400">
                <a:solidFill>
                  <a:schemeClr val="tx1"/>
                </a:solidFill>
              </a:rPr>
              <a:t>对最内层循环使用简单循环测试方法，而使外层循环的迭代参数取最小</a:t>
            </a:r>
            <a:endParaRPr lang="zh-CN" altLang="en-US" sz="1400">
              <a:solidFill>
                <a:schemeClr val="tx1"/>
              </a:solidFill>
            </a:endParaRPr>
          </a:p>
          <a:p>
            <a:pPr lvl="1" indent="0">
              <a:buFont typeface="Wingdings" panose="05000000000000000000" charset="0"/>
              <a:buNone/>
            </a:pPr>
            <a:r>
              <a:rPr lang="en-US" altLang="zh-CN" sz="1400">
                <a:solidFill>
                  <a:schemeClr val="tx1"/>
                </a:solidFill>
              </a:rPr>
              <a:t>	</a:t>
            </a:r>
            <a:r>
              <a:rPr lang="zh-CN" altLang="en-US" sz="1400">
                <a:solidFill>
                  <a:schemeClr val="tx1"/>
                </a:solidFill>
              </a:rPr>
              <a:t>值，并为越界值或非法值增加一些额外的测试。</a:t>
            </a:r>
            <a:endParaRPr lang="zh-CN" altLang="en-US" sz="1400">
              <a:solidFill>
                <a:schemeClr val="tx1"/>
              </a:solidFill>
            </a:endParaRPr>
          </a:p>
          <a:p>
            <a:pPr marL="742950" lvl="1" indent="-285750">
              <a:buFont typeface="Wingdings" panose="05000000000000000000" charset="0"/>
              <a:buChar char="l"/>
            </a:pPr>
            <a:r>
              <a:rPr lang="zh-CN" altLang="en-US" sz="1400">
                <a:solidFill>
                  <a:schemeClr val="tx1"/>
                </a:solidFill>
              </a:rPr>
              <a:t>由内而外，对下一个循环进行</a:t>
            </a:r>
            <a:r>
              <a:rPr lang="zh-CN" altLang="en-US" sz="1400">
                <a:sym typeface="+mn-ea"/>
              </a:rPr>
              <a:t>测试，但保持所有其他外层循环为最小值</a:t>
            </a:r>
            <a:endParaRPr lang="zh-CN" altLang="en-US" sz="1400">
              <a:sym typeface="+mn-ea"/>
            </a:endParaRPr>
          </a:p>
          <a:p>
            <a:pPr lvl="1" indent="0">
              <a:buFont typeface="Wingdings" panose="05000000000000000000" charset="0"/>
              <a:buNone/>
            </a:pPr>
            <a:r>
              <a:rPr lang="en-US" altLang="zh-CN" sz="1400">
                <a:sym typeface="+mn-ea"/>
              </a:rPr>
              <a:t>	</a:t>
            </a:r>
            <a:r>
              <a:rPr lang="zh-CN" altLang="en-US" sz="1400">
                <a:sym typeface="+mn-ea"/>
              </a:rPr>
              <a:t>，其他嵌套循环为</a:t>
            </a:r>
            <a:r>
              <a:rPr lang="en-US" altLang="zh-CN" sz="1400">
                <a:sym typeface="+mn-ea"/>
              </a:rPr>
              <a:t>“</a:t>
            </a:r>
            <a:r>
              <a:rPr lang="zh-CN" altLang="en-US" sz="1400">
                <a:sym typeface="+mn-ea"/>
              </a:rPr>
              <a:t>典型</a:t>
            </a:r>
            <a:r>
              <a:rPr lang="en-US" altLang="zh-CN" sz="1400">
                <a:sym typeface="+mn-ea"/>
              </a:rPr>
              <a:t>”</a:t>
            </a:r>
            <a:r>
              <a:rPr lang="zh-CN" altLang="en-US" sz="1400">
                <a:sym typeface="+mn-ea"/>
              </a:rPr>
              <a:t>值。</a:t>
            </a:r>
            <a:endParaRPr lang="zh-CN" altLang="en-US" sz="1400">
              <a:sym typeface="+mn-ea"/>
            </a:endParaRPr>
          </a:p>
          <a:p>
            <a:pPr marL="742950" lvl="1" indent="-285750">
              <a:buFont typeface="Wingdings" panose="05000000000000000000" charset="0"/>
              <a:buChar char="l"/>
            </a:pPr>
            <a:r>
              <a:rPr lang="zh-CN" altLang="en-US" sz="1400">
                <a:sym typeface="+mn-ea"/>
              </a:rPr>
              <a:t>继续进行下去，知道测试完所有的循环。</a:t>
            </a:r>
            <a:endParaRPr lang="zh-CN" altLang="en-US" sz="1400">
              <a:sym typeface="+mn-ea"/>
            </a:endParaRPr>
          </a:p>
          <a:p>
            <a:pPr marL="742950" lvl="1" indent="-285750">
              <a:buFont typeface="Arial" panose="020B0604020202020204" pitchFamily="34" charset="0"/>
              <a:buNone/>
            </a:pPr>
            <a:endParaRPr lang="zh-CN" altLang="en-US" sz="1400">
              <a:sym typeface="+mn-ea"/>
            </a:endParaRPr>
          </a:p>
        </p:txBody>
      </p:sp>
      <p:sp>
        <p:nvSpPr>
          <p:cNvPr id="3" name="文本框 2"/>
          <p:cNvSpPr txBox="1"/>
          <p:nvPr/>
        </p:nvSpPr>
        <p:spPr>
          <a:xfrm>
            <a:off x="539115" y="3022600"/>
            <a:ext cx="5334635" cy="1476375"/>
          </a:xfrm>
          <a:prstGeom prst="rect">
            <a:avLst/>
          </a:prstGeom>
          <a:noFill/>
        </p:spPr>
        <p:txBody>
          <a:bodyPr wrap="square" rtlCol="0">
            <a:spAutoFit/>
          </a:bodyPr>
          <a:p>
            <a:r>
              <a:rPr lang="zh-CN" altLang="en-US"/>
              <a:t>串接循环。如果串接在一起的多个循环相互独立，互不相干，应选择简单循环测试。如果两个循环串接，，而且第一个循环的循环计数器值是第二个循环的初始值，则这两个循环并不是</a:t>
            </a:r>
            <a:r>
              <a:rPr lang="zh-CN" altLang="en-US"/>
              <a:t>独立的。</a:t>
            </a:r>
            <a:r>
              <a:rPr lang="zh-CN" altLang="en-US"/>
              <a:t>如果不独立，相关联，则应选择嵌套循环测试。</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11175" y="383540"/>
            <a:ext cx="8121650" cy="2799715"/>
          </a:xfrm>
          <a:prstGeom prst="rect">
            <a:avLst/>
          </a:prstGeom>
          <a:noFill/>
        </p:spPr>
        <p:txBody>
          <a:bodyPr wrap="square" rtlCol="0">
            <a:spAutoFit/>
          </a:bodyPr>
          <a:p>
            <a:r>
              <a:rPr lang="en-US" altLang="zh-CN" b="1">
                <a:solidFill>
                  <a:schemeClr val="tx1"/>
                </a:solidFill>
              </a:rPr>
              <a:t>Q:</a:t>
            </a:r>
            <a:r>
              <a:rPr lang="zh-CN" altLang="en-US" b="1">
                <a:solidFill>
                  <a:schemeClr val="tx1"/>
                </a:solidFill>
              </a:rPr>
              <a:t>为什么不能把简单循环的测试方法直接应用到嵌套循环中？</a:t>
            </a:r>
            <a:endParaRPr lang="zh-CN" altLang="en-US" b="1">
              <a:solidFill>
                <a:schemeClr val="tx1"/>
              </a:solidFill>
            </a:endParaRPr>
          </a:p>
          <a:p>
            <a:endParaRPr lang="zh-CN" altLang="en-US" b="1">
              <a:solidFill>
                <a:schemeClr val="tx1"/>
              </a:solidFill>
            </a:endParaRPr>
          </a:p>
          <a:p>
            <a:endParaRPr lang="zh-CN" altLang="en-US" b="1">
              <a:solidFill>
                <a:schemeClr val="tx1"/>
              </a:solidFill>
            </a:endParaRPr>
          </a:p>
          <a:p>
            <a:endParaRPr lang="zh-CN" altLang="en-US" b="1">
              <a:solidFill>
                <a:schemeClr val="tx1"/>
              </a:solidFill>
            </a:endParaRPr>
          </a:p>
          <a:p>
            <a:endParaRPr lang="zh-CN" altLang="en-US" b="1">
              <a:solidFill>
                <a:schemeClr val="tx1"/>
              </a:solidFill>
            </a:endParaRPr>
          </a:p>
          <a:p>
            <a:endParaRPr lang="zh-CN" altLang="en-US" b="1">
              <a:solidFill>
                <a:schemeClr val="tx1"/>
              </a:solidFill>
            </a:endParaRPr>
          </a:p>
          <a:p>
            <a:endParaRPr lang="zh-CN" altLang="en-US" b="1">
              <a:solidFill>
                <a:schemeClr val="tx1"/>
              </a:solidFill>
            </a:endParaRPr>
          </a:p>
          <a:p>
            <a:r>
              <a:rPr lang="en-US" altLang="zh-CN" b="1">
                <a:solidFill>
                  <a:schemeClr val="tx1"/>
                </a:solidFill>
              </a:rPr>
              <a:t>A:</a:t>
            </a:r>
            <a:r>
              <a:rPr lang="zh-CN" altLang="en-US">
                <a:sym typeface="+mn-ea"/>
              </a:rPr>
              <a:t>如果把简单循环的测试方法直接用到嵌套循环，可能的测试数就会随嵌套层数的增加按几何数增长，这会导致不切实际的测试数目</a:t>
            </a:r>
            <a:endParaRPr lang="zh-CN" altLang="en-US" b="1">
              <a:solidFill>
                <a:schemeClr val="tx1"/>
              </a:solidFill>
            </a:endParaRPr>
          </a:p>
          <a:p>
            <a:pPr marL="742950" lvl="1" indent="-285750">
              <a:buFont typeface="Arial" panose="020B0604020202020204" pitchFamily="34" charset="0"/>
              <a:buNone/>
            </a:pPr>
            <a:endParaRPr lang="zh-CN" altLang="en-US" sz="1400" b="1">
              <a:solidFill>
                <a:schemeClr val="tx1"/>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3363179" y="2018999"/>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黑盒测试</a:t>
            </a:r>
            <a:endParaRPr lang="zh-CN" altLang="en-US" sz="4400" b="1" kern="0">
              <a:solidFill>
                <a:schemeClr val="accent3"/>
              </a:solidFill>
              <a:cs typeface="+mn-ea"/>
              <a:sym typeface="+mn-lt"/>
            </a:endParaRPr>
          </a:p>
        </p:txBody>
      </p:sp>
      <p:sp>
        <p:nvSpPr>
          <p:cNvPr id="24" name="矩形: 圆角 23"/>
          <p:cNvSpPr/>
          <p:nvPr/>
        </p:nvSpPr>
        <p:spPr>
          <a:xfrm>
            <a:off x="2204720" y="2105660"/>
            <a:ext cx="7937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27355" y="476885"/>
            <a:ext cx="8424545" cy="3538220"/>
          </a:xfrm>
          <a:prstGeom prst="rect">
            <a:avLst/>
          </a:prstGeom>
          <a:noFill/>
        </p:spPr>
        <p:txBody>
          <a:bodyPr wrap="square" rtlCol="0">
            <a:spAutoFit/>
          </a:bodyPr>
          <a:p>
            <a:r>
              <a:rPr lang="en-US"/>
              <a:t>7.</a:t>
            </a:r>
            <a:r>
              <a:rPr lang="zh-CN" altLang="en-US"/>
              <a:t>黑盒测试技术</a:t>
            </a:r>
            <a:endParaRPr lang="zh-CN" altLang="en-US"/>
          </a:p>
          <a:p>
            <a:r>
              <a:rPr lang="en-US" altLang="zh-CN"/>
              <a:t>	</a:t>
            </a:r>
            <a:r>
              <a:rPr lang="en-US" altLang="zh-CN" sz="1600"/>
              <a:t>7.1 </a:t>
            </a:r>
            <a:r>
              <a:rPr lang="zh-CN" altLang="en-US" sz="1600"/>
              <a:t>等价划分</a:t>
            </a:r>
            <a:endParaRPr lang="zh-CN" altLang="en-US" sz="1600"/>
          </a:p>
          <a:p>
            <a:r>
              <a:rPr lang="en-US" altLang="zh-CN"/>
              <a:t>		</a:t>
            </a:r>
            <a:r>
              <a:rPr lang="zh-CN" altLang="en-US" sz="1400"/>
              <a:t>等价划分是一种黑盒测试技术，这种技术把程序的输入域划分为若干个数据类，据此到处测试用例。一个理想的测试用例能独自发现一类</a:t>
            </a:r>
            <a:r>
              <a:rPr lang="zh-CN" altLang="en-US" sz="1400"/>
              <a:t>错误</a:t>
            </a:r>
            <a:endParaRPr lang="zh-CN" altLang="en-US" sz="1400"/>
          </a:p>
          <a:p>
            <a:r>
              <a:rPr lang="zh-CN" altLang="en-US">
                <a:solidFill>
                  <a:schemeClr val="tx1"/>
                </a:solidFill>
              </a:rPr>
              <a:t>。</a:t>
            </a:r>
            <a:r>
              <a:rPr lang="en-US" altLang="zh-CN">
                <a:solidFill>
                  <a:schemeClr val="tx1"/>
                </a:solidFill>
              </a:rPr>
              <a:t>	</a:t>
            </a:r>
            <a:r>
              <a:rPr lang="en-US" altLang="zh-CN" sz="1600">
                <a:solidFill>
                  <a:schemeClr val="tx1"/>
                </a:solidFill>
              </a:rPr>
              <a:t>7.2</a:t>
            </a:r>
            <a:r>
              <a:rPr lang="zh-CN" altLang="en-US" sz="1600">
                <a:solidFill>
                  <a:schemeClr val="tx1"/>
                </a:solidFill>
              </a:rPr>
              <a:t>边界值分析</a:t>
            </a:r>
            <a:endParaRPr lang="zh-CN" altLang="en-US" sz="1600">
              <a:solidFill>
                <a:schemeClr val="tx1"/>
              </a:solidFill>
            </a:endParaRPr>
          </a:p>
          <a:p>
            <a:r>
              <a:rPr lang="en-US" altLang="zh-CN" sz="1600">
                <a:solidFill>
                  <a:schemeClr val="tx1"/>
                </a:solidFill>
              </a:rPr>
              <a:t>		</a:t>
            </a:r>
            <a:r>
              <a:rPr lang="zh-CN" altLang="en-US" sz="1600">
                <a:solidFill>
                  <a:schemeClr val="tx1"/>
                </a:solidFill>
              </a:rPr>
              <a:t>使用边界值分析方法设计测试方案首先应该确定边界情况，通常输入等价类和输出等价类的边界，就是应该着重测试的程序边界情况。选取的测试数据应该刚好等于，刚刚小于和刚刚大于边界值。按照边界值分析法，应该选取刚好等于，稍小于和稍大于等价类边界值的数据作为测试数据，而不是选取每个等价类内的典型值或任意值作为测试数据</a:t>
            </a:r>
            <a:endParaRPr lang="zh-CN" altLang="en-US" sz="1200">
              <a:solidFill>
                <a:schemeClr val="tx1"/>
              </a:solidFill>
            </a:endParaRPr>
          </a:p>
          <a:p>
            <a:pPr lvl="1" indent="0" algn="l">
              <a:buFont typeface="Arial" panose="020B0604020202020204" pitchFamily="34" charset="0"/>
              <a:buNone/>
            </a:pPr>
            <a:r>
              <a:rPr lang="en-US" altLang="zh-CN" sz="1600">
                <a:solidFill>
                  <a:schemeClr val="tx1"/>
                </a:solidFill>
              </a:rPr>
              <a:t>7.3</a:t>
            </a:r>
            <a:r>
              <a:rPr lang="zh-CN" altLang="en-US" sz="1600">
                <a:solidFill>
                  <a:schemeClr val="tx1"/>
                </a:solidFill>
              </a:rPr>
              <a:t>错误推测</a:t>
            </a:r>
            <a:endParaRPr lang="zh-CN" altLang="en-US" sz="1600">
              <a:solidFill>
                <a:schemeClr val="tx1"/>
              </a:solidFill>
            </a:endParaRPr>
          </a:p>
          <a:p>
            <a:pPr lvl="1" indent="0" algn="l">
              <a:buFont typeface="Arial" panose="020B0604020202020204" pitchFamily="34" charset="0"/>
              <a:buNone/>
            </a:pPr>
            <a:r>
              <a:rPr lang="en-US" altLang="zh-CN" sz="1600">
                <a:solidFill>
                  <a:schemeClr val="tx1"/>
                </a:solidFill>
              </a:rPr>
              <a:t>	</a:t>
            </a:r>
            <a:r>
              <a:rPr lang="zh-CN" altLang="en-US" sz="1600">
                <a:solidFill>
                  <a:schemeClr val="tx1"/>
                </a:solidFill>
              </a:rPr>
              <a:t>错误推测的</a:t>
            </a:r>
            <a:r>
              <a:rPr lang="zh-CN" altLang="en-US" sz="1400">
                <a:solidFill>
                  <a:schemeClr val="tx1"/>
                </a:solidFill>
              </a:rPr>
              <a:t>基本想法是</a:t>
            </a:r>
            <a:endParaRPr lang="zh-CN" altLang="en-US" sz="1400">
              <a:solidFill>
                <a:schemeClr val="tx1"/>
              </a:solidFill>
            </a:endParaRPr>
          </a:p>
          <a:p>
            <a:pPr lvl="1" indent="0" algn="l">
              <a:buFont typeface="Arial" panose="020B0604020202020204" pitchFamily="34" charset="0"/>
              <a:buNone/>
            </a:pPr>
            <a:r>
              <a:rPr lang="zh-CN" altLang="en-US" sz="1400">
                <a:solidFill>
                  <a:schemeClr val="tx1"/>
                </a:solidFill>
              </a:rPr>
              <a:t>列举出程序中可能有的错误和容易发生错误的特殊情况，并且根据他们选择测试方案。还应该仔细分析程序规格说明书，注意找出其中遗漏或省略的部分，以便设计相应的测试方案，检测程序员对这些部分的处理是否正确。</a:t>
            </a:r>
            <a:endParaRPr lang="zh-CN" altLang="en-US" sz="14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3363179" y="2018999"/>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调试</a:t>
            </a:r>
            <a:endParaRPr lang="zh-CN" altLang="en-US" sz="4400" b="1" kern="0">
              <a:solidFill>
                <a:schemeClr val="accent3"/>
              </a:solidFill>
              <a:cs typeface="+mn-ea"/>
              <a:sym typeface="+mn-lt"/>
            </a:endParaRPr>
          </a:p>
        </p:txBody>
      </p:sp>
      <p:sp>
        <p:nvSpPr>
          <p:cNvPr id="24" name="矩形: 圆角 23"/>
          <p:cNvSpPr/>
          <p:nvPr/>
        </p:nvSpPr>
        <p:spPr>
          <a:xfrm>
            <a:off x="2204720" y="2105660"/>
            <a:ext cx="7937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6400" y="858520"/>
            <a:ext cx="8424545" cy="3199765"/>
          </a:xfrm>
          <a:prstGeom prst="rect">
            <a:avLst/>
          </a:prstGeom>
          <a:noFill/>
        </p:spPr>
        <p:txBody>
          <a:bodyPr wrap="square" rtlCol="0">
            <a:spAutoFit/>
          </a:bodyPr>
          <a:p>
            <a:r>
              <a:rPr lang="en-US"/>
              <a:t>8.</a:t>
            </a:r>
            <a:r>
              <a:rPr lang="zh-CN" altLang="en-US"/>
              <a:t>调试</a:t>
            </a:r>
            <a:endParaRPr lang="zh-CN" altLang="en-US"/>
          </a:p>
          <a:p>
            <a:r>
              <a:rPr lang="en-US" altLang="zh-CN"/>
              <a:t>	</a:t>
            </a:r>
            <a:r>
              <a:rPr lang="en-US" altLang="zh-CN" sz="1600"/>
              <a:t>8.1</a:t>
            </a:r>
            <a:r>
              <a:rPr lang="zh-CN" altLang="en-US" sz="1600"/>
              <a:t>调试过程</a:t>
            </a:r>
            <a:endParaRPr lang="zh-CN" altLang="en-US" sz="1600"/>
          </a:p>
          <a:p>
            <a:r>
              <a:rPr lang="en-US" altLang="zh-CN"/>
              <a:t>		</a:t>
            </a:r>
            <a:r>
              <a:rPr lang="zh-CN" altLang="en-US" sz="1400"/>
              <a:t>调试过程总会有以下两种结果之一：</a:t>
            </a:r>
            <a:endParaRPr lang="zh-CN" altLang="en-US" sz="1400"/>
          </a:p>
          <a:p>
            <a:r>
              <a:rPr lang="en-US" altLang="zh-CN" sz="1400"/>
              <a:t>			1.</a:t>
            </a:r>
            <a:r>
              <a:rPr lang="zh-CN" altLang="en-US" sz="1400"/>
              <a:t>找到问题的原因，并把问题改正和排除掉了</a:t>
            </a:r>
            <a:endParaRPr lang="zh-CN" altLang="en-US" sz="1400"/>
          </a:p>
          <a:p>
            <a:r>
              <a:rPr lang="en-US" altLang="zh-CN" sz="1400"/>
              <a:t>			2.</a:t>
            </a:r>
            <a:r>
              <a:rPr lang="zh-CN" altLang="en-US" sz="1400"/>
              <a:t>没找到问题的原因。</a:t>
            </a:r>
            <a:endParaRPr lang="en-US" altLang="zh-CN">
              <a:solidFill>
                <a:schemeClr val="tx1"/>
              </a:solidFill>
            </a:endParaRPr>
          </a:p>
          <a:p>
            <a:pPr marL="0" lvl="0" indent="0" algn="l">
              <a:buFont typeface="Arial" panose="020B0604020202020204" pitchFamily="34" charset="0"/>
              <a:buNone/>
            </a:pPr>
            <a:r>
              <a:rPr lang="en-US" altLang="zh-CN">
                <a:solidFill>
                  <a:schemeClr val="tx1"/>
                </a:solidFill>
              </a:rPr>
              <a:t>	</a:t>
            </a:r>
            <a:r>
              <a:rPr lang="en-US" sz="1600">
                <a:solidFill>
                  <a:schemeClr val="tx1"/>
                </a:solidFill>
              </a:rPr>
              <a:t>8.2</a:t>
            </a:r>
            <a:r>
              <a:rPr lang="zh-CN" altLang="en-US" sz="1600">
                <a:solidFill>
                  <a:schemeClr val="tx1"/>
                </a:solidFill>
              </a:rPr>
              <a:t>调试途径</a:t>
            </a:r>
            <a:endParaRPr lang="zh-CN" altLang="en-US" sz="1600">
              <a:solidFill>
                <a:schemeClr val="tx1"/>
              </a:solidFill>
            </a:endParaRPr>
          </a:p>
          <a:p>
            <a:pPr marL="0" lvl="0" indent="0" algn="l">
              <a:buFont typeface="Arial" panose="020B0604020202020204" pitchFamily="34" charset="0"/>
              <a:buNone/>
            </a:pPr>
            <a:r>
              <a:rPr lang="en-US" altLang="zh-CN" sz="1600">
                <a:solidFill>
                  <a:schemeClr val="tx1"/>
                </a:solidFill>
              </a:rPr>
              <a:t>		</a:t>
            </a:r>
            <a:r>
              <a:rPr lang="zh-CN" altLang="en-US" sz="1400">
                <a:solidFill>
                  <a:schemeClr val="tx1"/>
                </a:solidFill>
              </a:rPr>
              <a:t>调试途径</a:t>
            </a:r>
            <a:r>
              <a:rPr lang="zh-CN" altLang="en-US" sz="1400">
                <a:solidFill>
                  <a:schemeClr val="tx1"/>
                </a:solidFill>
              </a:rPr>
              <a:t>：</a:t>
            </a:r>
            <a:endParaRPr lang="zh-CN" altLang="en-US" sz="1400">
              <a:solidFill>
                <a:schemeClr val="tx1"/>
              </a:solidFill>
            </a:endParaRPr>
          </a:p>
          <a:p>
            <a:pPr marL="1543050" lvl="3" indent="-171450" algn="l">
              <a:buFont typeface="Arial" panose="020B0604020202020204" pitchFamily="34" charset="0"/>
              <a:buChar char="•"/>
            </a:pPr>
            <a:r>
              <a:rPr lang="zh-CN" altLang="en-US" sz="1200">
                <a:solidFill>
                  <a:schemeClr val="tx1"/>
                </a:solidFill>
              </a:rPr>
              <a:t>蛮干法：蛮干法是寻找错误原因最低效的方法。按照</a:t>
            </a:r>
            <a:r>
              <a:rPr lang="en-US" altLang="zh-CN" sz="1200">
                <a:solidFill>
                  <a:schemeClr val="tx1"/>
                </a:solidFill>
              </a:rPr>
              <a:t>“</a:t>
            </a:r>
            <a:r>
              <a:rPr lang="zh-CN" altLang="en-US" sz="1200">
                <a:solidFill>
                  <a:schemeClr val="tx1"/>
                </a:solidFill>
              </a:rPr>
              <a:t>让计算机自己寻找软件错误</a:t>
            </a:r>
            <a:r>
              <a:rPr lang="en-US" altLang="zh-CN" sz="1200">
                <a:solidFill>
                  <a:schemeClr val="tx1"/>
                </a:solidFill>
              </a:rPr>
              <a:t>”</a:t>
            </a:r>
            <a:r>
              <a:rPr lang="zh-CN" altLang="en-US" sz="1200">
                <a:solidFill>
                  <a:schemeClr val="tx1"/>
                </a:solidFill>
              </a:rPr>
              <a:t>的策略，这种方法印出内存的内容激活对运行过程的的跟踪，并在程序中到处都写上</a:t>
            </a:r>
            <a:r>
              <a:rPr lang="en-US" altLang="zh-CN" sz="1200">
                <a:solidFill>
                  <a:schemeClr val="tx1"/>
                </a:solidFill>
              </a:rPr>
              <a:t>WRITE</a:t>
            </a:r>
            <a:r>
              <a:rPr lang="zh-CN" altLang="en-US" sz="1200">
                <a:solidFill>
                  <a:schemeClr val="tx1"/>
                </a:solidFill>
              </a:rPr>
              <a:t>语句，希望在这样生成的信息海洋的某个地方发现错误原因的线索。</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回溯法：调试小程序时这种方法是有效的。具体做法是：从发现症状的地方开始，人工沿程序的控制流往回追踪分析源程序代码，直到找到错误原因。</a:t>
            </a:r>
            <a:endParaRPr lang="zh-CN" altLang="en-US" sz="1200">
              <a:solidFill>
                <a:schemeClr val="tx1"/>
              </a:solidFill>
            </a:endParaRPr>
          </a:p>
          <a:p>
            <a:pPr marL="1543050" lvl="3" indent="-171450" algn="l">
              <a:buFont typeface="Arial" panose="020B0604020202020204" pitchFamily="34" charset="0"/>
              <a:buChar char="•"/>
            </a:pPr>
            <a:r>
              <a:rPr lang="zh-CN" altLang="en-US" sz="1200">
                <a:solidFill>
                  <a:schemeClr val="tx1"/>
                </a:solidFill>
              </a:rPr>
              <a:t>原因排除法：对分查找法，归纳法和演绎法。</a:t>
            </a:r>
            <a:endParaRPr lang="zh-CN" altLang="en-US" sz="1200">
              <a:solidFill>
                <a:schemeClr val="tx1"/>
              </a:solidFill>
            </a:endParaRPr>
          </a:p>
          <a:p>
            <a:pPr lvl="1" indent="0" algn="l">
              <a:buFont typeface="Arial" panose="020B0604020202020204" pitchFamily="34" charset="0"/>
              <a:buNone/>
            </a:pPr>
            <a:endParaRPr lang="zh-CN" altLang="en-US" sz="14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3363179" y="2018999"/>
            <a:ext cx="29768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软件可靠性</a:t>
            </a:r>
            <a:endParaRPr lang="zh-CN" altLang="en-US" sz="4400" b="1" kern="0">
              <a:solidFill>
                <a:schemeClr val="accent3"/>
              </a:solidFill>
              <a:cs typeface="+mn-ea"/>
              <a:sym typeface="+mn-lt"/>
            </a:endParaRPr>
          </a:p>
        </p:txBody>
      </p:sp>
      <p:sp>
        <p:nvSpPr>
          <p:cNvPr id="24" name="矩形: 圆角 23"/>
          <p:cNvSpPr/>
          <p:nvPr/>
        </p:nvSpPr>
        <p:spPr>
          <a:xfrm>
            <a:off x="2204720" y="2105660"/>
            <a:ext cx="7937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1960" y="448310"/>
            <a:ext cx="8424545" cy="4625975"/>
          </a:xfrm>
          <a:prstGeom prst="rect">
            <a:avLst/>
          </a:prstGeom>
          <a:noFill/>
        </p:spPr>
        <p:txBody>
          <a:bodyPr wrap="square" rtlCol="0">
            <a:spAutoFit/>
          </a:bodyPr>
          <a:p>
            <a:r>
              <a:rPr lang="en-US"/>
              <a:t>9.</a:t>
            </a:r>
            <a:r>
              <a:rPr lang="zh-CN" altLang="en-US"/>
              <a:t>软件可靠性</a:t>
            </a:r>
            <a:endParaRPr lang="zh-CN" altLang="en-US"/>
          </a:p>
          <a:p>
            <a:r>
              <a:rPr lang="en-US" altLang="zh-CN"/>
              <a:t>	</a:t>
            </a:r>
            <a:r>
              <a:rPr lang="en-US" altLang="zh-CN" sz="1600"/>
              <a:t>9.1 </a:t>
            </a:r>
            <a:r>
              <a:rPr lang="zh-CN" altLang="en-US" sz="1600"/>
              <a:t>基本概念</a:t>
            </a:r>
            <a:r>
              <a:rPr lang="en-US" altLang="zh-CN"/>
              <a:t>		</a:t>
            </a:r>
            <a:endParaRPr lang="en-US" altLang="zh-CN"/>
          </a:p>
          <a:p>
            <a:r>
              <a:rPr lang="en-US" altLang="zh-CN"/>
              <a:t>		</a:t>
            </a:r>
            <a:r>
              <a:rPr lang="zh-CN" altLang="en-US" sz="1400"/>
              <a:t>软件可靠性的定义：软件可靠性</a:t>
            </a:r>
            <a:r>
              <a:rPr lang="zh-CN" altLang="en-US" sz="1400"/>
              <a:t>是程序在给定的时间间隔内，按照规格说明书的规定成功的运行的概率。</a:t>
            </a:r>
            <a:endParaRPr lang="en-US" altLang="zh-CN">
              <a:solidFill>
                <a:schemeClr val="tx1"/>
              </a:solidFill>
            </a:endParaRPr>
          </a:p>
          <a:p>
            <a:pPr marL="0" lvl="0" indent="0" algn="l">
              <a:buFont typeface="Arial" panose="020B0604020202020204" pitchFamily="34" charset="0"/>
              <a:buNone/>
            </a:pPr>
            <a:r>
              <a:rPr lang="en-US" altLang="zh-CN">
                <a:solidFill>
                  <a:schemeClr val="tx1"/>
                </a:solidFill>
              </a:rPr>
              <a:t>		</a:t>
            </a:r>
            <a:r>
              <a:rPr lang="zh-CN" altLang="en-US" sz="1400">
                <a:sym typeface="+mn-ea"/>
              </a:rPr>
              <a:t>软件可用性的定义：软件可用性是程序在给定的时间点，按照规格说明书的规定，成功地运行的概率。</a:t>
            </a:r>
            <a:endParaRPr lang="en-US" altLang="zh-CN">
              <a:solidFill>
                <a:schemeClr val="tx1"/>
              </a:solidFill>
            </a:endParaRPr>
          </a:p>
          <a:p>
            <a:pPr marL="0" lvl="0" indent="0" algn="l">
              <a:buFont typeface="Arial" panose="020B0604020202020204" pitchFamily="34" charset="0"/>
              <a:buNone/>
            </a:pPr>
            <a:r>
              <a:rPr lang="en-US" altLang="zh-CN">
                <a:solidFill>
                  <a:schemeClr val="tx1"/>
                </a:solidFill>
              </a:rPr>
              <a:t>	</a:t>
            </a:r>
            <a:r>
              <a:rPr lang="en-US" sz="1600">
                <a:solidFill>
                  <a:schemeClr val="tx1"/>
                </a:solidFill>
              </a:rPr>
              <a:t>9.2</a:t>
            </a:r>
            <a:r>
              <a:rPr lang="zh-CN" altLang="en-US" sz="1600">
                <a:solidFill>
                  <a:schemeClr val="tx1"/>
                </a:solidFill>
              </a:rPr>
              <a:t>估算平均无故障时间</a:t>
            </a:r>
            <a:r>
              <a:rPr lang="zh-CN" altLang="en-US" sz="1600">
                <a:solidFill>
                  <a:schemeClr val="tx1"/>
                </a:solidFill>
              </a:rPr>
              <a:t>的方法</a:t>
            </a:r>
            <a:endParaRPr lang="zh-CN" altLang="en-US" sz="1600">
              <a:solidFill>
                <a:schemeClr val="tx1"/>
              </a:solidFill>
            </a:endParaRPr>
          </a:p>
          <a:p>
            <a:pPr marL="0" marR="0" lvl="0" indent="0" algn="l" defTabSz="914400" rtl="0" eaLnBrk="0" fontAlgn="base" latinLnBrk="0" hangingPunct="0">
              <a:lnSpc>
                <a:spcPts val="3200"/>
              </a:lnSpc>
              <a:spcBef>
                <a:spcPct val="0"/>
              </a:spcBef>
              <a:spcAft>
                <a:spcPct val="0"/>
              </a:spcAft>
              <a:buClrTx/>
              <a:buSzTx/>
              <a:buFontTx/>
              <a:buNone/>
              <a:defRPr/>
            </a:pPr>
            <a:r>
              <a:rPr lang="en-US" altLang="zh-CN" sz="1600">
                <a:solidFill>
                  <a:schemeClr val="tx1"/>
                </a:solidFill>
              </a:rPr>
              <a:t>	</a:t>
            </a:r>
            <a:r>
              <a:rPr lang="en-US" altLang="zh-CN" sz="1400" b="1" noProof="0" dirty="0" smtClean="0">
                <a:ln>
                  <a:noFill/>
                </a:ln>
                <a:effectLst/>
                <a:uLnTx/>
                <a:uFillTx/>
                <a:latin typeface="+mn-ea"/>
                <a:sym typeface="+mn-ea"/>
              </a:rPr>
              <a:t>1.</a:t>
            </a:r>
            <a:r>
              <a:rPr lang="zh-CN" altLang="en-US" sz="1400" b="1" noProof="0" dirty="0" smtClean="0">
                <a:ln>
                  <a:noFill/>
                </a:ln>
                <a:effectLst/>
                <a:uLnTx/>
                <a:uFillTx/>
                <a:latin typeface="+mn-ea"/>
                <a:sym typeface="+mn-ea"/>
              </a:rPr>
              <a:t>符号</a:t>
            </a:r>
            <a:endParaRPr kumimoji="0" lang="en-US" altLang="zh-CN" sz="1400" b="1" i="0" u="none" strike="noStrike" kern="1200" cap="none" spc="0" normalizeH="0" baseline="0" noProof="0" dirty="0" smtClean="0">
              <a:ln>
                <a:noFill/>
              </a:ln>
              <a:solidFill>
                <a:schemeClr val="tx1"/>
              </a:solidFill>
              <a:effectLst/>
              <a:uLnTx/>
              <a:uFillTx/>
              <a:latin typeface="+mn-ea"/>
              <a:ea typeface="+mn-ea"/>
              <a:cs typeface="+mn-cs"/>
            </a:endParaRPr>
          </a:p>
          <a:p>
            <a:pPr marL="1657350" marR="0" lvl="3" indent="-285750" algn="l" defTabSz="914400" rtl="0" eaLnBrk="0" fontAlgn="base" latinLnBrk="0" hangingPunct="0">
              <a:lnSpc>
                <a:spcPct val="100000"/>
              </a:lnSpc>
              <a:spcBef>
                <a:spcPct val="0"/>
              </a:spcBef>
              <a:spcAft>
                <a:spcPct val="0"/>
              </a:spcAft>
              <a:buClrTx/>
              <a:buSzTx/>
              <a:buFontTx/>
              <a:buNone/>
              <a:defRPr/>
            </a:pPr>
            <a:r>
              <a:rPr lang="zh-CN" altLang="zh-CN" sz="1400" noProof="0" dirty="0">
                <a:ln>
                  <a:noFill/>
                </a:ln>
                <a:effectLst/>
                <a:uLnTx/>
                <a:uFillTx/>
                <a:latin typeface="Arial" panose="020B0604020202020204" pitchFamily="34" charset="0"/>
                <a:ea typeface="宋体" panose="02010600030101010101" pitchFamily="2" charset="-122"/>
                <a:sym typeface="+mn-ea"/>
              </a:rPr>
              <a:t>在估算</a:t>
            </a:r>
            <a:r>
              <a:rPr lang="en-US"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MTTF</a:t>
            </a:r>
            <a:r>
              <a:rPr lang="zh-CN" altLang="zh-CN" sz="1400" noProof="0" dirty="0">
                <a:ln>
                  <a:noFill/>
                </a:ln>
                <a:effectLst/>
                <a:uLnTx/>
                <a:uFillTx/>
                <a:latin typeface="Arial" panose="020B0604020202020204" pitchFamily="34" charset="0"/>
                <a:ea typeface="宋体" panose="02010600030101010101" pitchFamily="2" charset="-122"/>
                <a:sym typeface="+mn-ea"/>
              </a:rPr>
              <a:t>的过程中使用下述符号表示有关的数量。</a:t>
            </a:r>
            <a:endParaRPr kumimoji="0" lang="zh-CN"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1657350" marR="0" lvl="3" indent="-285750" algn="l" defTabSz="914400" rtl="0" eaLnBrk="0" fontAlgn="base" latinLnBrk="0" hangingPunct="0">
              <a:lnSpc>
                <a:spcPct val="100000"/>
              </a:lnSpc>
              <a:spcBef>
                <a:spcPct val="0"/>
              </a:spcBef>
              <a:spcAft>
                <a:spcPct val="0"/>
              </a:spcAft>
              <a:buClrTx/>
              <a:buSzTx/>
              <a:buFontTx/>
              <a:buNone/>
              <a:defRPr/>
            </a:pP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T</a:t>
            </a:r>
            <a:r>
              <a:rPr lang="zh-CN" altLang="zh-CN" sz="1400" noProof="0" dirty="0">
                <a:ln>
                  <a:noFill/>
                </a:ln>
                <a:effectLst/>
                <a:uLnTx/>
                <a:uFillTx/>
                <a:latin typeface="Arial" panose="020B0604020202020204" pitchFamily="34" charset="0"/>
                <a:ea typeface="宋体" panose="02010600030101010101" pitchFamily="2" charset="-122"/>
                <a:sym typeface="+mn-ea"/>
              </a:rPr>
              <a:t>——测试之前程序中错误总数；</a:t>
            </a:r>
            <a:endParaRPr kumimoji="0" lang="zh-CN"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1657350" marR="0" lvl="3" indent="-285750" algn="l" defTabSz="914400" rtl="0" eaLnBrk="0" fontAlgn="base" latinLnBrk="0" hangingPunct="0">
              <a:lnSpc>
                <a:spcPct val="100000"/>
              </a:lnSpc>
              <a:spcBef>
                <a:spcPct val="0"/>
              </a:spcBef>
              <a:spcAft>
                <a:spcPct val="0"/>
              </a:spcAft>
              <a:buClrTx/>
              <a:buSzTx/>
              <a:buFontTx/>
              <a:buNone/>
              <a:defRPr/>
            </a:pP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1400" i="1" baseline="-25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T</a:t>
            </a:r>
            <a:r>
              <a:rPr lang="zh-CN" altLang="zh-CN" sz="1400" noProof="0" dirty="0">
                <a:ln>
                  <a:noFill/>
                </a:ln>
                <a:effectLst/>
                <a:uLnTx/>
                <a:uFillTx/>
                <a:latin typeface="Arial" panose="020B0604020202020204" pitchFamily="34" charset="0"/>
                <a:ea typeface="宋体" panose="02010600030101010101" pitchFamily="2" charset="-122"/>
                <a:sym typeface="+mn-ea"/>
              </a:rPr>
              <a:t>——程序长度</a:t>
            </a:r>
            <a:r>
              <a:rPr lang="en-US" altLang="zh-CN" sz="1400" noProof="0" dirty="0">
                <a:ln>
                  <a:noFill/>
                </a:ln>
                <a:effectLst/>
                <a:uLnTx/>
                <a:uFillTx/>
                <a:latin typeface="Arial" panose="020B0604020202020204" pitchFamily="34" charset="0"/>
                <a:ea typeface="宋体" panose="02010600030101010101" pitchFamily="2" charset="-122"/>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机器指令总数</a:t>
            </a:r>
            <a:r>
              <a:rPr lang="en-US" altLang="zh-CN" sz="1400" noProof="0" dirty="0">
                <a:ln>
                  <a:noFill/>
                </a:ln>
                <a:effectLst/>
                <a:uLnTx/>
                <a:uFillTx/>
                <a:latin typeface="Arial" panose="020B0604020202020204" pitchFamily="34" charset="0"/>
                <a:ea typeface="宋体" panose="02010600030101010101" pitchFamily="2" charset="-122"/>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a:t>
            </a:r>
            <a:endParaRPr kumimoji="0" lang="zh-CN"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1657350" marR="0" lvl="3" indent="-285750" algn="l" defTabSz="914400" rtl="0" eaLnBrk="0" fontAlgn="base" latinLnBrk="0" hangingPunct="0">
              <a:lnSpc>
                <a:spcPct val="100000"/>
              </a:lnSpc>
              <a:spcBef>
                <a:spcPct val="0"/>
              </a:spcBef>
              <a:spcAft>
                <a:spcPct val="0"/>
              </a:spcAft>
              <a:buClrTx/>
              <a:buSzTx/>
              <a:buFontTx/>
              <a:buNone/>
              <a:defRPr/>
            </a:pP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zh-CN" altLang="zh-CN" sz="1400" noProof="0" dirty="0" smtClean="0">
                <a:ln>
                  <a:noFill/>
                </a:ln>
                <a:effectLst/>
                <a:uLnTx/>
                <a:uFillTx/>
                <a:latin typeface="Arial" panose="020B0604020202020204" pitchFamily="34" charset="0"/>
                <a:ea typeface="宋体" panose="02010600030101010101" pitchFamily="2" charset="-122"/>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测试</a:t>
            </a:r>
            <a:r>
              <a:rPr lang="en-US" altLang="zh-CN" sz="1400" noProof="0" dirty="0">
                <a:ln>
                  <a:noFill/>
                </a:ln>
                <a:effectLst/>
                <a:uLnTx/>
                <a:uFillTx/>
                <a:latin typeface="Arial" panose="020B0604020202020204" pitchFamily="34" charset="0"/>
                <a:ea typeface="宋体" panose="02010600030101010101" pitchFamily="2" charset="-122"/>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包括调试</a:t>
            </a:r>
            <a:r>
              <a:rPr lang="en-US" altLang="zh-CN" sz="1400" noProof="0" dirty="0">
                <a:ln>
                  <a:noFill/>
                </a:ln>
                <a:effectLst/>
                <a:uLnTx/>
                <a:uFillTx/>
                <a:latin typeface="Arial" panose="020B0604020202020204" pitchFamily="34" charset="0"/>
                <a:ea typeface="宋体" panose="02010600030101010101" pitchFamily="2" charset="-122"/>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时间；</a:t>
            </a:r>
            <a:endParaRPr kumimoji="0" lang="zh-CN"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1657350" marR="0" lvl="3" indent="-285750" algn="l" defTabSz="914400" rtl="0" eaLnBrk="0" fontAlgn="base" latinLnBrk="0" hangingPunct="0">
              <a:lnSpc>
                <a:spcPct val="100000"/>
              </a:lnSpc>
              <a:spcBef>
                <a:spcPts val="0"/>
              </a:spcBef>
              <a:spcAft>
                <a:spcPts val="0"/>
              </a:spcAft>
              <a:buClrTx/>
              <a:buSzTx/>
              <a:buFontTx/>
              <a:buNone/>
              <a:defRPr/>
            </a:pP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d</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——在</a:t>
            </a:r>
            <a:r>
              <a:rPr lang="en-US" altLang="zh-CN" sz="1400" noProof="0" dirty="0">
                <a:ln>
                  <a:noFill/>
                </a:ln>
                <a:effectLst/>
                <a:uLnTx/>
                <a:uFillTx/>
                <a:latin typeface="Arial" panose="020B0604020202020204" pitchFamily="34" charset="0"/>
                <a:ea typeface="宋体" panose="02010600030101010101" pitchFamily="2" charset="-122"/>
                <a:sym typeface="+mn-ea"/>
              </a:rPr>
              <a:t>0</a:t>
            </a:r>
            <a:r>
              <a:rPr lang="zh-CN" altLang="zh-CN" sz="1400" noProof="0" dirty="0">
                <a:ln>
                  <a:noFill/>
                </a:ln>
                <a:effectLst/>
                <a:uLnTx/>
                <a:uFillTx/>
                <a:latin typeface="Arial" panose="020B0604020202020204" pitchFamily="34" charset="0"/>
                <a:ea typeface="宋体" panose="02010600030101010101" pitchFamily="2" charset="-122"/>
                <a:sym typeface="+mn-ea"/>
              </a:rPr>
              <a:t>至</a:t>
            </a:r>
            <a:r>
              <a:rPr lang="zh-CN"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zh-CN" altLang="zh-CN" sz="1400" noProof="0" dirty="0">
                <a:ln>
                  <a:noFill/>
                </a:ln>
                <a:effectLst/>
                <a:uLnTx/>
                <a:uFillTx/>
                <a:latin typeface="Arial" panose="020B0604020202020204" pitchFamily="34" charset="0"/>
                <a:ea typeface="宋体" panose="02010600030101010101" pitchFamily="2" charset="-122"/>
                <a:sym typeface="+mn-ea"/>
              </a:rPr>
              <a:t>期间发现的错误数；</a:t>
            </a:r>
            <a:endParaRPr kumimoji="0" lang="zh-CN"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1657350" marR="0" lvl="3" indent="-285750" algn="l" defTabSz="914400" rtl="0" eaLnBrk="0" fontAlgn="base" latinLnBrk="0" hangingPunct="0">
              <a:lnSpc>
                <a:spcPct val="100000"/>
              </a:lnSpc>
              <a:spcBef>
                <a:spcPct val="0"/>
              </a:spcBef>
              <a:spcAft>
                <a:spcPts val="0"/>
              </a:spcAft>
              <a:buClrTx/>
              <a:buSzTx/>
              <a:buFontTx/>
              <a:buNone/>
              <a:defRPr/>
            </a:pPr>
            <a:r>
              <a:rPr lang="en-US" altLang="zh-CN" sz="1400" i="1" noProof="0" dirty="0" err="1"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err="1"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c</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——在</a:t>
            </a:r>
            <a:r>
              <a:rPr lang="en-US" altLang="zh-CN" sz="1400" noProof="0" dirty="0">
                <a:ln>
                  <a:noFill/>
                </a:ln>
                <a:effectLst/>
                <a:uLnTx/>
                <a:uFillTx/>
                <a:latin typeface="Arial" panose="020B0604020202020204" pitchFamily="34" charset="0"/>
                <a:ea typeface="宋体" panose="02010600030101010101" pitchFamily="2" charset="-122"/>
                <a:sym typeface="+mn-ea"/>
              </a:rPr>
              <a:t>0</a:t>
            </a:r>
            <a:r>
              <a:rPr lang="zh-CN" altLang="zh-CN" sz="1400" noProof="0" dirty="0">
                <a:ln>
                  <a:noFill/>
                </a:ln>
                <a:effectLst/>
                <a:uLnTx/>
                <a:uFillTx/>
                <a:latin typeface="Arial" panose="020B0604020202020204" pitchFamily="34" charset="0"/>
                <a:ea typeface="宋体" panose="02010600030101010101" pitchFamily="2" charset="-122"/>
                <a:sym typeface="+mn-ea"/>
              </a:rPr>
              <a:t>至</a:t>
            </a:r>
            <a:r>
              <a:rPr lang="zh-CN"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zh-CN" altLang="zh-CN" sz="1400" noProof="0" dirty="0">
                <a:ln>
                  <a:noFill/>
                </a:ln>
                <a:effectLst/>
                <a:uLnTx/>
                <a:uFillTx/>
                <a:latin typeface="Arial" panose="020B0604020202020204" pitchFamily="34" charset="0"/>
                <a:ea typeface="宋体" panose="02010600030101010101" pitchFamily="2" charset="-122"/>
                <a:sym typeface="+mn-ea"/>
              </a:rPr>
              <a:t>期间改正的错误数</a:t>
            </a:r>
            <a:r>
              <a:rPr lang="zh-CN" altLang="zh-CN" sz="1400" noProof="0" dirty="0" smtClean="0">
                <a:ln>
                  <a:noFill/>
                </a:ln>
                <a:effectLst/>
                <a:uLnTx/>
                <a:uFillTx/>
                <a:latin typeface="Arial" panose="020B0604020202020204" pitchFamily="34" charset="0"/>
                <a:ea typeface="宋体" panose="02010600030101010101" pitchFamily="2" charset="-122"/>
                <a:sym typeface="+mn-ea"/>
              </a:rPr>
              <a:t>。</a:t>
            </a:r>
            <a:endParaRPr kumimoji="0" lang="en-US" altLang="zh-CN" sz="14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100000"/>
              </a:lnSpc>
              <a:spcBef>
                <a:spcPts val="1200"/>
              </a:spcBef>
              <a:spcAft>
                <a:spcPts val="0"/>
              </a:spcAft>
              <a:buClrTx/>
              <a:buSzTx/>
              <a:buFontTx/>
              <a:buNone/>
              <a:defRPr/>
            </a:pPr>
            <a:r>
              <a:rPr lang="en-US" altLang="zh-CN" sz="1400" b="1" noProof="0" dirty="0" smtClean="0">
                <a:ln>
                  <a:noFill/>
                </a:ln>
                <a:effectLst/>
                <a:uLnTx/>
                <a:uFillTx/>
                <a:latin typeface="+mn-ea"/>
                <a:sym typeface="+mn-ea"/>
              </a:rPr>
              <a:t>		2.</a:t>
            </a:r>
            <a:r>
              <a:rPr lang="zh-CN" altLang="en-US" sz="1400" b="1" noProof="0" dirty="0" smtClean="0">
                <a:ln>
                  <a:noFill/>
                </a:ln>
                <a:effectLst/>
                <a:uLnTx/>
                <a:uFillTx/>
                <a:latin typeface="+mn-ea"/>
                <a:sym typeface="+mn-ea"/>
              </a:rPr>
              <a:t>基本假定</a:t>
            </a:r>
            <a:endParaRPr kumimoji="0" lang="en-US" altLang="zh-CN" sz="1400" b="1" i="0" u="none" strike="noStrike" kern="1200" cap="none" spc="0" normalizeH="0" baseline="0" noProof="0" dirty="0" smtClean="0">
              <a:ln>
                <a:noFill/>
              </a:ln>
              <a:solidFill>
                <a:schemeClr val="tx1"/>
              </a:solidFill>
              <a:effectLst/>
              <a:uLnTx/>
              <a:uFillTx/>
              <a:latin typeface="+mn-ea"/>
              <a:ea typeface="+mn-ea"/>
              <a:cs typeface="+mn-cs"/>
            </a:endParaRPr>
          </a:p>
          <a:p>
            <a:pPr marL="400050" marR="0" lvl="1" indent="0" algn="l" defTabSz="914400" rtl="0" eaLnBrk="0" fontAlgn="base" latinLnBrk="0" hangingPunct="0">
              <a:lnSpc>
                <a:spcPct val="100000"/>
              </a:lnSpc>
              <a:spcBef>
                <a:spcPct val="0"/>
              </a:spcBef>
              <a:spcAft>
                <a:spcPct val="0"/>
              </a:spcAft>
              <a:buClrTx/>
              <a:buSzTx/>
              <a:buFontTx/>
              <a:buNone/>
              <a:defRPr/>
            </a:pPr>
            <a:r>
              <a:rPr lang="en-US" altLang="zh-CN" sz="1400" noProof="0" dirty="0" smtClean="0">
                <a:ln>
                  <a:noFill/>
                </a:ln>
                <a:effectLst/>
                <a:uLnTx/>
                <a:uFillTx/>
                <a:latin typeface="+mn-ea"/>
                <a:sym typeface="+mn-ea"/>
              </a:rPr>
              <a:t>(1) </a:t>
            </a:r>
            <a:r>
              <a:rPr lang="zh-CN" altLang="zh-CN" sz="1400" noProof="0" dirty="0" smtClean="0">
                <a:ln>
                  <a:noFill/>
                </a:ln>
                <a:effectLst/>
                <a:uLnTx/>
                <a:uFillTx/>
                <a:latin typeface="Arial" panose="020B0604020202020204" pitchFamily="34" charset="0"/>
                <a:ea typeface="宋体" panose="02010600030101010101" pitchFamily="2" charset="-122"/>
                <a:sym typeface="+mn-ea"/>
              </a:rPr>
              <a:t>在</a:t>
            </a:r>
            <a:r>
              <a:rPr lang="zh-CN" altLang="zh-CN" sz="1400" noProof="0" dirty="0">
                <a:ln>
                  <a:noFill/>
                </a:ln>
                <a:effectLst/>
                <a:uLnTx/>
                <a:uFillTx/>
                <a:latin typeface="Arial" panose="020B0604020202020204" pitchFamily="34" charset="0"/>
                <a:ea typeface="宋体" panose="02010600030101010101" pitchFamily="2" charset="-122"/>
                <a:sym typeface="+mn-ea"/>
              </a:rPr>
              <a:t>类似的程序中，单位长度里的错误数</a:t>
            </a:r>
            <a:r>
              <a:rPr lang="en-US"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ET/IT</a:t>
            </a:r>
            <a:r>
              <a:rPr lang="zh-CN" altLang="zh-CN" sz="1400" noProof="0" dirty="0">
                <a:ln>
                  <a:noFill/>
                </a:ln>
                <a:effectLst/>
                <a:uLnTx/>
                <a:uFillTx/>
                <a:latin typeface="Arial" panose="020B0604020202020204" pitchFamily="34" charset="0"/>
                <a:ea typeface="宋体" panose="02010600030101010101" pitchFamily="2" charset="-122"/>
                <a:sym typeface="+mn-ea"/>
              </a:rPr>
              <a:t>近似为常数。美国的一些统计数字表明，</a:t>
            </a:r>
            <a:r>
              <a:rPr lang="zh-CN" altLang="zh-CN" sz="1400" noProof="0" dirty="0" smtClean="0">
                <a:ln>
                  <a:noFill/>
                </a:ln>
                <a:effectLst/>
                <a:uLnTx/>
                <a:uFillTx/>
                <a:latin typeface="Arial" panose="020B0604020202020204" pitchFamily="34" charset="0"/>
                <a:ea typeface="宋体" panose="02010600030101010101" pitchFamily="2" charset="-122"/>
                <a:sym typeface="+mn-ea"/>
              </a:rPr>
              <a:t>通常</a:t>
            </a:r>
            <a:endParaRPr kumimoji="0" lang="en-US" altLang="zh-CN" sz="14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00050" marR="0" lvl="1" indent="0" algn="ctr" defTabSz="914400" rtl="0" eaLnBrk="0" fontAlgn="base" latinLnBrk="0" hangingPunct="0">
              <a:lnSpc>
                <a:spcPct val="100000"/>
              </a:lnSpc>
              <a:spcBef>
                <a:spcPct val="0"/>
              </a:spcBef>
              <a:spcAft>
                <a:spcPct val="0"/>
              </a:spcAft>
              <a:buClrTx/>
              <a:buSzTx/>
              <a:buFontTx/>
              <a:buNone/>
              <a:defRPr/>
            </a:pPr>
            <a:r>
              <a:rPr lang="en-US" altLang="zh-CN" sz="1400"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0.5</a:t>
            </a:r>
            <a:r>
              <a:rPr lang="zh-CN"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10-2</a:t>
            </a:r>
            <a:r>
              <a:rPr lang="zh-CN"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ET/IT</a:t>
            </a:r>
            <a:r>
              <a:rPr lang="zh-CN"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10-2</a:t>
            </a:r>
            <a:endParaRPr kumimoji="0" lang="en-US" altLang="zh-CN" sz="1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lvl="0" indent="0" algn="l">
              <a:buFont typeface="Arial" panose="020B0604020202020204" pitchFamily="34" charset="0"/>
              <a:buNone/>
            </a:pPr>
            <a:endParaRPr lang="zh-CN" altLang="en-US" sz="14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41960" y="448310"/>
            <a:ext cx="8424545" cy="4468495"/>
          </a:xfrm>
          <a:prstGeom prst="rect">
            <a:avLst/>
          </a:prstGeom>
          <a:noFill/>
        </p:spPr>
        <p:txBody>
          <a:bodyPr wrap="square" rtlCol="0">
            <a:spAutoFit/>
          </a:bodyPr>
          <a:p>
            <a:r>
              <a:rPr lang="en-US"/>
              <a:t>9.</a:t>
            </a:r>
            <a:r>
              <a:rPr lang="zh-CN" altLang="en-US"/>
              <a:t>软件可靠性</a:t>
            </a:r>
            <a:endParaRPr lang="zh-CN" altLang="en-US"/>
          </a:p>
          <a:p>
            <a:r>
              <a:rPr lang="en-US" altLang="zh-CN"/>
              <a:t>	</a:t>
            </a:r>
            <a:r>
              <a:rPr lang="en-US" altLang="zh-CN">
                <a:solidFill>
                  <a:schemeClr val="tx1"/>
                </a:solidFill>
              </a:rPr>
              <a:t>	</a:t>
            </a:r>
            <a:r>
              <a:rPr lang="en-US" sz="1600">
                <a:solidFill>
                  <a:schemeClr val="tx1"/>
                </a:solidFill>
              </a:rPr>
              <a:t>9.2</a:t>
            </a:r>
            <a:r>
              <a:rPr lang="zh-CN" altLang="en-US" sz="1600">
                <a:solidFill>
                  <a:schemeClr val="tx1"/>
                </a:solidFill>
              </a:rPr>
              <a:t>估算平均无故障时间</a:t>
            </a:r>
            <a:r>
              <a:rPr lang="zh-CN" altLang="en-US" sz="1600">
                <a:solidFill>
                  <a:schemeClr val="tx1"/>
                </a:solidFill>
              </a:rPr>
              <a:t>的方法</a:t>
            </a:r>
            <a:endParaRPr lang="zh-CN" altLang="en-US" sz="1600">
              <a:solidFill>
                <a:schemeClr val="tx1"/>
              </a:solidFill>
            </a:endParaRPr>
          </a:p>
          <a:p>
            <a:pPr marL="400050" marR="0" lvl="1" indent="0" algn="l" defTabSz="914400" rtl="0" eaLnBrk="0" fontAlgn="base" latinLnBrk="0" hangingPunct="0">
              <a:lnSpc>
                <a:spcPct val="80000"/>
              </a:lnSpc>
              <a:spcBef>
                <a:spcPct val="0"/>
              </a:spcBef>
              <a:spcAft>
                <a:spcPct val="0"/>
              </a:spcAft>
              <a:buClrTx/>
              <a:buSzTx/>
              <a:buFontTx/>
              <a:buNone/>
              <a:defRPr/>
            </a:pPr>
            <a:r>
              <a:rPr lang="en-US" altLang="zh-CN" sz="1600">
                <a:solidFill>
                  <a:schemeClr val="tx1"/>
                </a:solidFill>
              </a:rPr>
              <a:t>	</a:t>
            </a:r>
            <a:r>
              <a:rPr lang="en-US" altLang="zh-CN" sz="1400" noProof="0" dirty="0" smtClean="0">
                <a:ln>
                  <a:noFill/>
                </a:ln>
                <a:effectLst/>
                <a:uLnTx/>
                <a:uFillTx/>
                <a:latin typeface="Times New Roman" panose="02020603050405020304" pitchFamily="18" charset="0"/>
                <a:cs typeface="Times New Roman" panose="02020603050405020304" pitchFamily="18" charset="0"/>
                <a:sym typeface="+mn-ea"/>
              </a:rPr>
              <a:t>(2) </a:t>
            </a:r>
            <a:r>
              <a:rPr lang="zh-CN" altLang="zh-CN" sz="1400" noProof="0" dirty="0" smtClean="0">
                <a:ln>
                  <a:noFill/>
                </a:ln>
                <a:effectLst/>
                <a:uLnTx/>
                <a:uFillTx/>
                <a:latin typeface="Arial" panose="020B0604020202020204" pitchFamily="34" charset="0"/>
                <a:ea typeface="宋体" panose="02010600030101010101" pitchFamily="2" charset="-122"/>
                <a:sym typeface="+mn-ea"/>
              </a:rPr>
              <a:t>失效率</a:t>
            </a:r>
            <a:r>
              <a:rPr lang="zh-CN" altLang="zh-CN" sz="1400" noProof="0" dirty="0">
                <a:ln>
                  <a:noFill/>
                </a:ln>
                <a:effectLst/>
                <a:uLnTx/>
                <a:uFillTx/>
                <a:latin typeface="Arial" panose="020B0604020202020204" pitchFamily="34" charset="0"/>
                <a:ea typeface="宋体" panose="02010600030101010101" pitchFamily="2" charset="-122"/>
                <a:sym typeface="+mn-ea"/>
              </a:rPr>
              <a:t>正比于软件中剩余的</a:t>
            </a:r>
            <a:r>
              <a:rPr lang="en-US" altLang="zh-CN" sz="1400" noProof="0" dirty="0">
                <a:ln>
                  <a:noFill/>
                </a:ln>
                <a:effectLst/>
                <a:uLnTx/>
                <a:uFillTx/>
                <a:latin typeface="Arial" panose="020B0604020202020204" pitchFamily="34" charset="0"/>
                <a:ea typeface="宋体" panose="02010600030101010101" pitchFamily="2" charset="-122"/>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潜藏的</a:t>
            </a:r>
            <a:r>
              <a:rPr lang="en-US" altLang="zh-CN" sz="1400" noProof="0" dirty="0">
                <a:ln>
                  <a:noFill/>
                </a:ln>
                <a:effectLst/>
                <a:uLnTx/>
                <a:uFillTx/>
                <a:latin typeface="Arial" panose="020B0604020202020204" pitchFamily="34" charset="0"/>
                <a:ea typeface="宋体" panose="02010600030101010101" pitchFamily="2" charset="-122"/>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错误数，而平均无故障时间</a:t>
            </a:r>
            <a:r>
              <a:rPr lang="en-US" altLang="zh-CN" sz="14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MTTF</a:t>
            </a:r>
            <a:r>
              <a:rPr lang="zh-CN" altLang="zh-CN" sz="1400" noProof="0" dirty="0">
                <a:ln>
                  <a:noFill/>
                </a:ln>
                <a:effectLst/>
                <a:uLnTx/>
                <a:uFillTx/>
                <a:latin typeface="Arial" panose="020B0604020202020204" pitchFamily="34" charset="0"/>
                <a:ea typeface="宋体" panose="02010600030101010101" pitchFamily="2" charset="-122"/>
                <a:sym typeface="+mn-ea"/>
              </a:rPr>
              <a:t>与剩余的错误数成反比</a:t>
            </a:r>
            <a:r>
              <a:rPr lang="zh-CN" altLang="zh-CN" sz="1400" noProof="0" dirty="0" smtClean="0">
                <a:ln>
                  <a:noFill/>
                </a:ln>
                <a:effectLst/>
                <a:uLnTx/>
                <a:uFillTx/>
                <a:latin typeface="Arial" panose="020B0604020202020204" pitchFamily="34" charset="0"/>
                <a:ea typeface="宋体" panose="02010600030101010101" pitchFamily="2" charset="-122"/>
                <a:sym typeface="+mn-ea"/>
              </a:rPr>
              <a:t>。</a:t>
            </a:r>
            <a:endParaRPr kumimoji="0" lang="en-US" altLang="zh-CN" sz="14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00050" marR="0" lvl="1" indent="0" algn="l" defTabSz="914400" rtl="0" eaLnBrk="0" fontAlgn="base" latinLnBrk="0" hangingPunct="0">
              <a:lnSpc>
                <a:spcPct val="80000"/>
              </a:lnSpc>
              <a:spcBef>
                <a:spcPts val="1200"/>
              </a:spcBef>
              <a:spcAft>
                <a:spcPct val="0"/>
              </a:spcAft>
              <a:buClrTx/>
              <a:buSzTx/>
              <a:buFontTx/>
              <a:buNone/>
              <a:defRPr/>
            </a:pPr>
            <a:r>
              <a:rPr lang="en-US" altLang="zh-CN" sz="1400" noProof="0" dirty="0" smtClean="0">
                <a:ln>
                  <a:noFill/>
                </a:ln>
                <a:effectLst/>
                <a:uLnTx/>
                <a:uFillTx/>
                <a:latin typeface="Arial" panose="020B0604020202020204" pitchFamily="34" charset="0"/>
                <a:ea typeface="宋体" panose="02010600030101010101" pitchFamily="2" charset="-122"/>
                <a:sym typeface="+mn-ea"/>
              </a:rPr>
              <a:t>	(3) </a:t>
            </a:r>
            <a:r>
              <a:rPr lang="zh-CN" altLang="zh-CN" sz="1400" noProof="0" dirty="0" smtClean="0">
                <a:ln>
                  <a:noFill/>
                </a:ln>
                <a:effectLst/>
                <a:uLnTx/>
                <a:uFillTx/>
                <a:latin typeface="Arial" panose="020B0604020202020204" pitchFamily="34" charset="0"/>
                <a:ea typeface="宋体" panose="02010600030101010101" pitchFamily="2" charset="-122"/>
                <a:sym typeface="+mn-ea"/>
              </a:rPr>
              <a:t>假设</a:t>
            </a:r>
            <a:r>
              <a:rPr lang="zh-CN" altLang="zh-CN" sz="1400" noProof="0" dirty="0">
                <a:ln>
                  <a:noFill/>
                </a:ln>
                <a:effectLst/>
                <a:uLnTx/>
                <a:uFillTx/>
                <a:latin typeface="Arial" panose="020B0604020202020204" pitchFamily="34" charset="0"/>
                <a:ea typeface="宋体" panose="02010600030101010101" pitchFamily="2" charset="-122"/>
                <a:sym typeface="+mn-ea"/>
              </a:rPr>
              <a:t>发现的每一个错误都立即正确地改正了</a:t>
            </a:r>
            <a:r>
              <a:rPr lang="en-US" altLang="zh-CN" sz="1400" noProof="0" dirty="0">
                <a:ln>
                  <a:noFill/>
                </a:ln>
                <a:effectLst/>
                <a:uLnTx/>
                <a:uFillTx/>
                <a:latin typeface="Arial" panose="020B0604020202020204" pitchFamily="34" charset="0"/>
                <a:ea typeface="宋体" panose="02010600030101010101" pitchFamily="2" charset="-122"/>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即调试过程没有引入新的错误</a:t>
            </a:r>
            <a:r>
              <a:rPr lang="en-US" altLang="zh-CN" sz="1400" noProof="0" dirty="0">
                <a:ln>
                  <a:noFill/>
                </a:ln>
                <a:effectLst/>
                <a:uLnTx/>
                <a:uFillTx/>
                <a:latin typeface="Arial" panose="020B0604020202020204" pitchFamily="34" charset="0"/>
                <a:ea typeface="宋体" panose="02010600030101010101" pitchFamily="2" charset="-122"/>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a:t>
            </a:r>
            <a:r>
              <a:rPr lang="zh-CN" altLang="zh-CN" sz="1400" noProof="0" dirty="0" smtClean="0">
                <a:ln>
                  <a:noFill/>
                </a:ln>
                <a:effectLst/>
                <a:uLnTx/>
                <a:uFillTx/>
                <a:latin typeface="Arial" panose="020B0604020202020204" pitchFamily="34" charset="0"/>
                <a:ea typeface="宋体" panose="02010600030101010101" pitchFamily="2" charset="-122"/>
                <a:sym typeface="+mn-ea"/>
              </a:rPr>
              <a:t>因此</a:t>
            </a:r>
            <a:r>
              <a:rPr lang="zh-CN" altLang="en-US" sz="1400" noProof="0" dirty="0" smtClean="0">
                <a:ln>
                  <a:noFill/>
                </a:ln>
                <a:effectLst/>
                <a:uLnTx/>
                <a:uFillTx/>
                <a:latin typeface="Arial" panose="020B0604020202020204" pitchFamily="34" charset="0"/>
                <a:ea typeface="宋体" panose="02010600030101010101" pitchFamily="2" charset="-122"/>
                <a:sym typeface="+mn-ea"/>
              </a:rPr>
              <a:t>，</a:t>
            </a:r>
            <a:r>
              <a:rPr lang="en-US" altLang="zh-CN" sz="1400" i="1" noProof="0" dirty="0" err="1"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err="1"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c</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d</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400"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400" noProof="0" dirty="0">
                <a:ln>
                  <a:noFill/>
                </a:ln>
                <a:effectLst/>
                <a:uLnTx/>
                <a:uFillTx/>
                <a:latin typeface="Arial" panose="020B0604020202020204" pitchFamily="34" charset="0"/>
                <a:ea typeface="宋体" panose="02010600030101010101" pitchFamily="2" charset="-122"/>
                <a:sym typeface="+mn-ea"/>
              </a:rPr>
              <a:t>剩余的错误数为</a:t>
            </a:r>
            <a:r>
              <a:rPr lang="en-US" altLang="zh-CN" sz="1400" i="1" noProof="0" dirty="0" err="1">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err="1">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r</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T  </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400" i="1" noProof="0" dirty="0" err="1">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err="1">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c</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400" noProof="0" dirty="0" smtClean="0">
                <a:ln>
                  <a:noFill/>
                </a:ln>
                <a:effectLst/>
                <a:uLnTx/>
                <a:uFillTx/>
                <a:latin typeface="Arial" panose="020B0604020202020204" pitchFamily="34" charset="0"/>
                <a:ea typeface="宋体" panose="02010600030101010101" pitchFamily="2" charset="-122"/>
                <a:sym typeface="+mn-ea"/>
              </a:rPr>
              <a:t>，</a:t>
            </a:r>
            <a:r>
              <a:rPr lang="zh-CN" altLang="zh-CN" sz="1400" noProof="0" dirty="0" smtClean="0">
                <a:ln>
                  <a:noFill/>
                </a:ln>
                <a:effectLst/>
                <a:uLnTx/>
                <a:uFillTx/>
                <a:latin typeface="Arial" panose="020B0604020202020204" pitchFamily="34" charset="0"/>
                <a:ea typeface="宋体" panose="02010600030101010101" pitchFamily="2" charset="-122"/>
                <a:sym typeface="+mn-ea"/>
              </a:rPr>
              <a:t>单位</a:t>
            </a:r>
            <a:r>
              <a:rPr lang="zh-CN" altLang="zh-CN" sz="1400" noProof="0" dirty="0">
                <a:ln>
                  <a:noFill/>
                </a:ln>
                <a:effectLst/>
                <a:uLnTx/>
                <a:uFillTx/>
                <a:latin typeface="Arial" panose="020B0604020202020204" pitchFamily="34" charset="0"/>
                <a:ea typeface="宋体" panose="02010600030101010101" pitchFamily="2" charset="-122"/>
                <a:sym typeface="+mn-ea"/>
              </a:rPr>
              <a:t>长度程序中剩余的错误数为</a:t>
            </a:r>
            <a:r>
              <a:rPr lang="zh-CN"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ε</a:t>
            </a:r>
            <a:r>
              <a:rPr lang="en-US" altLang="zh-CN" sz="1400" i="1" baseline="-25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r</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1400" i="1" baseline="-25000"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T  </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1400" i="1" noProof="0" dirty="0" err="1"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1400" i="1" baseline="-25000" noProof="0" dirty="0" err="1"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c</a:t>
            </a:r>
            <a:r>
              <a:rPr lang="en-US" altLang="zh-CN" sz="1400" i="1" noProof="0" dirty="0" smtClean="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τ</a:t>
            </a:r>
            <a:r>
              <a:rPr lang="en-US" altLang="zh-CN" sz="1400" i="1"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1400" i="1" baseline="-2500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T</a:t>
            </a:r>
            <a:r>
              <a:rPr lang="zh-CN" altLang="en-US" sz="1400" noProof="0" dirty="0" smtClean="0">
                <a:ln>
                  <a:noFill/>
                </a:ln>
                <a:effectLst/>
                <a:uLnTx/>
                <a:uFillTx/>
                <a:latin typeface="Arial" panose="020B0604020202020204" pitchFamily="34" charset="0"/>
                <a:ea typeface="宋体" panose="02010600030101010101" pitchFamily="2" charset="-122"/>
                <a:sym typeface="+mn-ea"/>
              </a:rPr>
              <a:t>。</a:t>
            </a:r>
            <a:endParaRPr lang="zh-CN" altLang="en-US" sz="1400"/>
          </a:p>
          <a:p>
            <a:pPr marL="0" marR="0" lvl="0" indent="0" algn="l" defTabSz="914400" rtl="0" eaLnBrk="0" fontAlgn="base" latinLnBrk="0" hangingPunct="0">
              <a:lnSpc>
                <a:spcPts val="3200"/>
              </a:lnSpc>
              <a:spcBef>
                <a:spcPct val="0"/>
              </a:spcBef>
              <a:spcAft>
                <a:spcPct val="0"/>
              </a:spcAft>
              <a:buClrTx/>
              <a:buSzTx/>
              <a:buFontTx/>
              <a:buNone/>
              <a:defRPr/>
            </a:pPr>
            <a:r>
              <a:rPr lang="en-US" altLang="zh-CN" sz="1400">
                <a:solidFill>
                  <a:schemeClr val="tx1"/>
                </a:solidFill>
              </a:rPr>
              <a:t>	</a:t>
            </a:r>
            <a:r>
              <a:rPr lang="en-US" sz="1400" b="1" noProof="0" dirty="0" smtClean="0">
                <a:ln>
                  <a:noFill/>
                </a:ln>
                <a:effectLst/>
                <a:uLnTx/>
                <a:uFillTx/>
                <a:latin typeface="+mn-ea"/>
                <a:sym typeface="+mn-ea"/>
              </a:rPr>
              <a:t>3.</a:t>
            </a:r>
            <a:r>
              <a:rPr lang="zh-CN" altLang="en-US" sz="1400" b="1" noProof="0" dirty="0" smtClean="0">
                <a:ln>
                  <a:noFill/>
                </a:ln>
                <a:effectLst/>
                <a:uLnTx/>
                <a:uFillTx/>
                <a:latin typeface="+mn-ea"/>
                <a:sym typeface="+mn-ea"/>
              </a:rPr>
              <a:t>计算平均无故障时间</a:t>
            </a:r>
            <a:endParaRPr lang="zh-CN" altLang="en-US" sz="1400" b="1" noProof="0" dirty="0" smtClean="0">
              <a:ln>
                <a:noFill/>
              </a:ln>
              <a:effectLst/>
              <a:uLnTx/>
              <a:uFillTx/>
              <a:latin typeface="+mn-ea"/>
              <a:sym typeface="+mn-ea"/>
            </a:endParaRPr>
          </a:p>
          <a:p>
            <a:pPr marL="0" marR="0" lvl="0" indent="0" algn="l" defTabSz="914400" rtl="0" eaLnBrk="0" fontAlgn="base" latinLnBrk="0" hangingPunct="0">
              <a:lnSpc>
                <a:spcPts val="3200"/>
              </a:lnSpc>
              <a:spcBef>
                <a:spcPct val="0"/>
              </a:spcBef>
              <a:spcAft>
                <a:spcPct val="0"/>
              </a:spcAft>
              <a:buClrTx/>
              <a:buSzTx/>
              <a:buFontTx/>
              <a:buNone/>
              <a:defRPr/>
            </a:pPr>
            <a:endParaRPr lang="zh-CN" altLang="en-US" sz="1400" b="1" noProof="0" dirty="0" smtClean="0">
              <a:ln>
                <a:noFill/>
              </a:ln>
              <a:effectLst/>
              <a:uLnTx/>
              <a:uFillTx/>
              <a:latin typeface="+mn-ea"/>
              <a:sym typeface="+mn-ea"/>
            </a:endParaRPr>
          </a:p>
          <a:p>
            <a:pPr marL="0" marR="0" lvl="0" indent="0" algn="l" defTabSz="914400" rtl="0" eaLnBrk="0" fontAlgn="base" latinLnBrk="0" hangingPunct="0">
              <a:lnSpc>
                <a:spcPts val="3200"/>
              </a:lnSpc>
              <a:spcBef>
                <a:spcPct val="0"/>
              </a:spcBef>
              <a:spcAft>
                <a:spcPct val="0"/>
              </a:spcAft>
              <a:buClrTx/>
              <a:buSzTx/>
              <a:buFontTx/>
              <a:buNone/>
              <a:defRPr/>
            </a:pPr>
            <a:r>
              <a:rPr lang="en-US" altLang="zh-CN" sz="1400" b="1" noProof="0" dirty="0" smtClean="0">
                <a:ln>
                  <a:noFill/>
                </a:ln>
                <a:effectLst/>
                <a:uLnTx/>
                <a:uFillTx/>
                <a:latin typeface="+mn-ea"/>
                <a:sym typeface="+mn-ea"/>
              </a:rPr>
              <a:t>	4.</a:t>
            </a:r>
            <a:r>
              <a:rPr lang="zh-CN" altLang="en-US" sz="1400" b="1" noProof="0" dirty="0" smtClean="0">
                <a:ln>
                  <a:noFill/>
                </a:ln>
                <a:effectLst/>
                <a:uLnTx/>
                <a:uFillTx/>
                <a:latin typeface="+mn-ea"/>
                <a:sym typeface="+mn-ea"/>
              </a:rPr>
              <a:t>估计错误总数的方法</a:t>
            </a:r>
            <a:endParaRPr lang="zh-CN" altLang="en-US" sz="1400" b="1" noProof="0" dirty="0" smtClean="0">
              <a:ln>
                <a:noFill/>
              </a:ln>
              <a:effectLst/>
              <a:uLnTx/>
              <a:uFillTx/>
              <a:latin typeface="+mn-ea"/>
              <a:sym typeface="+mn-ea"/>
            </a:endParaRPr>
          </a:p>
          <a:p>
            <a:pPr marL="0" marR="0" lvl="0" indent="0" algn="l" defTabSz="914400" rtl="0" eaLnBrk="0" fontAlgn="base" latinLnBrk="0" hangingPunct="0">
              <a:lnSpc>
                <a:spcPct val="80000"/>
              </a:lnSpc>
              <a:spcBef>
                <a:spcPct val="0"/>
              </a:spcBef>
              <a:spcAft>
                <a:spcPct val="0"/>
              </a:spcAft>
              <a:buClrTx/>
              <a:buSzTx/>
              <a:buFontTx/>
              <a:buNone/>
              <a:defRPr/>
            </a:pPr>
            <a:r>
              <a:rPr lang="en-US" altLang="zh-CN" sz="1400" b="1" noProof="0" dirty="0" smtClean="0">
                <a:ln>
                  <a:noFill/>
                </a:ln>
                <a:effectLst/>
                <a:uLnTx/>
                <a:uFillTx/>
                <a:latin typeface="+mn-ea"/>
                <a:sym typeface="+mn-ea"/>
              </a:rPr>
              <a:t>		</a:t>
            </a:r>
            <a:r>
              <a:rPr lang="zh-CN" altLang="en-US" sz="1400" b="1" noProof="0" dirty="0" smtClean="0">
                <a:ln>
                  <a:noFill/>
                </a:ln>
                <a:effectLst/>
                <a:uLnTx/>
                <a:uFillTx/>
                <a:latin typeface="+mn-ea"/>
                <a:sym typeface="+mn-ea"/>
              </a:rPr>
              <a:t>植入错误法：</a:t>
            </a:r>
            <a:endParaRPr kumimoji="0" lang="en-US" altLang="zh-CN" sz="1400" b="1" i="0" u="none" strike="noStrike" kern="120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0" fontAlgn="base" latinLnBrk="0" hangingPunct="0">
              <a:lnSpc>
                <a:spcPct val="80000"/>
              </a:lnSpc>
              <a:spcBef>
                <a:spcPts val="1200"/>
              </a:spcBef>
              <a:spcAft>
                <a:spcPct val="0"/>
              </a:spcAft>
              <a:buClrTx/>
              <a:buSzTx/>
              <a:buFontTx/>
              <a:buNone/>
              <a:defRPr/>
            </a:pPr>
            <a:r>
              <a:rPr lang="en-US" altLang="zh-CN" sz="1400" noProof="0" dirty="0" smtClean="0">
                <a:ln>
                  <a:noFill/>
                </a:ln>
                <a:effectLst/>
                <a:uLnTx/>
                <a:uFillTx/>
                <a:latin typeface="Arial" panose="020B0604020202020204" pitchFamily="34" charset="0"/>
                <a:ea typeface="宋体" panose="02010600030101010101" pitchFamily="2" charset="-122"/>
                <a:sym typeface="+mn-ea"/>
              </a:rPr>
              <a:t>        		</a:t>
            </a:r>
            <a:r>
              <a:rPr lang="zh-CN" altLang="zh-CN" sz="1400" noProof="0" dirty="0" smtClean="0">
                <a:ln>
                  <a:noFill/>
                </a:ln>
                <a:effectLst/>
                <a:uLnTx/>
                <a:uFillTx/>
                <a:latin typeface="+mn-ea"/>
                <a:sym typeface="+mn-ea"/>
              </a:rPr>
              <a:t>在</a:t>
            </a:r>
            <a:r>
              <a:rPr lang="zh-CN" altLang="zh-CN" sz="1400" noProof="0" dirty="0">
                <a:ln>
                  <a:noFill/>
                </a:ln>
                <a:effectLst/>
                <a:uLnTx/>
                <a:uFillTx/>
                <a:latin typeface="+mn-ea"/>
                <a:sym typeface="+mn-ea"/>
              </a:rPr>
              <a:t>测试之前由专人在程序中随机地植入一些错误，测试之后，根据测试小组发现的</a:t>
            </a:r>
            <a:r>
              <a:rPr lang="en-US" altLang="zh-CN" sz="1400" noProof="0" dirty="0">
                <a:ln>
                  <a:noFill/>
                </a:ln>
                <a:effectLst/>
                <a:uLnTx/>
                <a:uFillTx/>
                <a:latin typeface="+mn-ea"/>
                <a:sym typeface="+mn-ea"/>
              </a:rPr>
              <a:t>		</a:t>
            </a:r>
            <a:r>
              <a:rPr lang="zh-CN" altLang="zh-CN" sz="1400" noProof="0" dirty="0">
                <a:ln>
                  <a:noFill/>
                </a:ln>
                <a:effectLst/>
                <a:uLnTx/>
                <a:uFillTx/>
                <a:latin typeface="+mn-ea"/>
                <a:sym typeface="+mn-ea"/>
              </a:rPr>
              <a:t>错误中原有</a:t>
            </a:r>
            <a:r>
              <a:rPr lang="en-US" altLang="zh-CN" sz="1400" noProof="0" dirty="0">
                <a:ln>
                  <a:noFill/>
                </a:ln>
                <a:effectLst/>
                <a:uLnTx/>
                <a:uFillTx/>
                <a:latin typeface="+mn-ea"/>
                <a:sym typeface="+mn-ea"/>
              </a:rPr>
              <a:t>	</a:t>
            </a:r>
            <a:r>
              <a:rPr lang="zh-CN" altLang="zh-CN" sz="1400" noProof="0" dirty="0">
                <a:ln>
                  <a:noFill/>
                </a:ln>
                <a:effectLst/>
                <a:uLnTx/>
                <a:uFillTx/>
                <a:latin typeface="+mn-ea"/>
                <a:sym typeface="+mn-ea"/>
              </a:rPr>
              <a:t>的和植入的两种错误的比例，来估计程序中原有错误的总数</a:t>
            </a:r>
            <a:r>
              <a:rPr lang="en-US" altLang="zh-CN" sz="1400" i="1" noProof="0" dirty="0">
                <a:ln>
                  <a:noFill/>
                </a:ln>
                <a:effectLst/>
                <a:uLnTx/>
                <a:uFillTx/>
                <a:latin typeface="+mn-ea"/>
                <a:cs typeface="Times New Roman" panose="02020603050405020304" pitchFamily="18" charset="0"/>
                <a:sym typeface="+mn-ea"/>
              </a:rPr>
              <a:t>E</a:t>
            </a:r>
            <a:r>
              <a:rPr lang="en-US" altLang="zh-CN" sz="1400" i="1" baseline="-25000" noProof="0" dirty="0">
                <a:ln>
                  <a:noFill/>
                </a:ln>
                <a:effectLst/>
                <a:uLnTx/>
                <a:uFillTx/>
                <a:latin typeface="+mn-ea"/>
                <a:cs typeface="Times New Roman" panose="02020603050405020304" pitchFamily="18" charset="0"/>
                <a:sym typeface="+mn-ea"/>
              </a:rPr>
              <a:t>T</a:t>
            </a:r>
            <a:r>
              <a:rPr lang="zh-CN" altLang="zh-CN" sz="1400" noProof="0" dirty="0" smtClean="0">
                <a:ln>
                  <a:noFill/>
                </a:ln>
                <a:effectLst/>
                <a:uLnTx/>
                <a:uFillTx/>
                <a:latin typeface="+mn-ea"/>
                <a:sym typeface="+mn-ea"/>
              </a:rPr>
              <a:t>。</a:t>
            </a:r>
            <a:endParaRPr kumimoji="0" lang="en-US" altLang="zh-CN" sz="1400" b="0" i="0" u="none" strike="noStrike" kern="1200" cap="none" spc="0" normalizeH="0" baseline="0" noProof="0" dirty="0" smtClean="0">
              <a:ln>
                <a:noFill/>
              </a:ln>
              <a:solidFill>
                <a:schemeClr val="tx1"/>
              </a:solidFill>
              <a:effectLst/>
              <a:uLnTx/>
              <a:uFillTx/>
              <a:latin typeface="+mn-ea"/>
              <a:ea typeface="+mn-ea"/>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lang="zh-CN" altLang="zh-CN" sz="1400" b="1" noProof="0" dirty="0">
                <a:ln>
                  <a:noFill/>
                </a:ln>
                <a:solidFill>
                  <a:schemeClr val="tx1"/>
                </a:solidFill>
                <a:effectLst/>
                <a:uLnTx/>
                <a:uFillTx/>
                <a:latin typeface="+mn-ea"/>
                <a:sym typeface="+mn-ea"/>
              </a:rPr>
              <a:t>分别测试法：</a:t>
            </a:r>
            <a:endParaRPr lang="zh-CN" altLang="zh-CN" sz="1400" b="1" noProof="0" dirty="0">
              <a:ln>
                <a:noFill/>
              </a:ln>
              <a:solidFill>
                <a:schemeClr val="tx1"/>
              </a:solidFill>
              <a:effectLst/>
              <a:uLnTx/>
              <a:uFillTx/>
              <a:latin typeface="+mn-ea"/>
              <a:sym typeface="+mn-ea"/>
            </a:endParaRPr>
          </a:p>
          <a:p>
            <a:pPr marL="1828800" marR="0" lvl="4" indent="0" algn="l" defTabSz="914400" rtl="0" eaLnBrk="0" fontAlgn="base" latinLnBrk="0" hangingPunct="0">
              <a:lnSpc>
                <a:spcPct val="100000"/>
              </a:lnSpc>
              <a:spcBef>
                <a:spcPct val="0"/>
              </a:spcBef>
              <a:spcAft>
                <a:spcPct val="0"/>
              </a:spcAft>
              <a:buClrTx/>
              <a:buSzTx/>
              <a:buFontTx/>
              <a:buNone/>
              <a:defRPr/>
            </a:pPr>
            <a:r>
              <a:rPr lang="zh-CN" altLang="zh-CN" sz="1400" noProof="0" dirty="0">
                <a:ln>
                  <a:noFill/>
                </a:ln>
                <a:effectLst/>
                <a:uLnTx/>
                <a:uFillTx/>
                <a:latin typeface="+mn-ea"/>
                <a:sym typeface="+mn-ea"/>
              </a:rPr>
              <a:t>使用两个测试员</a:t>
            </a:r>
            <a:r>
              <a:rPr lang="en-US" altLang="zh-CN" sz="1400" noProof="0" dirty="0">
                <a:ln>
                  <a:noFill/>
                </a:ln>
                <a:effectLst/>
                <a:uLnTx/>
                <a:uFillTx/>
                <a:latin typeface="+mn-ea"/>
                <a:sym typeface="+mn-ea"/>
              </a:rPr>
              <a:t>(</a:t>
            </a:r>
            <a:r>
              <a:rPr lang="zh-CN" altLang="zh-CN" sz="1400" noProof="0" dirty="0">
                <a:ln>
                  <a:noFill/>
                </a:ln>
                <a:effectLst/>
                <a:uLnTx/>
                <a:uFillTx/>
                <a:latin typeface="+mn-ea"/>
                <a:sym typeface="+mn-ea"/>
              </a:rPr>
              <a:t>或测试小组</a:t>
            </a:r>
            <a:r>
              <a:rPr lang="en-US" altLang="zh-CN" sz="1400" noProof="0" dirty="0">
                <a:ln>
                  <a:noFill/>
                </a:ln>
                <a:effectLst/>
                <a:uLnTx/>
                <a:uFillTx/>
                <a:latin typeface="+mn-ea"/>
                <a:sym typeface="+mn-ea"/>
              </a:rPr>
              <a:t>)</a:t>
            </a:r>
            <a:r>
              <a:rPr lang="zh-CN" altLang="zh-CN" sz="1400" noProof="0" dirty="0">
                <a:ln>
                  <a:noFill/>
                </a:ln>
                <a:effectLst/>
                <a:uLnTx/>
                <a:uFillTx/>
                <a:latin typeface="+mn-ea"/>
                <a:sym typeface="+mn-ea"/>
              </a:rPr>
              <a:t>，彼此独立地测试同一个程序的两个副本，把其中一个测试员发现的错误作为有标记的错误。</a:t>
            </a:r>
            <a:endParaRPr lang="zh-CN" altLang="en-US" sz="1400" b="1" noProof="0" dirty="0" smtClean="0">
              <a:ln>
                <a:noFill/>
              </a:ln>
              <a:effectLst/>
              <a:uLnTx/>
              <a:uFillTx/>
              <a:latin typeface="+mn-ea"/>
              <a:sym typeface="+mn-ea"/>
            </a:endParaRPr>
          </a:p>
          <a:p>
            <a:pPr marL="0" marR="0" lvl="0" indent="0" algn="l" defTabSz="914400" rtl="0" eaLnBrk="0" fontAlgn="base" latinLnBrk="0" hangingPunct="0">
              <a:lnSpc>
                <a:spcPts val="3200"/>
              </a:lnSpc>
              <a:spcBef>
                <a:spcPct val="0"/>
              </a:spcBef>
              <a:spcAft>
                <a:spcPct val="0"/>
              </a:spcAft>
              <a:buClrTx/>
              <a:buSzTx/>
              <a:buFontTx/>
              <a:buNone/>
              <a:defRPr/>
            </a:pPr>
            <a:r>
              <a:rPr lang="en-US" altLang="zh-CN" sz="1400" b="1" noProof="0" dirty="0" smtClean="0">
                <a:ln>
                  <a:noFill/>
                </a:ln>
                <a:effectLst/>
                <a:uLnTx/>
                <a:uFillTx/>
                <a:latin typeface="+mn-ea"/>
                <a:sym typeface="+mn-ea"/>
              </a:rPr>
              <a:t>	</a:t>
            </a:r>
            <a:endParaRPr lang="en-US" altLang="zh-CN" sz="1400" b="1" noProof="0" dirty="0" smtClean="0">
              <a:ln>
                <a:noFill/>
              </a:ln>
              <a:effectLst/>
              <a:uLnTx/>
              <a:uFillTx/>
              <a:latin typeface="+mn-ea"/>
              <a:sym typeface="+mn-ea"/>
            </a:endParaRPr>
          </a:p>
        </p:txBody>
      </p:sp>
      <p:sp>
        <p:nvSpPr>
          <p:cNvPr id="10" name="文本框 9"/>
          <p:cNvSpPr txBox="1">
            <a:spLocks noRot="1" noChangeAspect="1" noMove="1" noResize="1" noEditPoints="1" noAdjustHandles="1" noChangeArrowheads="1" noChangeShapeType="1" noTextEdit="1"/>
          </p:cNvSpPr>
          <p:nvPr/>
        </p:nvSpPr>
        <p:spPr>
          <a:xfrm>
            <a:off x="1711643" y="2224008"/>
            <a:ext cx="4560093" cy="696153"/>
          </a:xfrm>
          <a:prstGeom prst="rect">
            <a:avLst/>
          </a:prstGeom>
          <a:blipFill rotWithShape="0">
            <a:blip r:embed="rId1"/>
            <a:stretch>
              <a:fillRect/>
            </a:stretch>
          </a:blipFill>
        </p:spPr>
        <p:txBody>
          <a:bodyPr/>
          <a:p>
            <a:pPr marR="0" defTabSz="914400">
              <a:buClrTx/>
              <a:buSzTx/>
              <a:buFontTx/>
              <a:defRPr/>
            </a:pPr>
            <a:r>
              <a:rPr kumimoji="0" lang="zh-CN" altLang="en-US" kern="1200" cap="none" spc="0" normalizeH="0" baseline="0" noProof="0">
                <a:noFill/>
                <a:latin typeface="Arial" panose="020B0604020202020204" pitchFamily="34" charset="0"/>
                <a:ea typeface="宋体" panose="02010600030101010101" pitchFamily="2" charset="-122"/>
                <a:cs typeface="+mn-cs"/>
              </a:rPr>
              <a:t> </a:t>
            </a:r>
            <a:endParaRPr kumimoji="0" lang="zh-CN" altLang="en-US" kern="1200" cap="none" spc="0" normalizeH="0" baseline="0" noProof="0">
              <a:noFill/>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3363179" y="2018999"/>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维护</a:t>
            </a:r>
            <a:endParaRPr lang="zh-CN" altLang="en-US" sz="4400" b="1" kern="0">
              <a:solidFill>
                <a:schemeClr val="accent3"/>
              </a:solidFill>
              <a:cs typeface="+mn-ea"/>
              <a:sym typeface="+mn-lt"/>
            </a:endParaRPr>
          </a:p>
        </p:txBody>
      </p:sp>
      <p:sp>
        <p:nvSpPr>
          <p:cNvPr id="24" name="矩形: 圆角 23"/>
          <p:cNvSpPr/>
          <p:nvPr/>
        </p:nvSpPr>
        <p:spPr>
          <a:xfrm>
            <a:off x="2211705" y="2105660"/>
            <a:ext cx="7937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软件维护的定义</a:t>
            </a:r>
            <a:endParaRPr lang="zh-CN" altLang="en-US" b="1"/>
          </a:p>
        </p:txBody>
      </p:sp>
      <p:sp>
        <p:nvSpPr>
          <p:cNvPr id="2" name="文本框 1"/>
          <p:cNvSpPr txBox="1"/>
          <p:nvPr/>
        </p:nvSpPr>
        <p:spPr>
          <a:xfrm>
            <a:off x="555625" y="852805"/>
            <a:ext cx="8271510" cy="922020"/>
          </a:xfrm>
          <a:prstGeom prst="rect">
            <a:avLst/>
          </a:prstGeom>
          <a:noFill/>
        </p:spPr>
        <p:txBody>
          <a:bodyPr wrap="square" rtlCol="0">
            <a:spAutoFit/>
          </a:bodyPr>
          <a:p>
            <a:r>
              <a:rPr lang="zh-CN" altLang="en-US"/>
              <a:t>当产品被开发出来并交付用户使用之后，就进入了软件的运行维护阶段。这个阶段是软件生命周期的最后一个阶段，其基本任务是保证软件在一个相当长的时期能够正常运行。</a:t>
            </a:r>
            <a:endParaRPr lang="zh-CN"/>
          </a:p>
        </p:txBody>
      </p:sp>
      <p:sp>
        <p:nvSpPr>
          <p:cNvPr id="3" name="文本框 2"/>
          <p:cNvSpPr txBox="1"/>
          <p:nvPr/>
        </p:nvSpPr>
        <p:spPr>
          <a:xfrm>
            <a:off x="555625" y="1814830"/>
            <a:ext cx="8015605" cy="2584450"/>
          </a:xfrm>
          <a:prstGeom prst="rect">
            <a:avLst/>
          </a:prstGeom>
          <a:noFill/>
        </p:spPr>
        <p:txBody>
          <a:bodyPr wrap="square" rtlCol="0">
            <a:spAutoFit/>
          </a:bodyPr>
          <a:p>
            <a:r>
              <a:rPr lang="zh-CN"/>
              <a:t>所谓软件维护就是在软件已经交付使用之后，为了改正错误或满足新的需要而修改软件的过程。软件维护有四项活动。</a:t>
            </a:r>
            <a:endParaRPr lang="zh-CN"/>
          </a:p>
          <a:p>
            <a:r>
              <a:rPr lang="en-US" altLang="zh-CN"/>
              <a:t>1.</a:t>
            </a:r>
            <a:r>
              <a:rPr lang="zh-CN" altLang="en-US"/>
              <a:t>改正性维护：</a:t>
            </a:r>
            <a:r>
              <a:rPr lang="zh-CN" altLang="en-US">
                <a:sym typeface="+mn-ea"/>
              </a:rPr>
              <a:t>诊断的改正错误的过程</a:t>
            </a:r>
            <a:endParaRPr lang="zh-CN" altLang="en-US"/>
          </a:p>
          <a:p>
            <a:r>
              <a:rPr lang="en-US" altLang="zh-CN"/>
              <a:t>2.</a:t>
            </a:r>
            <a:r>
              <a:rPr lang="zh-CN" altLang="en-US"/>
              <a:t>适应性维护：为了和变化了的环境适当地配合而进行的修改软件的活动，是既必要又经常的维护活动</a:t>
            </a:r>
            <a:endParaRPr lang="zh-CN" altLang="en-US"/>
          </a:p>
          <a:p>
            <a:r>
              <a:rPr lang="en-US" altLang="zh-CN"/>
              <a:t>3.</a:t>
            </a:r>
            <a:r>
              <a:rPr lang="zh-CN" altLang="en-US"/>
              <a:t>完善性维护：满足用户提出增加新功能或修改已有功能的建议的要求，这项维护活动常常占软件维护工作的大部分</a:t>
            </a:r>
            <a:endParaRPr lang="zh-CN" altLang="en-US"/>
          </a:p>
          <a:p>
            <a:r>
              <a:rPr lang="en-US" altLang="zh-CN"/>
              <a:t>4.</a:t>
            </a:r>
            <a:r>
              <a:rPr lang="zh-CN" altLang="en-US"/>
              <a:t>预防性维护：为了改进未来的可维护性或可靠性，或为了给未来的改进奠定更好的基础而修改软件时出现的维护活动。相对较少</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软件维护的特点</a:t>
            </a:r>
            <a:r>
              <a:rPr lang="en-US" altLang="zh-CN" b="1"/>
              <a:t>-</a:t>
            </a:r>
            <a:r>
              <a:rPr lang="zh-CN" altLang="en-US" b="1"/>
              <a:t>结构化维护和非结构化维护差别巨大</a:t>
            </a:r>
            <a:endParaRPr lang="zh-CN" altLang="en-US" b="1"/>
          </a:p>
        </p:txBody>
      </p:sp>
      <p:sp>
        <p:nvSpPr>
          <p:cNvPr id="2" name="文本框 1"/>
          <p:cNvSpPr txBox="1"/>
          <p:nvPr/>
        </p:nvSpPr>
        <p:spPr>
          <a:xfrm>
            <a:off x="564515" y="1480820"/>
            <a:ext cx="8271510" cy="922020"/>
          </a:xfrm>
          <a:prstGeom prst="rect">
            <a:avLst/>
          </a:prstGeom>
          <a:noFill/>
        </p:spPr>
        <p:txBody>
          <a:bodyPr wrap="square" rtlCol="0">
            <a:spAutoFit/>
          </a:bodyPr>
          <a:p>
            <a:r>
              <a:rPr lang="en-US" altLang="zh-CN"/>
              <a:t>1.</a:t>
            </a:r>
            <a:r>
              <a:rPr lang="zh-CN" altLang="en-US"/>
              <a:t>非结构化维护：如果软件配置的唯一成分是程序代码，那么这种软件的维护就称为非结构化维护，它需要付出很大代价，是没有使用良好方式定义的方法学开发出来的软件的必然结果</a:t>
            </a:r>
            <a:endParaRPr lang="zh-CN" altLang="en-US"/>
          </a:p>
        </p:txBody>
      </p:sp>
      <p:sp>
        <p:nvSpPr>
          <p:cNvPr id="3" name="文本框 2"/>
          <p:cNvSpPr txBox="1"/>
          <p:nvPr/>
        </p:nvSpPr>
        <p:spPr>
          <a:xfrm>
            <a:off x="564515" y="2455545"/>
            <a:ext cx="8015605" cy="1198880"/>
          </a:xfrm>
          <a:prstGeom prst="rect">
            <a:avLst/>
          </a:prstGeom>
          <a:noFill/>
        </p:spPr>
        <p:txBody>
          <a:bodyPr wrap="square" rtlCol="0">
            <a:spAutoFit/>
          </a:bodyPr>
          <a:p>
            <a:r>
              <a:rPr lang="en-US"/>
              <a:t>2.</a:t>
            </a:r>
            <a:r>
              <a:rPr lang="zh-CN" altLang="en-US"/>
              <a:t>结构化维护：如果有一个完整的软件配置存在，那么维护工作从评价设计文档开始，一直到交付使用，有一系列完整的流程，那么软件的维护工作就称为结构化维护，它是在软件开发的早期应用软件工程方法学的结果，虽然并不能保证维护中没有问题，但确实能减少精力的浪费并且能提高维护的总体质量。</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软件维护的特点</a:t>
            </a:r>
            <a:r>
              <a:rPr lang="en-US" altLang="zh-CN" b="1"/>
              <a:t>-</a:t>
            </a:r>
            <a:r>
              <a:rPr lang="zh-CN" altLang="en-US" b="1"/>
              <a:t>维护的代价高昂</a:t>
            </a:r>
            <a:endParaRPr lang="zh-CN" altLang="en-US" b="1"/>
          </a:p>
        </p:txBody>
      </p:sp>
      <p:sp>
        <p:nvSpPr>
          <p:cNvPr id="2" name="文本框 1"/>
          <p:cNvSpPr txBox="1"/>
          <p:nvPr/>
        </p:nvSpPr>
        <p:spPr>
          <a:xfrm>
            <a:off x="464185" y="839470"/>
            <a:ext cx="8271510" cy="2584450"/>
          </a:xfrm>
          <a:prstGeom prst="rect">
            <a:avLst/>
          </a:prstGeom>
          <a:noFill/>
        </p:spPr>
        <p:txBody>
          <a:bodyPr wrap="square" rtlCol="0">
            <a:spAutoFit/>
          </a:bodyPr>
          <a:p>
            <a:r>
              <a:rPr lang="zh-CN"/>
              <a:t>在过去的几十年中，软件维护的费用稳步上升，</a:t>
            </a:r>
            <a:r>
              <a:rPr lang="en-US" altLang="zh-CN"/>
              <a:t>1970</a:t>
            </a:r>
            <a:r>
              <a:rPr lang="zh-CN" altLang="en-US"/>
              <a:t>年用于维护已有软件的费用只占软件总预算的</a:t>
            </a:r>
            <a:r>
              <a:rPr lang="en-US" altLang="zh-CN"/>
              <a:t>35%-40%</a:t>
            </a:r>
            <a:r>
              <a:rPr lang="zh-CN" altLang="en-US"/>
              <a:t>，</a:t>
            </a:r>
            <a:r>
              <a:rPr lang="en-US" altLang="zh-CN"/>
              <a:t>1980</a:t>
            </a:r>
            <a:r>
              <a:rPr lang="zh-CN" altLang="en-US"/>
              <a:t>年上升为</a:t>
            </a:r>
            <a:r>
              <a:rPr lang="en-US" altLang="zh-CN"/>
              <a:t>40%-60%</a:t>
            </a:r>
            <a:r>
              <a:rPr lang="zh-CN" altLang="en-US"/>
              <a:t>，</a:t>
            </a:r>
            <a:r>
              <a:rPr lang="en-US" altLang="zh-CN"/>
              <a:t>1990</a:t>
            </a:r>
            <a:r>
              <a:rPr lang="zh-CN" altLang="en-US"/>
              <a:t>年上升为</a:t>
            </a:r>
            <a:r>
              <a:rPr lang="en-US" altLang="zh-CN"/>
              <a:t>70%-80%</a:t>
            </a:r>
            <a:r>
              <a:rPr lang="zh-CN" altLang="en-US"/>
              <a:t>。</a:t>
            </a:r>
            <a:endParaRPr lang="zh-CN" altLang="en-US"/>
          </a:p>
          <a:p>
            <a:r>
              <a:rPr lang="zh-CN" altLang="en-US"/>
              <a:t>这只不过是最明显的代价。其他无形的代价还有以下几个：</a:t>
            </a:r>
            <a:endParaRPr lang="zh-CN" altLang="en-US"/>
          </a:p>
          <a:p>
            <a:r>
              <a:rPr lang="en-US" altLang="zh-CN"/>
              <a:t>1.</a:t>
            </a:r>
            <a:r>
              <a:rPr lang="zh-CN" altLang="en-US"/>
              <a:t>当看来合理的有关改错或修改的要求不能及时满足时将引起用户不满</a:t>
            </a:r>
            <a:endParaRPr lang="zh-CN" altLang="en-US"/>
          </a:p>
          <a:p>
            <a:r>
              <a:rPr lang="en-US" altLang="zh-CN"/>
              <a:t>2.</a:t>
            </a:r>
            <a:r>
              <a:rPr lang="zh-CN" altLang="en-US"/>
              <a:t>由于维护时的改动，在软件中引入了潜伏的错误，从而降低了软件的质量</a:t>
            </a:r>
            <a:endParaRPr lang="zh-CN" altLang="en-US"/>
          </a:p>
          <a:p>
            <a:r>
              <a:rPr lang="en-US" altLang="zh-CN"/>
              <a:t>3.</a:t>
            </a:r>
            <a:r>
              <a:rPr lang="zh-CN" altLang="en-US"/>
              <a:t>当必须把软件工程师调去从事维护工作时，将在开发过程中造成混乱，造成的代价是生产率的大幅度下降。</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en-US" b="1"/>
              <a:t>软件维护的特点</a:t>
            </a:r>
            <a:r>
              <a:rPr lang="en-US" altLang="zh-CN" b="1"/>
              <a:t>-</a:t>
            </a:r>
            <a:r>
              <a:rPr lang="zh-CN" altLang="en-US" b="1"/>
              <a:t>维护的问题很多</a:t>
            </a:r>
            <a:endParaRPr lang="zh-CN" altLang="en-US" b="1"/>
          </a:p>
        </p:txBody>
      </p:sp>
      <p:sp>
        <p:nvSpPr>
          <p:cNvPr id="2" name="文本框 1"/>
          <p:cNvSpPr txBox="1"/>
          <p:nvPr/>
        </p:nvSpPr>
        <p:spPr>
          <a:xfrm>
            <a:off x="464185" y="839470"/>
            <a:ext cx="8271510" cy="2861310"/>
          </a:xfrm>
          <a:prstGeom prst="rect">
            <a:avLst/>
          </a:prstGeom>
          <a:noFill/>
        </p:spPr>
        <p:txBody>
          <a:bodyPr wrap="square" rtlCol="0">
            <a:spAutoFit/>
          </a:bodyPr>
          <a:p>
            <a:r>
              <a:rPr lang="zh-CN" altLang="en-US"/>
              <a:t>与软件维护有关的绝大多数问题，都可归因于软件定义和软件开发的方法有缺点。</a:t>
            </a:r>
            <a:endParaRPr lang="zh-CN" altLang="en-US"/>
          </a:p>
          <a:p>
            <a:r>
              <a:rPr lang="zh-CN" altLang="en-US"/>
              <a:t>以下是和软件维护有关的部分问题：</a:t>
            </a:r>
            <a:endParaRPr lang="zh-CN" altLang="en-US"/>
          </a:p>
          <a:p>
            <a:r>
              <a:rPr lang="en-US" altLang="zh-CN"/>
              <a:t>1.</a:t>
            </a:r>
            <a:r>
              <a:rPr lang="zh-CN" altLang="en-US"/>
              <a:t>理解别人写的程序通常非常困难，而且困难程度随着软件配置成分的减少而迅速增加。</a:t>
            </a:r>
            <a:endParaRPr lang="zh-CN" altLang="en-US"/>
          </a:p>
          <a:p>
            <a:r>
              <a:rPr lang="en-US" altLang="zh-CN"/>
              <a:t>2.</a:t>
            </a:r>
            <a:r>
              <a:rPr lang="zh-CN" altLang="en-US"/>
              <a:t>需要维护的软件往往没有合格的文档，或者文档资料显著不足</a:t>
            </a:r>
            <a:endParaRPr lang="zh-CN" altLang="en-US"/>
          </a:p>
          <a:p>
            <a:r>
              <a:rPr lang="en-US" altLang="zh-CN"/>
              <a:t>3.</a:t>
            </a:r>
            <a:r>
              <a:rPr lang="zh-CN" altLang="en-US"/>
              <a:t>当要求对软件进行维护时，不能指望由开发人员给人们仔细说明软件</a:t>
            </a:r>
            <a:endParaRPr lang="zh-CN" altLang="en-US"/>
          </a:p>
          <a:p>
            <a:r>
              <a:rPr lang="en-US" altLang="zh-CN"/>
              <a:t>4.</a:t>
            </a:r>
            <a:r>
              <a:rPr lang="zh-CN" altLang="en-US"/>
              <a:t>绝大多数软件在设计时没有考虑将来的修改</a:t>
            </a:r>
            <a:endParaRPr lang="zh-CN" altLang="en-US"/>
          </a:p>
          <a:p>
            <a:r>
              <a:rPr lang="en-US" altLang="zh-CN"/>
              <a:t>5.</a:t>
            </a:r>
            <a:r>
              <a:rPr lang="zh-CN" altLang="en-US"/>
              <a:t>软件维护不是一项吸引人的工作</a:t>
            </a:r>
            <a:endParaRPr lang="zh-CN" altLang="en-US"/>
          </a:p>
          <a:p>
            <a:r>
              <a:rPr lang="zh-CN" altLang="en-US"/>
              <a:t>上述种种问题在现有的没采用软件工程思想开发出来的软件中，都或多或少地存在着。</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922020"/>
          </a:xfrm>
          <a:prstGeom prst="rect">
            <a:avLst/>
          </a:prstGeom>
          <a:noFill/>
        </p:spPr>
        <p:txBody>
          <a:bodyPr wrap="square" rtlCol="0" anchor="t">
            <a:spAutoFit/>
          </a:bodyPr>
          <a:p>
            <a:r>
              <a:rPr lang="zh-CN" altLang="en-US"/>
              <a:t>可以把软件的可维护性定义为：维护人员理解、改正、改动或改进这个软件的难易程度。在前面的文章中曾经多次强调，提高可维护性是只配软件工程方法学所有步骤的关键目标。</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决定软件可维护性的因素</a:t>
            </a:r>
            <a:endParaRPr lang="zh-CN" altLang="en-US"/>
          </a:p>
        </p:txBody>
      </p:sp>
      <p:sp>
        <p:nvSpPr>
          <p:cNvPr id="2" name="文本框 1"/>
          <p:cNvSpPr txBox="1"/>
          <p:nvPr/>
        </p:nvSpPr>
        <p:spPr>
          <a:xfrm>
            <a:off x="464185" y="1571625"/>
            <a:ext cx="7452995" cy="1198880"/>
          </a:xfrm>
          <a:prstGeom prst="rect">
            <a:avLst/>
          </a:prstGeom>
          <a:noFill/>
        </p:spPr>
        <p:txBody>
          <a:bodyPr wrap="square" rtlCol="0">
            <a:spAutoFit/>
          </a:bodyPr>
          <a:p>
            <a:r>
              <a:rPr lang="zh-CN" altLang="en-US"/>
              <a:t>维护就是在软件交付使用后进行的修改，修改之前必须理解待修改的对象，修改之后应该进行必要的测试，以保证所做的修改是正确的。如果是改正性维护，还必须预先进行调试以确定错误的具体位置。因此，决定软件可维护性的因素主要有下述</a:t>
            </a:r>
            <a:r>
              <a:rPr lang="en-US" altLang="zh-CN"/>
              <a:t>5</a:t>
            </a:r>
            <a:r>
              <a:rPr lang="zh-CN" altLang="en-US"/>
              <a:t>个。</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决定软件可维护性的因素</a:t>
            </a:r>
            <a:endParaRPr lang="zh-CN" altLang="en-US"/>
          </a:p>
        </p:txBody>
      </p:sp>
      <p:sp>
        <p:nvSpPr>
          <p:cNvPr id="2" name="文本框 1"/>
          <p:cNvSpPr txBox="1"/>
          <p:nvPr/>
        </p:nvSpPr>
        <p:spPr>
          <a:xfrm>
            <a:off x="464185" y="1571625"/>
            <a:ext cx="7452995" cy="1476375"/>
          </a:xfrm>
          <a:prstGeom prst="rect">
            <a:avLst/>
          </a:prstGeom>
          <a:noFill/>
        </p:spPr>
        <p:txBody>
          <a:bodyPr wrap="square" rtlCol="0">
            <a:spAutoFit/>
          </a:bodyPr>
          <a:p>
            <a:r>
              <a:rPr lang="en-US"/>
              <a:t>1</a:t>
            </a:r>
            <a:r>
              <a:rPr lang="zh-CN" altLang="en-US"/>
              <a:t>、可理解性</a:t>
            </a:r>
            <a:endParaRPr lang="zh-CN" altLang="en-US"/>
          </a:p>
          <a:p>
            <a:r>
              <a:rPr lang="zh-CN" altLang="en-US"/>
              <a:t>软件可理解性表现为外来读者理解软件的结构、功能、接口和内部处理过程的难易程度。模块化、详细的设计文档、结构化设计、程序内部的文档和良好的高级程序设计语言等，都对提高软件的可理解性有重要贡献。</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决定软件可维护性的因素</a:t>
            </a:r>
            <a:endParaRPr lang="zh-CN" altLang="en-US"/>
          </a:p>
        </p:txBody>
      </p:sp>
      <p:sp>
        <p:nvSpPr>
          <p:cNvPr id="2" name="文本框 1"/>
          <p:cNvSpPr txBox="1"/>
          <p:nvPr/>
        </p:nvSpPr>
        <p:spPr>
          <a:xfrm>
            <a:off x="464185" y="1571625"/>
            <a:ext cx="7452995" cy="2306955"/>
          </a:xfrm>
          <a:prstGeom prst="rect">
            <a:avLst/>
          </a:prstGeom>
          <a:noFill/>
        </p:spPr>
        <p:txBody>
          <a:bodyPr wrap="square" rtlCol="0">
            <a:spAutoFit/>
          </a:bodyPr>
          <a:p>
            <a:r>
              <a:rPr lang="en-US" altLang="zh-CN"/>
              <a:t>2</a:t>
            </a:r>
            <a:r>
              <a:rPr lang="zh-CN" altLang="en-US"/>
              <a:t>、可测试性</a:t>
            </a:r>
            <a:endParaRPr lang="zh-CN" altLang="en-US"/>
          </a:p>
          <a:p>
            <a:r>
              <a:rPr lang="zh-CN" altLang="en-US"/>
              <a:t>诊断和测试的容易程度取决于软件容易理解的程度。良好的文档对诊断和测试是至关重要的，此外，软件结构、可用的测试工具和调试工具，以及以前设计的测试过程也都是非常重要的。维护人员应该能够得到在开发阶段用过的测试方案，以便进行回归测试。在设计阶段应该尽力把软件设计成容易测试和容易判断的。</a:t>
            </a:r>
            <a:endParaRPr lang="zh-CN" altLang="en-US"/>
          </a:p>
          <a:p>
            <a:r>
              <a:rPr lang="zh-CN" altLang="en-US"/>
              <a:t>对于程序模块来说，可以用程序复杂度来度量它的可测试性。模块的环形复杂度越大，可执行的路径就越多，因此，全面测试它的难度就越高。</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决定软件可维护性的因素</a:t>
            </a:r>
            <a:endParaRPr lang="zh-CN" altLang="en-US"/>
          </a:p>
        </p:txBody>
      </p:sp>
      <p:sp>
        <p:nvSpPr>
          <p:cNvPr id="2" name="文本框 1"/>
          <p:cNvSpPr txBox="1"/>
          <p:nvPr/>
        </p:nvSpPr>
        <p:spPr>
          <a:xfrm>
            <a:off x="464185" y="1571625"/>
            <a:ext cx="7452995" cy="922020"/>
          </a:xfrm>
          <a:prstGeom prst="rect">
            <a:avLst/>
          </a:prstGeom>
          <a:noFill/>
        </p:spPr>
        <p:txBody>
          <a:bodyPr wrap="square" rtlCol="0">
            <a:spAutoFit/>
          </a:bodyPr>
          <a:p>
            <a:r>
              <a:rPr lang="en-US" altLang="zh-CN"/>
              <a:t>3</a:t>
            </a:r>
            <a:r>
              <a:rPr lang="zh-CN" altLang="en-US"/>
              <a:t>、可修改性</a:t>
            </a:r>
            <a:endParaRPr lang="zh-CN" altLang="en-US"/>
          </a:p>
          <a:p>
            <a:r>
              <a:rPr lang="zh-CN" altLang="en-US"/>
              <a:t>软件容易修改的程度和设计原理和启发规则直接有关。耦合、内聚、信息隐藏、局部化、控制域与作用域的关系等，都影响软件的可修改性。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决定软件可维护性的因素</a:t>
            </a:r>
            <a:endParaRPr lang="zh-CN" altLang="en-US"/>
          </a:p>
        </p:txBody>
      </p:sp>
      <p:sp>
        <p:nvSpPr>
          <p:cNvPr id="2" name="文本框 1"/>
          <p:cNvSpPr txBox="1"/>
          <p:nvPr/>
        </p:nvSpPr>
        <p:spPr>
          <a:xfrm>
            <a:off x="464185" y="1571625"/>
            <a:ext cx="7452995" cy="1476375"/>
          </a:xfrm>
          <a:prstGeom prst="rect">
            <a:avLst/>
          </a:prstGeom>
          <a:noFill/>
        </p:spPr>
        <p:txBody>
          <a:bodyPr wrap="square" rtlCol="0">
            <a:spAutoFit/>
          </a:bodyPr>
          <a:p>
            <a:r>
              <a:rPr lang="en-US" altLang="zh-CN"/>
              <a:t>4</a:t>
            </a:r>
            <a:r>
              <a:rPr lang="zh-CN" altLang="en-US"/>
              <a:t>、可移植性</a:t>
            </a:r>
            <a:endParaRPr lang="zh-CN" altLang="en-US"/>
          </a:p>
          <a:p>
            <a:r>
              <a:rPr lang="zh-CN" altLang="en-US"/>
              <a:t>软件可移植性指的是，把程序从一种计算环境转移到另一种计算环境的难易程度。把与硬件、操作系统以及其他外部设备有关的程序代码集中放到特定的程序模块中，可以把因环境变化而必须修改的程序局限在少数程序模块中，从而降低修改的难度。</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决定软件可维护性的因素</a:t>
            </a:r>
            <a:endParaRPr lang="zh-CN" altLang="en-US"/>
          </a:p>
        </p:txBody>
      </p:sp>
      <p:sp>
        <p:nvSpPr>
          <p:cNvPr id="2" name="文本框 1"/>
          <p:cNvSpPr txBox="1"/>
          <p:nvPr/>
        </p:nvSpPr>
        <p:spPr>
          <a:xfrm>
            <a:off x="464185" y="1417955"/>
            <a:ext cx="7963535" cy="2861310"/>
          </a:xfrm>
          <a:prstGeom prst="rect">
            <a:avLst/>
          </a:prstGeom>
          <a:noFill/>
        </p:spPr>
        <p:txBody>
          <a:bodyPr wrap="square" rtlCol="0">
            <a:spAutoFit/>
          </a:bodyPr>
          <a:p>
            <a:r>
              <a:rPr lang="en-US" altLang="zh-CN"/>
              <a:t>5</a:t>
            </a:r>
            <a:r>
              <a:rPr lang="zh-CN" altLang="en-US"/>
              <a:t>、可重用性</a:t>
            </a:r>
            <a:endParaRPr lang="zh-CN" altLang="en-US"/>
          </a:p>
          <a:p>
            <a:r>
              <a:rPr lang="zh-CN" altLang="en-US"/>
              <a:t>所谓重用是指同一事物不做修改或稍加改动就在不同环境中多次重复使用。大量使用可重用的软件构件来开发软件，可以从下述两个方面提高软件的可维护性。</a:t>
            </a:r>
            <a:endParaRPr lang="zh-CN" altLang="en-US"/>
          </a:p>
          <a:p>
            <a:r>
              <a:rPr lang="zh-CN" altLang="en-US"/>
              <a:t>（</a:t>
            </a:r>
            <a:r>
              <a:rPr lang="en-US" altLang="zh-CN"/>
              <a:t>1</a:t>
            </a:r>
            <a:r>
              <a:rPr lang="zh-CN" altLang="en-US"/>
              <a:t>）通常，可重用的软件构件在开发时都经过很严格的测试，可靠性比较高，且在每次重用过程中都会发现并清除一些错误，随着时间推移，这样的构件将变成实质上无错误的。因此软件中使用的可重用构件越多，软件的可靠性越高，改正性维护需求就越少。</a:t>
            </a:r>
            <a:endParaRPr lang="zh-CN" altLang="en-US"/>
          </a:p>
          <a:p>
            <a:r>
              <a:rPr lang="zh-CN" altLang="en-US"/>
              <a:t>（</a:t>
            </a:r>
            <a:r>
              <a:rPr lang="en-US" altLang="zh-CN"/>
              <a:t>2</a:t>
            </a:r>
            <a:r>
              <a:rPr lang="zh-CN" altLang="en-US"/>
              <a:t>）很容易修改可重用的软件构件使之再次应用在新环境中，因此，软件中使用的可重用构件越多，适应性和完善性维护也就越容易。</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文档</a:t>
            </a:r>
            <a:endParaRPr lang="zh-CN" altLang="en-US"/>
          </a:p>
        </p:txBody>
      </p:sp>
      <p:sp>
        <p:nvSpPr>
          <p:cNvPr id="2" name="文本框 1"/>
          <p:cNvSpPr txBox="1"/>
          <p:nvPr/>
        </p:nvSpPr>
        <p:spPr>
          <a:xfrm>
            <a:off x="464185" y="1417955"/>
            <a:ext cx="7963535" cy="2030095"/>
          </a:xfrm>
          <a:prstGeom prst="rect">
            <a:avLst/>
          </a:prstGeom>
          <a:noFill/>
        </p:spPr>
        <p:txBody>
          <a:bodyPr wrap="square" rtlCol="0">
            <a:spAutoFit/>
          </a:bodyPr>
          <a:p>
            <a:r>
              <a:rPr lang="zh-CN"/>
              <a:t>文档是影响软件可维护性的决定因素。由于长期使用的大型软件系统在使用过程中必然会经受多次修改，所以文档比程序代码更重要。</a:t>
            </a:r>
            <a:endParaRPr lang="zh-CN"/>
          </a:p>
          <a:p>
            <a:r>
              <a:rPr lang="zh-CN" altLang="en-US"/>
              <a:t>软件系统的文档可以分为用户文档和系统文档两类。用户文档主要描述系统功能和使用方法，并不关心这些功能是怎样实现的；系统文档描述系统设计、实现和测试等各方面的内容。</a:t>
            </a:r>
            <a:endParaRPr lang="zh-CN" altLang="en-US"/>
          </a:p>
          <a:p>
            <a:r>
              <a:rPr lang="zh-CN" altLang="en-US"/>
              <a:t>总的来说，软件文档应该满足下述要求。</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文档</a:t>
            </a:r>
            <a:endParaRPr lang="zh-CN" altLang="en-US"/>
          </a:p>
        </p:txBody>
      </p:sp>
      <p:sp>
        <p:nvSpPr>
          <p:cNvPr id="5" name="文本框 4"/>
          <p:cNvSpPr txBox="1"/>
          <p:nvPr/>
        </p:nvSpPr>
        <p:spPr>
          <a:xfrm>
            <a:off x="1433830" y="1833880"/>
            <a:ext cx="6276975" cy="1476375"/>
          </a:xfrm>
          <a:prstGeom prst="rect">
            <a:avLst/>
          </a:prstGeom>
          <a:noFill/>
        </p:spPr>
        <p:txBody>
          <a:bodyPr wrap="square" rtlCol="0">
            <a:spAutoFit/>
          </a:bodyPr>
          <a:p>
            <a:r>
              <a:rPr lang="en-US" altLang="zh-CN"/>
              <a:t>1.</a:t>
            </a:r>
            <a:r>
              <a:rPr lang="zh-CN" altLang="en-US"/>
              <a:t>用户文档：使用户获得对系统的准确的初步印象。至少包含功能描述、安装文档、使用手册、参考手册、操作员指南</a:t>
            </a:r>
            <a:endParaRPr lang="zh-CN" altLang="en-US"/>
          </a:p>
          <a:p>
            <a:r>
              <a:rPr lang="en-US" altLang="zh-CN"/>
              <a:t>2.</a:t>
            </a:r>
            <a:r>
              <a:rPr lang="zh-CN" altLang="en-US"/>
              <a:t>系统文档：指从问题定义、需求说明到验收测试计划这样一系列和系统实现有关的文档</a:t>
            </a:r>
            <a:endParaRPr lang="zh-CN" altLang="en-US"/>
          </a:p>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可维护性复审</a:t>
            </a:r>
            <a:endParaRPr lang="zh-CN" altLang="en-US"/>
          </a:p>
        </p:txBody>
      </p:sp>
      <p:sp>
        <p:nvSpPr>
          <p:cNvPr id="2" name="文本框 1"/>
          <p:cNvSpPr txBox="1"/>
          <p:nvPr/>
        </p:nvSpPr>
        <p:spPr>
          <a:xfrm>
            <a:off x="883285" y="1539875"/>
            <a:ext cx="7200265" cy="2030095"/>
          </a:xfrm>
          <a:prstGeom prst="rect">
            <a:avLst/>
          </a:prstGeom>
          <a:noFill/>
        </p:spPr>
        <p:txBody>
          <a:bodyPr wrap="square" rtlCol="0">
            <a:spAutoFit/>
          </a:bodyPr>
          <a:p>
            <a:r>
              <a:rPr lang="zh-CN" altLang="en-US"/>
              <a:t>在正式和非正式的设计复审期间应该从容易修改、模块化和功能独立的目标出发，评价软件的结构和过程；设计中应该对将来可能修改的部分预做准备。</a:t>
            </a:r>
            <a:endParaRPr lang="zh-CN" altLang="en-US"/>
          </a:p>
          <a:p>
            <a:r>
              <a:rPr lang="zh-CN" altLang="en-US"/>
              <a:t>代码复审应该强调编码风格和内部说明文档这两个影响可维护性的因素。</a:t>
            </a:r>
            <a:endParaRPr lang="zh-CN" altLang="en-US"/>
          </a:p>
          <a:p>
            <a:r>
              <a:rPr lang="zh-CN" altLang="en-US"/>
              <a:t>在设计和编码的过程中应该尽量使用可重用的软件构件，如果需要开发新的构件，也应该注意提高构件的可重用性。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可维护性复审</a:t>
            </a:r>
            <a:endParaRPr lang="zh-CN" altLang="en-US"/>
          </a:p>
        </p:txBody>
      </p:sp>
      <p:sp>
        <p:nvSpPr>
          <p:cNvPr id="2" name="文本框 1"/>
          <p:cNvSpPr txBox="1"/>
          <p:nvPr/>
        </p:nvSpPr>
        <p:spPr>
          <a:xfrm>
            <a:off x="883285" y="1539875"/>
            <a:ext cx="7200265" cy="1753235"/>
          </a:xfrm>
          <a:prstGeom prst="rect">
            <a:avLst/>
          </a:prstGeom>
          <a:noFill/>
        </p:spPr>
        <p:txBody>
          <a:bodyPr wrap="square" rtlCol="0">
            <a:spAutoFit/>
          </a:bodyPr>
          <a:p>
            <a:r>
              <a:rPr lang="zh-CN" altLang="en-US"/>
              <a:t>维护应该针对整个软件配置，不应该只修改程序代码。当对源程序代码的修改没有反映在设计文档或者用户手册中时，就会产生严重的后果。</a:t>
            </a:r>
            <a:endParaRPr lang="zh-CN" altLang="en-US"/>
          </a:p>
          <a:p>
            <a:r>
              <a:rPr lang="zh-CN" altLang="en-US"/>
              <a:t>用户通常根据描述软件特点和使用方法的用户文档来使用、评价软件。如果对软件的可执行部分的修改没有及时反映在用户文档中，则必然会使用户因为受挫折而产生不满。</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软件的可维护性</a:t>
            </a:r>
            <a:endParaRPr lang="zh-CN" altLang="zh-CN" b="1"/>
          </a:p>
        </p:txBody>
      </p:sp>
      <p:sp>
        <p:nvSpPr>
          <p:cNvPr id="3" name="文本框 2"/>
          <p:cNvSpPr txBox="1"/>
          <p:nvPr/>
        </p:nvSpPr>
        <p:spPr>
          <a:xfrm>
            <a:off x="883285" y="940435"/>
            <a:ext cx="7545070" cy="368300"/>
          </a:xfrm>
          <a:prstGeom prst="rect">
            <a:avLst/>
          </a:prstGeom>
          <a:noFill/>
        </p:spPr>
        <p:txBody>
          <a:bodyPr wrap="square" rtlCol="0" anchor="t">
            <a:spAutoFit/>
          </a:bodyPr>
          <a:p>
            <a:r>
              <a:rPr lang="zh-CN" altLang="en-US"/>
              <a:t>可维护性复审</a:t>
            </a:r>
            <a:endParaRPr lang="zh-CN" altLang="en-US"/>
          </a:p>
        </p:txBody>
      </p:sp>
      <p:sp>
        <p:nvSpPr>
          <p:cNvPr id="2" name="文本框 1"/>
          <p:cNvSpPr txBox="1"/>
          <p:nvPr/>
        </p:nvSpPr>
        <p:spPr>
          <a:xfrm>
            <a:off x="883285" y="1539875"/>
            <a:ext cx="7200265" cy="1198880"/>
          </a:xfrm>
          <a:prstGeom prst="rect">
            <a:avLst/>
          </a:prstGeom>
          <a:noFill/>
        </p:spPr>
        <p:txBody>
          <a:bodyPr wrap="square" rtlCol="0">
            <a:spAutoFit/>
          </a:bodyPr>
          <a:p>
            <a:r>
              <a:rPr lang="zh-CN" altLang="en-US"/>
              <a:t>如果在软件再次交付使用之前，对软件配置进行严格的复审，则可大大减少文档的问题。事实上，某些维护要求可能并不需要修改设计软件或源程序代码，只是表明用户文档不清楚或不准确，因此只需要对文档做必要的维护。</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预防性维护</a:t>
            </a:r>
            <a:endParaRPr lang="zh-CN" altLang="zh-CN" b="1"/>
          </a:p>
        </p:txBody>
      </p:sp>
      <p:sp>
        <p:nvSpPr>
          <p:cNvPr id="2" name="文本框 1"/>
          <p:cNvSpPr txBox="1"/>
          <p:nvPr/>
        </p:nvSpPr>
        <p:spPr>
          <a:xfrm>
            <a:off x="890905" y="1220470"/>
            <a:ext cx="7200265" cy="2306955"/>
          </a:xfrm>
          <a:prstGeom prst="rect">
            <a:avLst/>
          </a:prstGeom>
          <a:noFill/>
        </p:spPr>
        <p:txBody>
          <a:bodyPr wrap="square" rtlCol="0">
            <a:spAutoFit/>
          </a:bodyPr>
          <a:p>
            <a:r>
              <a:rPr lang="en-US" altLang="zh-CN"/>
              <a:t>1.</a:t>
            </a:r>
            <a:r>
              <a:rPr lang="zh-CN" altLang="en-US"/>
              <a:t>反复多次地做修改程序的尝试，与不可见的设计及源代码</a:t>
            </a:r>
            <a:r>
              <a:rPr lang="en-US" altLang="zh-CN"/>
              <a:t>“</a:t>
            </a:r>
            <a:r>
              <a:rPr lang="zh-CN" altLang="en-US"/>
              <a:t>顽强战斗</a:t>
            </a:r>
            <a:r>
              <a:rPr lang="en-US" altLang="zh-CN"/>
              <a:t>”</a:t>
            </a:r>
            <a:r>
              <a:rPr lang="zh-CN" altLang="en-US"/>
              <a:t>，以实现所有的修改。</a:t>
            </a:r>
            <a:endParaRPr lang="zh-CN" altLang="en-US"/>
          </a:p>
          <a:p>
            <a:r>
              <a:rPr lang="en-US" altLang="zh-CN"/>
              <a:t>2.</a:t>
            </a:r>
            <a:r>
              <a:rPr lang="zh-CN" altLang="en-US"/>
              <a:t>通过仔细分析程序尽可能多地掌握程序的内部设计工作细节，以便更有效地修改它。</a:t>
            </a:r>
            <a:endParaRPr lang="zh-CN" altLang="en-US"/>
          </a:p>
          <a:p>
            <a:r>
              <a:rPr lang="en-US" altLang="zh-CN"/>
              <a:t>3.</a:t>
            </a:r>
            <a:r>
              <a:rPr lang="zh-CN" altLang="en-US"/>
              <a:t>在深入理解原有设计的基础上，用软件工程方法重新设计、重新编码和测试那些需要变更的软件部分。</a:t>
            </a:r>
            <a:endParaRPr lang="zh-CN" altLang="en-US"/>
          </a:p>
          <a:p>
            <a:r>
              <a:rPr lang="en-US" altLang="zh-CN"/>
              <a:t>4.</a:t>
            </a:r>
            <a:r>
              <a:rPr lang="zh-CN" altLang="en-US"/>
              <a:t>以软件工程方法学为指导，对程序全部重新设计、重现编码和测试，为此可以使用</a:t>
            </a:r>
            <a:r>
              <a:rPr lang="en-US" altLang="zh-CN"/>
              <a:t>CASE</a:t>
            </a:r>
            <a:r>
              <a:rPr lang="zh-CN" altLang="en-US"/>
              <a:t>工具来帮助理解原有的设计。</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软件再工程过程</a:t>
            </a:r>
            <a:endParaRPr lang="zh-CN" altLang="zh-CN" b="1"/>
          </a:p>
        </p:txBody>
      </p:sp>
      <p:sp>
        <p:nvSpPr>
          <p:cNvPr id="2" name="文本框 1"/>
          <p:cNvSpPr txBox="1"/>
          <p:nvPr/>
        </p:nvSpPr>
        <p:spPr>
          <a:xfrm>
            <a:off x="906145" y="1532255"/>
            <a:ext cx="7200265" cy="922020"/>
          </a:xfrm>
          <a:prstGeom prst="rect">
            <a:avLst/>
          </a:prstGeom>
          <a:noFill/>
        </p:spPr>
        <p:txBody>
          <a:bodyPr wrap="square" rtlCol="0">
            <a:spAutoFit/>
          </a:bodyPr>
          <a:p>
            <a:r>
              <a:rPr lang="zh-CN"/>
              <a:t>应该仔细分析库存目录，按照业务重要程度、寿命、当前可维护性、预期的修改次数等标准，把库中的应用系统排序，总重再选出再工程的候选者，然后明智地分配再工程所需要的资源。</a:t>
            </a:r>
            <a:endParaRPr lang="zh-CN"/>
          </a:p>
        </p:txBody>
      </p:sp>
      <p:sp>
        <p:nvSpPr>
          <p:cNvPr id="5" name="文本框 4"/>
          <p:cNvSpPr txBox="1"/>
          <p:nvPr/>
        </p:nvSpPr>
        <p:spPr>
          <a:xfrm>
            <a:off x="1087755" y="1078865"/>
            <a:ext cx="1743710" cy="368300"/>
          </a:xfrm>
          <a:prstGeom prst="rect">
            <a:avLst/>
          </a:prstGeom>
          <a:noFill/>
        </p:spPr>
        <p:txBody>
          <a:bodyPr wrap="none" rtlCol="0">
            <a:spAutoFit/>
          </a:bodyPr>
          <a:p>
            <a:r>
              <a:rPr lang="en-US" altLang="zh-CN"/>
              <a:t>1.</a:t>
            </a:r>
            <a:r>
              <a:rPr lang="zh-CN" altLang="en-US"/>
              <a:t>库存目录分析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软件再工程过程</a:t>
            </a:r>
            <a:endParaRPr lang="zh-CN" altLang="zh-CN" b="1"/>
          </a:p>
        </p:txBody>
      </p:sp>
      <p:sp>
        <p:nvSpPr>
          <p:cNvPr id="2" name="文本框 1"/>
          <p:cNvSpPr txBox="1"/>
          <p:nvPr/>
        </p:nvSpPr>
        <p:spPr>
          <a:xfrm>
            <a:off x="906145" y="1532255"/>
            <a:ext cx="7200265" cy="645160"/>
          </a:xfrm>
          <a:prstGeom prst="rect">
            <a:avLst/>
          </a:prstGeom>
          <a:noFill/>
        </p:spPr>
        <p:txBody>
          <a:bodyPr wrap="square" rtlCol="0">
            <a:spAutoFit/>
          </a:bodyPr>
          <a:p>
            <a:r>
              <a:rPr lang="zh-CN"/>
              <a:t>老程序固有的特点就是缺乏文档，而文档的重构需要具体问题具体分析，根据程序特点来重构文档，减少不必要的工作量。</a:t>
            </a:r>
            <a:endParaRPr lang="zh-CN"/>
          </a:p>
        </p:txBody>
      </p:sp>
      <p:sp>
        <p:nvSpPr>
          <p:cNvPr id="5" name="文本框 4"/>
          <p:cNvSpPr txBox="1"/>
          <p:nvPr/>
        </p:nvSpPr>
        <p:spPr>
          <a:xfrm>
            <a:off x="1087755" y="1078865"/>
            <a:ext cx="1286510" cy="368300"/>
          </a:xfrm>
          <a:prstGeom prst="rect">
            <a:avLst/>
          </a:prstGeom>
          <a:noFill/>
        </p:spPr>
        <p:txBody>
          <a:bodyPr wrap="none" rtlCol="0">
            <a:spAutoFit/>
          </a:bodyPr>
          <a:p>
            <a:r>
              <a:rPr lang="en-US"/>
              <a:t>2.</a:t>
            </a:r>
            <a:r>
              <a:rPr lang="zh-CN" altLang="en-US"/>
              <a:t>文档重构</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软件再工程过程</a:t>
            </a:r>
            <a:endParaRPr lang="zh-CN" altLang="zh-CN" b="1"/>
          </a:p>
        </p:txBody>
      </p:sp>
      <p:sp>
        <p:nvSpPr>
          <p:cNvPr id="2" name="文本框 1"/>
          <p:cNvSpPr txBox="1"/>
          <p:nvPr/>
        </p:nvSpPr>
        <p:spPr>
          <a:xfrm>
            <a:off x="906145" y="1532255"/>
            <a:ext cx="7200265" cy="1198880"/>
          </a:xfrm>
          <a:prstGeom prst="rect">
            <a:avLst/>
          </a:prstGeom>
          <a:noFill/>
        </p:spPr>
        <p:txBody>
          <a:bodyPr wrap="square" rtlCol="0">
            <a:spAutoFit/>
          </a:bodyPr>
          <a:p>
            <a:r>
              <a:rPr lang="zh-CN"/>
              <a:t>软件的逆向工程是分析程序以便在比源代码更高的抽象层次上创建出程序的某种表示的过程，也就是说，逆向工程是一个恢复设计结果的过程，逆向工程工具从现存的程序代码中抽取有关数据、体系结构和处理过程的设计信息。</a:t>
            </a:r>
            <a:endParaRPr lang="zh-CN"/>
          </a:p>
        </p:txBody>
      </p:sp>
      <p:sp>
        <p:nvSpPr>
          <p:cNvPr id="5" name="文本框 4"/>
          <p:cNvSpPr txBox="1"/>
          <p:nvPr/>
        </p:nvSpPr>
        <p:spPr>
          <a:xfrm>
            <a:off x="1087755" y="1078865"/>
            <a:ext cx="1286510" cy="368300"/>
          </a:xfrm>
          <a:prstGeom prst="rect">
            <a:avLst/>
          </a:prstGeom>
          <a:noFill/>
        </p:spPr>
        <p:txBody>
          <a:bodyPr wrap="none" rtlCol="0">
            <a:spAutoFit/>
          </a:bodyPr>
          <a:p>
            <a:r>
              <a:rPr lang="en-US"/>
              <a:t>3.</a:t>
            </a:r>
            <a:r>
              <a:rPr lang="zh-CN" altLang="en-US"/>
              <a:t>逆向工程</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软件再工程过程</a:t>
            </a:r>
            <a:endParaRPr lang="zh-CN" altLang="zh-CN" b="1"/>
          </a:p>
        </p:txBody>
      </p:sp>
      <p:sp>
        <p:nvSpPr>
          <p:cNvPr id="2" name="文本框 1"/>
          <p:cNvSpPr txBox="1"/>
          <p:nvPr/>
        </p:nvSpPr>
        <p:spPr>
          <a:xfrm>
            <a:off x="906145" y="1532255"/>
            <a:ext cx="7200265" cy="1753235"/>
          </a:xfrm>
          <a:prstGeom prst="rect">
            <a:avLst/>
          </a:prstGeom>
          <a:noFill/>
        </p:spPr>
        <p:txBody>
          <a:bodyPr wrap="square" rtlCol="0">
            <a:spAutoFit/>
          </a:bodyPr>
          <a:p>
            <a:r>
              <a:rPr lang="zh-CN"/>
              <a:t>为了完成代码重构活动，首先用重构工具分析源代码，标注出结构化程序设计概念相违背的部分。然后重构有问题的代码、最后复审和测试生成的重构代码并更新代码文档。</a:t>
            </a:r>
            <a:endParaRPr lang="zh-CN"/>
          </a:p>
          <a:p>
            <a:r>
              <a:rPr lang="zh-CN" altLang="en-US"/>
              <a:t>通常，重构并不修改整体的程序体系结构，它仅关注个体模块的设计细节以及在模块中定义的局部数据结构。如果重构扩展到模块边界之外并涉及软件体系结构，则重构变成了正向工程。</a:t>
            </a:r>
            <a:endParaRPr lang="zh-CN" altLang="en-US"/>
          </a:p>
        </p:txBody>
      </p:sp>
      <p:sp>
        <p:nvSpPr>
          <p:cNvPr id="5" name="文本框 4"/>
          <p:cNvSpPr txBox="1"/>
          <p:nvPr/>
        </p:nvSpPr>
        <p:spPr>
          <a:xfrm>
            <a:off x="1087755" y="1078865"/>
            <a:ext cx="1286510" cy="368300"/>
          </a:xfrm>
          <a:prstGeom prst="rect">
            <a:avLst/>
          </a:prstGeom>
          <a:noFill/>
        </p:spPr>
        <p:txBody>
          <a:bodyPr wrap="none" rtlCol="0">
            <a:spAutoFit/>
          </a:bodyPr>
          <a:p>
            <a:r>
              <a:rPr lang="en-US"/>
              <a:t>4.</a:t>
            </a:r>
            <a:r>
              <a:rPr lang="zh-CN" altLang="en-US"/>
              <a:t>代码重构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软件再工程过程</a:t>
            </a:r>
            <a:endParaRPr lang="zh-CN" altLang="zh-CN" b="1"/>
          </a:p>
        </p:txBody>
      </p:sp>
      <p:sp>
        <p:nvSpPr>
          <p:cNvPr id="2" name="文本框 1"/>
          <p:cNvSpPr txBox="1"/>
          <p:nvPr/>
        </p:nvSpPr>
        <p:spPr>
          <a:xfrm>
            <a:off x="906145" y="1532255"/>
            <a:ext cx="7200265" cy="1753235"/>
          </a:xfrm>
          <a:prstGeom prst="rect">
            <a:avLst/>
          </a:prstGeom>
          <a:noFill/>
        </p:spPr>
        <p:txBody>
          <a:bodyPr wrap="square" rtlCol="0">
            <a:spAutoFit/>
          </a:bodyPr>
          <a:p>
            <a:r>
              <a:rPr lang="zh-CN"/>
              <a:t>与代码重构不同，数据重构发生在相当低的抽象层次上，它是一种全范围的再工程活动。在大多数情况下，数据重构始于逆向工程活动，分解当前使用的数据体系结构，必要时定义数据结构模型，标识数据对象和属性，并从软件质量的角度复审现存的数据结构。</a:t>
            </a:r>
            <a:endParaRPr lang="zh-CN"/>
          </a:p>
          <a:p>
            <a:r>
              <a:rPr lang="zh-CN"/>
              <a:t>由于数据体系结构对程序体系结构及程序中的算法有很大影响，对数据的修改必然会导致体系结构或代码层的改变。</a:t>
            </a:r>
            <a:endParaRPr lang="zh-CN"/>
          </a:p>
        </p:txBody>
      </p:sp>
      <p:sp>
        <p:nvSpPr>
          <p:cNvPr id="5" name="文本框 4"/>
          <p:cNvSpPr txBox="1"/>
          <p:nvPr/>
        </p:nvSpPr>
        <p:spPr>
          <a:xfrm>
            <a:off x="1087755" y="1078865"/>
            <a:ext cx="1286510" cy="368300"/>
          </a:xfrm>
          <a:prstGeom prst="rect">
            <a:avLst/>
          </a:prstGeom>
          <a:noFill/>
        </p:spPr>
        <p:txBody>
          <a:bodyPr wrap="none" rtlCol="0">
            <a:spAutoFit/>
          </a:bodyPr>
          <a:p>
            <a:r>
              <a:rPr lang="en-US" altLang="zh-CN"/>
              <a:t>5.</a:t>
            </a:r>
            <a:r>
              <a:rPr lang="zh-CN" altLang="en-US"/>
              <a:t>数据重构</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185" y="417830"/>
            <a:ext cx="7362190" cy="368300"/>
          </a:xfrm>
          <a:prstGeom prst="rect">
            <a:avLst/>
          </a:prstGeom>
          <a:noFill/>
        </p:spPr>
        <p:txBody>
          <a:bodyPr wrap="square" rtlCol="0">
            <a:spAutoFit/>
          </a:bodyPr>
          <a:p>
            <a:r>
              <a:rPr lang="zh-CN" altLang="zh-CN" b="1"/>
              <a:t>软件再工程过程</a:t>
            </a:r>
            <a:endParaRPr lang="zh-CN" altLang="zh-CN" b="1"/>
          </a:p>
        </p:txBody>
      </p:sp>
      <p:sp>
        <p:nvSpPr>
          <p:cNvPr id="2" name="文本框 1"/>
          <p:cNvSpPr txBox="1"/>
          <p:nvPr/>
        </p:nvSpPr>
        <p:spPr>
          <a:xfrm>
            <a:off x="906145" y="1532255"/>
            <a:ext cx="7200265" cy="922020"/>
          </a:xfrm>
          <a:prstGeom prst="rect">
            <a:avLst/>
          </a:prstGeom>
          <a:noFill/>
        </p:spPr>
        <p:txBody>
          <a:bodyPr wrap="square" rtlCol="0">
            <a:spAutoFit/>
          </a:bodyPr>
          <a:p>
            <a:r>
              <a:rPr lang="zh-CN"/>
              <a:t>正向工程过程应用软件工程的原理、概念、技术和方法来重新开发某个现有的应用系统。在大多数情况下，被再工程的软件不仅重新实现现有系统的功能，而且加入了新功能和提高了整体性能。</a:t>
            </a:r>
            <a:endParaRPr lang="zh-CN"/>
          </a:p>
        </p:txBody>
      </p:sp>
      <p:sp>
        <p:nvSpPr>
          <p:cNvPr id="5" name="文本框 4"/>
          <p:cNvSpPr txBox="1"/>
          <p:nvPr/>
        </p:nvSpPr>
        <p:spPr>
          <a:xfrm>
            <a:off x="1087755" y="1078865"/>
            <a:ext cx="1286510" cy="368300"/>
          </a:xfrm>
          <a:prstGeom prst="rect">
            <a:avLst/>
          </a:prstGeom>
          <a:noFill/>
        </p:spPr>
        <p:txBody>
          <a:bodyPr wrap="none" rtlCol="0">
            <a:spAutoFit/>
          </a:bodyPr>
          <a:p>
            <a:r>
              <a:rPr lang="en-US"/>
              <a:t>6.</a:t>
            </a:r>
            <a:r>
              <a:rPr lang="zh-CN" altLang="en-US"/>
              <a:t>正向工程</a:t>
            </a:r>
            <a:r>
              <a:rPr lang="zh-CN" altLang="en-US"/>
              <a:t>                                                                                                                               </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参考资料</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66750" y="1310005"/>
            <a:ext cx="6593205" cy="922020"/>
          </a:xfrm>
          <a:prstGeom prst="rect">
            <a:avLst/>
          </a:prstGeom>
          <a:noFill/>
        </p:spPr>
        <p:txBody>
          <a:bodyPr wrap="square" rtlCol="0" anchor="t">
            <a:spAutoFit/>
          </a:bodyPr>
          <a:p>
            <a:r>
              <a:rPr lang="en-US" altLang="zh-CN"/>
              <a:t>[1]</a:t>
            </a:r>
            <a:r>
              <a:rPr lang="zh-CN"/>
              <a:t>明</a:t>
            </a:r>
            <a:r>
              <a:rPr lang="en-US" altLang="zh-CN"/>
              <a:t>-Ming.</a:t>
            </a:r>
            <a:r>
              <a:rPr lang="zh-CN" altLang="en-US"/>
              <a:t>白盒测试理论基础</a:t>
            </a:r>
            <a:r>
              <a:rPr lang="zh-CN" altLang="en-US" dirty="0">
                <a:ea typeface="宋体" panose="02010600030101010101" pitchFamily="2" charset="-122"/>
                <a:sym typeface="+mn-ea"/>
              </a:rPr>
              <a:t>[EB/OL]</a:t>
            </a:r>
            <a:r>
              <a:rPr lang="en-US" altLang="zh-CN" dirty="0">
                <a:ea typeface="宋体" panose="02010600030101010101" pitchFamily="2" charset="-122"/>
                <a:sym typeface="+mn-ea"/>
              </a:rPr>
              <a:t>.</a:t>
            </a:r>
            <a:endParaRPr lang="zh-CN" altLang="en-US"/>
          </a:p>
          <a:p>
            <a:r>
              <a:rPr lang="zh-CN" altLang="en-US"/>
              <a:t>https://www.cnblogs.com/Ming8006/p/5798186.html#c6</a:t>
            </a:r>
            <a:r>
              <a:rPr lang="en-US" altLang="zh-CN"/>
              <a:t>,</a:t>
            </a:r>
            <a:endParaRPr lang="en-US" altLang="zh-CN"/>
          </a:p>
          <a:p>
            <a:r>
              <a:rPr lang="en-US" altLang="zh-CN"/>
              <a:t>2016-08-24/2020-12-17</a:t>
            </a:r>
            <a:endParaRPr lang="zh-CN" altLang="en-US"/>
          </a:p>
        </p:txBody>
      </p:sp>
      <p:sp>
        <p:nvSpPr>
          <p:cNvPr id="3" name="文本框 2"/>
          <p:cNvSpPr txBox="1"/>
          <p:nvPr/>
        </p:nvSpPr>
        <p:spPr>
          <a:xfrm>
            <a:off x="666750" y="2387600"/>
            <a:ext cx="7445375" cy="645160"/>
          </a:xfrm>
          <a:prstGeom prst="rect">
            <a:avLst/>
          </a:prstGeom>
          <a:noFill/>
        </p:spPr>
        <p:txBody>
          <a:bodyPr wrap="none" rtlCol="0" anchor="t">
            <a:spAutoFit/>
          </a:bodyPr>
          <a:p>
            <a:pPr marL="0" indent="0" algn="l">
              <a:buNone/>
            </a:pPr>
            <a:r>
              <a:rPr lang="en-US" altLang="zh-CN" dirty="0">
                <a:latin typeface="微软雅黑" panose="020B0503020204020204" charset="-122"/>
                <a:ea typeface="微软雅黑" panose="020B0503020204020204" charset="-122"/>
                <a:sym typeface="+mn-ea"/>
              </a:rPr>
              <a:t>[2]</a:t>
            </a:r>
            <a:r>
              <a:rPr lang="zh-CN" altLang="en-US" dirty="0">
                <a:latin typeface="微软雅黑" panose="020B0503020204020204" charset="-122"/>
                <a:ea typeface="微软雅黑" panose="020B0503020204020204" charset="-122"/>
                <a:sym typeface="+mn-ea"/>
              </a:rPr>
              <a:t>张海蕃</a:t>
            </a:r>
            <a:r>
              <a:rPr lang="en-US" altLang="zh-CN"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sym typeface="+mn-ea"/>
              </a:rPr>
              <a:t>牟永敏</a:t>
            </a:r>
            <a:r>
              <a:rPr lang="en-US" altLang="zh-CN"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sym typeface="+mn-ea"/>
              </a:rPr>
              <a:t>软件工程导论</a:t>
            </a:r>
            <a:r>
              <a:rPr lang="en-US" altLang="zh-CN"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sym typeface="+mn-ea"/>
              </a:rPr>
              <a:t>第六版</a:t>
            </a: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北京</a:t>
            </a:r>
            <a:r>
              <a:rPr lang="en-US" altLang="zh-CN"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sym typeface="+mn-ea"/>
              </a:rPr>
              <a:t>清华大学出版社</a:t>
            </a:r>
            <a:r>
              <a:rPr lang="en-US" altLang="zh-CN" dirty="0">
                <a:latin typeface="微软雅黑" panose="020B0503020204020204" charset="-122"/>
                <a:ea typeface="微软雅黑" panose="020B0503020204020204" charset="-122"/>
                <a:sym typeface="+mn-ea"/>
              </a:rPr>
              <a:t>,2013</a:t>
            </a:r>
            <a:endParaRPr lang="en-US" altLang="zh-CN" dirty="0">
              <a:latin typeface="微软雅黑" panose="020B0503020204020204" charset="-122"/>
              <a:ea typeface="微软雅黑" panose="020B0503020204020204" charset="-122"/>
            </a:endParaRPr>
          </a:p>
          <a:p>
            <a:pPr marL="0" indent="0" algn="l">
              <a:buNone/>
            </a:pP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绩效评价</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p:cNvSpPr>
            <a:spLocks noGrp="1"/>
          </p:cNvSpPr>
          <p:nvPr>
            <p:ph type="pic" sz="quarter" idx="13"/>
          </p:nvPr>
        </p:nvSpPr>
        <p:spPr/>
      </p:sp>
      <p:sp>
        <p:nvSpPr>
          <p:cNvPr id="3" name="标题 2"/>
          <p:cNvSpPr>
            <a:spLocks noGrp="1"/>
          </p:cNvSpPr>
          <p:nvPr>
            <p:ph type="ctrTitle"/>
          </p:nvPr>
        </p:nvSpPr>
        <p:spPr>
          <a:xfrm>
            <a:off x="107100" y="108000"/>
            <a:ext cx="8518880" cy="4491629"/>
          </a:xfrm>
        </p:spPr>
        <p:txBody>
          <a:bodyPr/>
          <a:lstStyle/>
          <a:p>
            <a:pPr algn="l"/>
            <a:r>
              <a:rPr lang="zh-CN" altLang="en-US" sz="2700" dirty="0"/>
              <a:t>当前阶段成员打分</a:t>
            </a:r>
            <a:endParaRPr lang="zh-CN" altLang="en-US" sz="2700" dirty="0"/>
          </a:p>
        </p:txBody>
      </p:sp>
      <p:sp>
        <p:nvSpPr>
          <p:cNvPr id="5" name="灯片编号占位符 4"/>
          <p:cNvSpPr>
            <a:spLocks noGrp="1"/>
          </p:cNvSpPr>
          <p:nvPr>
            <p:ph type="sldNum" sz="quarter" idx="14"/>
          </p:nvPr>
        </p:nvSpPr>
        <p:spPr/>
        <p:txBody>
          <a:bodyPr/>
          <a:lstStyle/>
          <a:p>
            <a:fld id="{19B51A1E-902D-48AF-9020-955120F399B6}" type="slidenum">
              <a:rPr lang="en-US" sz="1350" noProof="0" smtClean="0"/>
            </a:fld>
            <a:endParaRPr lang="en-US" sz="1350" noProof="0" dirty="0"/>
          </a:p>
        </p:txBody>
      </p:sp>
      <p:graphicFrame>
        <p:nvGraphicFramePr>
          <p:cNvPr id="6" name="表格 6"/>
          <p:cNvGraphicFramePr>
            <a:graphicFrameLocks noGrp="1"/>
          </p:cNvGraphicFramePr>
          <p:nvPr>
            <p:custDataLst>
              <p:tags r:id="rId1"/>
            </p:custDataLst>
          </p:nvPr>
        </p:nvGraphicFramePr>
        <p:xfrm>
          <a:off x="297180" y="881063"/>
          <a:ext cx="8332470" cy="3439795"/>
        </p:xfrm>
        <a:graphic>
          <a:graphicData uri="http://schemas.openxmlformats.org/drawingml/2006/table">
            <a:tbl>
              <a:tblPr firstRow="1" bandRow="1">
                <a:tableStyleId>{5C22544A-7EE6-4342-B048-85BDC9FD1C3A}</a:tableStyleId>
              </a:tblPr>
              <a:tblGrid>
                <a:gridCol w="1388745"/>
                <a:gridCol w="3634740"/>
                <a:gridCol w="916940"/>
                <a:gridCol w="786765"/>
                <a:gridCol w="840740"/>
                <a:gridCol w="764540"/>
              </a:tblGrid>
              <a:tr h="377190">
                <a:tc>
                  <a:txBody>
                    <a:bodyPr/>
                    <a:lstStyle/>
                    <a:p>
                      <a:pPr>
                        <a:lnSpc>
                          <a:spcPct val="150000"/>
                        </a:lnSpc>
                      </a:pPr>
                      <a:r>
                        <a:rPr lang="zh-CN" altLang="en-US" sz="1015" dirty="0">
                          <a:solidFill>
                            <a:srgbClr val="FF0000"/>
                          </a:solidFill>
                        </a:rPr>
                        <a:t>小组成员</a:t>
                      </a:r>
                      <a:endParaRPr lang="zh-CN" altLang="en-US" sz="1015" dirty="0">
                        <a:solidFill>
                          <a:srgbClr val="FF0000"/>
                        </a:solidFill>
                      </a:endParaRPr>
                    </a:p>
                  </a:txBody>
                  <a:tcPr marL="68580" marR="68580" marT="34290" marB="34290"/>
                </a:tc>
                <a:tc>
                  <a:txBody>
                    <a:bodyPr/>
                    <a:lstStyle/>
                    <a:p>
                      <a:pPr>
                        <a:lnSpc>
                          <a:spcPct val="150000"/>
                        </a:lnSpc>
                      </a:pPr>
                      <a:r>
                        <a:rPr lang="zh-CN" altLang="en-US" sz="1015" dirty="0">
                          <a:solidFill>
                            <a:srgbClr val="FF0000"/>
                          </a:solidFill>
                        </a:rPr>
                        <a:t>分工</a:t>
                      </a:r>
                      <a:endParaRPr lang="zh-CN" altLang="en-US" sz="1015" dirty="0">
                        <a:solidFill>
                          <a:srgbClr val="FF0000"/>
                        </a:solidFill>
                      </a:endParaRPr>
                    </a:p>
                  </a:txBody>
                  <a:tcPr marL="68580" marR="68580" marT="34290" marB="34290"/>
                </a:tc>
                <a:tc>
                  <a:txBody>
                    <a:bodyPr/>
                    <a:lstStyle/>
                    <a:p>
                      <a:pPr>
                        <a:lnSpc>
                          <a:spcPct val="150000"/>
                        </a:lnSpc>
                      </a:pPr>
                      <a:r>
                        <a:rPr lang="zh-CN" altLang="en-US" sz="1015" dirty="0">
                          <a:solidFill>
                            <a:srgbClr val="FF0000"/>
                          </a:solidFill>
                        </a:rPr>
                        <a:t>牛旷野打分</a:t>
                      </a:r>
                      <a:endParaRPr lang="zh-CN" altLang="en-US" sz="1015" dirty="0">
                        <a:solidFill>
                          <a:srgbClr val="FF0000"/>
                        </a:solidFill>
                      </a:endParaRPr>
                    </a:p>
                  </a:txBody>
                  <a:tcPr marL="68580" marR="68580" marT="34290" marB="34290"/>
                </a:tc>
                <a:tc>
                  <a:txBody>
                    <a:bodyPr/>
                    <a:lstStyle/>
                    <a:p>
                      <a:pPr>
                        <a:lnSpc>
                          <a:spcPct val="150000"/>
                        </a:lnSpc>
                      </a:pPr>
                      <a:r>
                        <a:rPr lang="zh-CN" altLang="en-US" sz="1015" dirty="0">
                          <a:solidFill>
                            <a:srgbClr val="FF0000"/>
                          </a:solidFill>
                        </a:rPr>
                        <a:t>卢世逸打分</a:t>
                      </a:r>
                      <a:endParaRPr lang="zh-CN" altLang="en-US" sz="1015" dirty="0">
                        <a:solidFill>
                          <a:srgbClr val="FF0000"/>
                        </a:solidFill>
                      </a:endParaRPr>
                    </a:p>
                  </a:txBody>
                  <a:tcPr marL="68580" marR="68580" marT="34290" marB="34290"/>
                </a:tc>
                <a:tc>
                  <a:txBody>
                    <a:bodyPr/>
                    <a:lstStyle/>
                    <a:p>
                      <a:pPr>
                        <a:lnSpc>
                          <a:spcPct val="150000"/>
                        </a:lnSpc>
                      </a:pPr>
                      <a:r>
                        <a:rPr lang="zh-CN" altLang="en-US" sz="1015" dirty="0">
                          <a:solidFill>
                            <a:srgbClr val="FF0000"/>
                          </a:solidFill>
                        </a:rPr>
                        <a:t>孟闻凯打分</a:t>
                      </a:r>
                      <a:endParaRPr lang="zh-CN" altLang="en-US" sz="1015" dirty="0">
                        <a:solidFill>
                          <a:srgbClr val="FF0000"/>
                        </a:solidFill>
                      </a:endParaRPr>
                    </a:p>
                  </a:txBody>
                  <a:tcPr marL="68580" marR="68580" marT="34290" marB="34290"/>
                </a:tc>
                <a:tc>
                  <a:txBody>
                    <a:bodyPr/>
                    <a:p>
                      <a:pPr>
                        <a:lnSpc>
                          <a:spcPct val="150000"/>
                        </a:lnSpc>
                        <a:buNone/>
                      </a:pPr>
                      <a:r>
                        <a:rPr lang="zh-CN" altLang="en-US" sz="1015" dirty="0">
                          <a:solidFill>
                            <a:srgbClr val="FF0000"/>
                          </a:solidFill>
                        </a:rPr>
                        <a:t>得分</a:t>
                      </a:r>
                      <a:endParaRPr lang="zh-CN" altLang="en-US" sz="1015" dirty="0">
                        <a:solidFill>
                          <a:srgbClr val="FF0000"/>
                        </a:solidFill>
                      </a:endParaRPr>
                    </a:p>
                  </a:txBody>
                  <a:tcPr marL="68580" marR="68580" marT="34290" marB="34290"/>
                </a:tc>
              </a:tr>
              <a:tr h="1303020">
                <a:tc>
                  <a:txBody>
                    <a:bodyPr/>
                    <a:lstStyle/>
                    <a:p>
                      <a:pPr>
                        <a:lnSpc>
                          <a:spcPct val="150000"/>
                        </a:lnSpc>
                      </a:pPr>
                      <a:r>
                        <a:rPr lang="zh-CN" altLang="en-US" sz="1015" dirty="0"/>
                        <a:t>牛旷野</a:t>
                      </a:r>
                      <a:endParaRPr lang="zh-CN" altLang="en-US" sz="1015" dirty="0"/>
                    </a:p>
                  </a:txBody>
                  <a:tcPr marL="68580" marR="68580" marT="34290" marB="34290"/>
                </a:tc>
                <a:tc>
                  <a:txBody>
                    <a:bodyPr/>
                    <a:lstStyle/>
                    <a:p>
                      <a:pPr>
                        <a:lnSpc>
                          <a:spcPct val="150000"/>
                        </a:lnSpc>
                      </a:pPr>
                      <a:r>
                        <a:rPr lang="zh-CN" sz="1015" dirty="0"/>
                        <a:t>搜集资料，白盒测试逻辑覆盖部分，维护前三小节</a:t>
                      </a:r>
                      <a:endParaRPr lang="zh-CN" sz="1015" dirty="0"/>
                    </a:p>
                  </a:txBody>
                  <a:tcPr marL="68580" marR="68580" marT="34290" marB="34290"/>
                </a:tc>
                <a:tc>
                  <a:txBody>
                    <a:bodyPr/>
                    <a:lstStyle/>
                    <a:p>
                      <a:pPr>
                        <a:lnSpc>
                          <a:spcPct val="150000"/>
                        </a:lnSpc>
                      </a:pPr>
                      <a:r>
                        <a:rPr lang="en-US" sz="1015" dirty="0"/>
                        <a:t>92</a:t>
                      </a:r>
                      <a:endParaRPr lang="en-US" sz="1015" dirty="0"/>
                    </a:p>
                  </a:txBody>
                  <a:tcPr marL="68580" marR="68580" marT="34290" marB="34290"/>
                </a:tc>
                <a:tc>
                  <a:txBody>
                    <a:bodyPr/>
                    <a:lstStyle/>
                    <a:p>
                      <a:pPr>
                        <a:lnSpc>
                          <a:spcPct val="150000"/>
                        </a:lnSpc>
                      </a:pPr>
                      <a:r>
                        <a:rPr lang="en-US" altLang="zh-CN" sz="1015" dirty="0"/>
                        <a:t>91</a:t>
                      </a:r>
                      <a:endParaRPr lang="en-US" altLang="zh-CN" sz="1015" dirty="0"/>
                    </a:p>
                  </a:txBody>
                  <a:tcPr marL="68580" marR="68580" marT="34290" marB="34290"/>
                </a:tc>
                <a:tc>
                  <a:txBody>
                    <a:bodyPr/>
                    <a:lstStyle/>
                    <a:p>
                      <a:pPr>
                        <a:lnSpc>
                          <a:spcPct val="150000"/>
                        </a:lnSpc>
                      </a:pPr>
                      <a:r>
                        <a:rPr lang="en-US" sz="1015" dirty="0"/>
                        <a:t>93</a:t>
                      </a:r>
                      <a:endParaRPr lang="en-US" sz="1015" dirty="0"/>
                    </a:p>
                  </a:txBody>
                  <a:tcPr marL="68580" marR="68580" marT="34290" marB="34290"/>
                </a:tc>
                <a:tc>
                  <a:txBody>
                    <a:bodyPr/>
                    <a:p>
                      <a:pPr>
                        <a:lnSpc>
                          <a:spcPct val="150000"/>
                        </a:lnSpc>
                        <a:buNone/>
                      </a:pPr>
                      <a:r>
                        <a:rPr lang="en-US" altLang="zh-CN" sz="1015" dirty="0"/>
                        <a:t>92</a:t>
                      </a:r>
                      <a:endParaRPr lang="en-US" altLang="zh-CN" sz="1015" dirty="0"/>
                    </a:p>
                  </a:txBody>
                  <a:tcPr marL="68580" marR="68580" marT="34290" marB="34290"/>
                </a:tc>
              </a:tr>
              <a:tr h="994410">
                <a:tc>
                  <a:txBody>
                    <a:bodyPr/>
                    <a:lstStyle/>
                    <a:p>
                      <a:pPr>
                        <a:lnSpc>
                          <a:spcPct val="150000"/>
                        </a:lnSpc>
                      </a:pPr>
                      <a:r>
                        <a:rPr lang="zh-CN" altLang="en-US" sz="1015" dirty="0"/>
                        <a:t>卢世逸</a:t>
                      </a:r>
                      <a:endParaRPr lang="zh-CN" altLang="en-US" sz="1015" dirty="0"/>
                    </a:p>
                  </a:txBody>
                  <a:tcPr marL="68580" marR="68580" marT="34290" marB="34290"/>
                </a:tc>
                <a:tc>
                  <a:txBody>
                    <a:bodyPr/>
                    <a:lstStyle/>
                    <a:p>
                      <a:pPr>
                        <a:lnSpc>
                          <a:spcPct val="150000"/>
                        </a:lnSpc>
                      </a:pPr>
                      <a:r>
                        <a:rPr lang="zh-CN" sz="1015" dirty="0"/>
                        <a:t>白盒测试基本路径测试和条件测试，维护后三小节</a:t>
                      </a:r>
                      <a:endParaRPr lang="zh-CN" sz="1010" dirty="0">
                        <a:sym typeface="+mn-ea"/>
                      </a:endParaRPr>
                    </a:p>
                  </a:txBody>
                  <a:tcPr marL="68580" marR="68580" marT="34290" marB="34290"/>
                </a:tc>
                <a:tc>
                  <a:txBody>
                    <a:bodyPr/>
                    <a:lstStyle/>
                    <a:p>
                      <a:pPr>
                        <a:lnSpc>
                          <a:spcPct val="150000"/>
                        </a:lnSpc>
                      </a:pPr>
                      <a:r>
                        <a:rPr lang="en-US" altLang="zh-CN" sz="1015" dirty="0"/>
                        <a:t>90</a:t>
                      </a:r>
                      <a:endParaRPr lang="en-US" altLang="zh-CN" sz="1015" dirty="0"/>
                    </a:p>
                  </a:txBody>
                  <a:tcPr marL="68580" marR="68580" marT="34290" marB="34290"/>
                </a:tc>
                <a:tc>
                  <a:txBody>
                    <a:bodyPr/>
                    <a:lstStyle/>
                    <a:p>
                      <a:pPr>
                        <a:lnSpc>
                          <a:spcPct val="150000"/>
                        </a:lnSpc>
                      </a:pPr>
                      <a:r>
                        <a:rPr lang="en-US" altLang="zh-CN" sz="1015" dirty="0"/>
                        <a:t>91</a:t>
                      </a:r>
                      <a:endParaRPr lang="en-US" altLang="zh-CN" sz="1015" dirty="0"/>
                    </a:p>
                  </a:txBody>
                  <a:tcPr marL="68580" marR="68580" marT="34290" marB="34290"/>
                </a:tc>
                <a:tc>
                  <a:txBody>
                    <a:bodyPr/>
                    <a:lstStyle/>
                    <a:p>
                      <a:pPr>
                        <a:lnSpc>
                          <a:spcPct val="150000"/>
                        </a:lnSpc>
                      </a:pPr>
                      <a:r>
                        <a:rPr lang="en-US" sz="1015" dirty="0"/>
                        <a:t>91</a:t>
                      </a:r>
                      <a:endParaRPr lang="en-US" sz="1015" dirty="0"/>
                    </a:p>
                  </a:txBody>
                  <a:tcPr marL="68580" marR="68580" marT="34290" marB="34290"/>
                </a:tc>
                <a:tc>
                  <a:txBody>
                    <a:bodyPr/>
                    <a:p>
                      <a:pPr>
                        <a:lnSpc>
                          <a:spcPct val="150000"/>
                        </a:lnSpc>
                        <a:buNone/>
                      </a:pPr>
                      <a:r>
                        <a:rPr lang="en-US" altLang="zh-CN" sz="1015" dirty="0"/>
                        <a:t>90.5</a:t>
                      </a:r>
                      <a:endParaRPr lang="en-US" altLang="zh-CN" sz="1015" dirty="0"/>
                    </a:p>
                  </a:txBody>
                  <a:tcPr marL="68580" marR="68580" marT="34290" marB="34290"/>
                </a:tc>
              </a:tr>
              <a:tr h="685800">
                <a:tc>
                  <a:txBody>
                    <a:bodyPr/>
                    <a:lstStyle/>
                    <a:p>
                      <a:pPr>
                        <a:lnSpc>
                          <a:spcPct val="150000"/>
                        </a:lnSpc>
                      </a:pPr>
                      <a:r>
                        <a:rPr lang="zh-CN" altLang="en-US" sz="1015" dirty="0"/>
                        <a:t>孟闻凯</a:t>
                      </a:r>
                      <a:endParaRPr lang="zh-CN" altLang="en-US" sz="1015" dirty="0"/>
                    </a:p>
                  </a:txBody>
                  <a:tcPr marL="68580" marR="68580" marT="34290" marB="34290"/>
                </a:tc>
                <a:tc>
                  <a:txBody>
                    <a:bodyPr/>
                    <a:lstStyle/>
                    <a:p>
                      <a:pPr>
                        <a:lnSpc>
                          <a:spcPct val="150000"/>
                        </a:lnSpc>
                      </a:pPr>
                      <a:r>
                        <a:rPr lang="zh-CN" sz="1015" dirty="0"/>
                        <a:t>白盒测试循环测试部分，第七章其他部分</a:t>
                      </a:r>
                      <a:endParaRPr lang="zh-CN" sz="1015" dirty="0"/>
                    </a:p>
                  </a:txBody>
                  <a:tcPr marL="68580" marR="68580" marT="34290" marB="34290"/>
                </a:tc>
                <a:tc>
                  <a:txBody>
                    <a:bodyPr/>
                    <a:lstStyle/>
                    <a:p>
                      <a:pPr>
                        <a:lnSpc>
                          <a:spcPct val="150000"/>
                        </a:lnSpc>
                      </a:pPr>
                      <a:r>
                        <a:rPr lang="en-US" sz="1015" dirty="0">
                          <a:ea typeface="宋体" panose="02010600030101010101" pitchFamily="2" charset="-122"/>
                        </a:rPr>
                        <a:t>89</a:t>
                      </a:r>
                      <a:endParaRPr lang="en-US" sz="1015" dirty="0"/>
                    </a:p>
                  </a:txBody>
                  <a:tcPr marL="68580" marR="68580" marT="34290" marB="34290"/>
                </a:tc>
                <a:tc>
                  <a:txBody>
                    <a:bodyPr/>
                    <a:lstStyle/>
                    <a:p>
                      <a:pPr>
                        <a:lnSpc>
                          <a:spcPct val="150000"/>
                        </a:lnSpc>
                      </a:pPr>
                      <a:r>
                        <a:rPr lang="en-US" altLang="zh-CN" sz="1015" dirty="0"/>
                        <a:t>90</a:t>
                      </a:r>
                      <a:endParaRPr lang="en-US" altLang="zh-CN" sz="1015" dirty="0"/>
                    </a:p>
                  </a:txBody>
                  <a:tcPr marL="68580" marR="68580" marT="34290" marB="34290"/>
                </a:tc>
                <a:tc>
                  <a:txBody>
                    <a:bodyPr/>
                    <a:lstStyle/>
                    <a:p>
                      <a:pPr>
                        <a:lnSpc>
                          <a:spcPct val="150000"/>
                        </a:lnSpc>
                      </a:pPr>
                      <a:r>
                        <a:rPr lang="en-US" sz="1015" dirty="0"/>
                        <a:t>90</a:t>
                      </a:r>
                      <a:endParaRPr lang="en-US" sz="1015" dirty="0"/>
                    </a:p>
                  </a:txBody>
                  <a:tcPr marL="68580" marR="68580" marT="34290" marB="34290"/>
                </a:tc>
                <a:tc>
                  <a:txBody>
                    <a:bodyPr/>
                    <a:p>
                      <a:pPr>
                        <a:lnSpc>
                          <a:spcPct val="150000"/>
                        </a:lnSpc>
                        <a:buNone/>
                      </a:pPr>
                      <a:r>
                        <a:rPr lang="en-US" altLang="zh-CN" sz="1015" dirty="0"/>
                        <a:t>89.5</a:t>
                      </a:r>
                      <a:endParaRPr lang="en-US" altLang="zh-CN" sz="1015" dirty="0"/>
                    </a:p>
                  </a:txBody>
                  <a:tcPr marL="68580" marR="68580" marT="34290" marB="34290"/>
                </a:tc>
              </a:tr>
            </a:tbl>
          </a:graphicData>
        </a:graphic>
      </p:graphicFrame>
      <p:sp>
        <p:nvSpPr>
          <p:cNvPr id="4" name="文本框 3"/>
          <p:cNvSpPr txBox="1"/>
          <p:nvPr/>
        </p:nvSpPr>
        <p:spPr>
          <a:xfrm>
            <a:off x="286544" y="4599464"/>
            <a:ext cx="8160544" cy="506730"/>
          </a:xfrm>
          <a:prstGeom prst="rect">
            <a:avLst/>
          </a:prstGeom>
          <a:noFill/>
        </p:spPr>
        <p:txBody>
          <a:bodyPr wrap="square" rtlCol="0">
            <a:spAutoFit/>
          </a:bodyPr>
          <a:p>
            <a:r>
              <a:rPr lang="zh-CN" altLang="en-US" sz="1350"/>
              <a:t>打分规则：组长分数组成为：自评占0.4，组员评价占0.3，组员分数组成为：自评占0.2，组长评价占0.5，另一个组员评价占0.3.</a:t>
            </a:r>
            <a:endParaRPr lang="zh-CN" altLang="en-US" sz="135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985104" y="1813170"/>
            <a:ext cx="5032147" cy="923330"/>
          </a:xfrm>
          <a:prstGeom prst="rect">
            <a:avLst/>
          </a:prstGeom>
        </p:spPr>
        <p:txBody>
          <a:bodyPr wrap="none">
            <a:spAutoFit/>
          </a:bodyPr>
          <a:lstStyle/>
          <a:p>
            <a:pPr lvl="0" defTabSz="685800">
              <a:defRPr/>
            </a:pPr>
            <a:r>
              <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rPr>
              <a:t>感</a:t>
            </a:r>
            <a:r>
              <a:rPr lang="zh-CN" altLang="en-US" sz="5400" kern="0" dirty="0" smtClean="0">
                <a:solidFill>
                  <a:schemeClr val="accent3"/>
                </a:solidFill>
                <a:latin typeface="方正细谭黑简体" panose="02000000000000000000" pitchFamily="2" charset="-122"/>
                <a:ea typeface="方正细谭黑简体" panose="02000000000000000000" pitchFamily="2" charset="-122"/>
                <a:cs typeface="+mn-ea"/>
                <a:sym typeface="+mn-lt"/>
              </a:rPr>
              <a:t>谢各位观看！</a:t>
            </a:r>
            <a:endPar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PA" val="v4.1.3"/>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KSO_WM_UNIT_PLACING_PICTURE_USER_VIEWPORT" val="{&quot;height&quot;:9276,&quot;width&quot;:4440}"/>
</p:tagLst>
</file>

<file path=ppt/tags/tag9.xml><?xml version="1.0" encoding="utf-8"?>
<p:tagLst xmlns:p="http://schemas.openxmlformats.org/presentationml/2006/main">
  <p:tag name="KSO_WM_UNIT_PLACING_PICTURE_USER_VIEWPORT" val="{&quot;height&quot;:9276,&quot;width&quot;:4440}"/>
</p:tagLst>
</file>

<file path=ppt/tags/tag10.xml><?xml version="1.0" encoding="utf-8"?>
<p:tagLst xmlns:p="http://schemas.openxmlformats.org/presentationml/2006/main">
  <p:tag name="KSO_WM_UNIT_PLACING_PICTURE_USER_VIEWPORT" val="{&quot;height&quot;:9276,&quot;width&quot;:4440}"/>
</p:tagLst>
</file>

<file path=ppt/tags/tag11.xml><?xml version="1.0" encoding="utf-8"?>
<p:tagLst xmlns:p="http://schemas.openxmlformats.org/presentationml/2006/main">
  <p:tag name="KSO_WM_UNIT_PLACING_PICTURE_USER_VIEWPORT" val="{&quot;height&quot;:9276,&quot;width&quot;:4440}"/>
</p:tagLst>
</file>

<file path=ppt/tags/tag12.xml><?xml version="1.0" encoding="utf-8"?>
<p:tagLst xmlns:p="http://schemas.openxmlformats.org/presentationml/2006/main">
  <p:tag name="KSO_WM_UNIT_PLACING_PICTURE_USER_VIEWPORT" val="{&quot;height&quot;:9276,&quot;width&quot;:4440}"/>
</p:tagLst>
</file>

<file path=ppt/tags/tag13.xml><?xml version="1.0" encoding="utf-8"?>
<p:tagLst xmlns:p="http://schemas.openxmlformats.org/presentationml/2006/main">
  <p:tag name="KSO_WM_UNIT_PLACING_PICTURE_USER_VIEWPORT" val="{&quot;height&quot;:9276,&quot;width&quot;:4440}"/>
</p:tagLst>
</file>

<file path=ppt/tags/tag14.xml><?xml version="1.0" encoding="utf-8"?>
<p:tagLst xmlns:p="http://schemas.openxmlformats.org/presentationml/2006/main">
  <p:tag name="KSO_WM_UNIT_PLACING_PICTURE_USER_VIEWPORT" val="{&quot;height&quot;:9276,&quot;width&quot;:4440}"/>
</p:tagLst>
</file>

<file path=ppt/tags/tag15.xml><?xml version="1.0" encoding="utf-8"?>
<p:tagLst xmlns:p="http://schemas.openxmlformats.org/presentationml/2006/main">
  <p:tag name="KSO_WM_UNIT_PLACING_PICTURE_USER_VIEWPORT" val="{&quot;height&quot;:8715,&quot;width&quot;:12585}"/>
</p:tagLst>
</file>

<file path=ppt/tags/tag16.xml><?xml version="1.0" encoding="utf-8"?>
<p:tagLst xmlns:p="http://schemas.openxmlformats.org/presentationml/2006/main">
  <p:tag name="PA" val="v4.1.3"/>
</p:tagLst>
</file>

<file path=ppt/tags/tag17.xml><?xml version="1.0" encoding="utf-8"?>
<p:tagLst xmlns:p="http://schemas.openxmlformats.org/presentationml/2006/main">
  <p:tag name="PA" val="v4.1.3"/>
</p:tagLst>
</file>

<file path=ppt/tags/tag18.xml><?xml version="1.0" encoding="utf-8"?>
<p:tagLst xmlns:p="http://schemas.openxmlformats.org/presentationml/2006/main">
  <p:tag name="PA" val="v4.1.3"/>
</p:tagLst>
</file>

<file path=ppt/tags/tag19.xml><?xml version="1.0" encoding="utf-8"?>
<p:tagLst xmlns:p="http://schemas.openxmlformats.org/presentationml/2006/main">
  <p:tag name="PA" val="v4.1.3"/>
</p:tagLst>
</file>

<file path=ppt/tags/tag20.xml><?xml version="1.0" encoding="utf-8"?>
<p:tagLst xmlns:p="http://schemas.openxmlformats.org/presentationml/2006/main">
  <p:tag name="PA" val="v4.1.3"/>
</p:tagLst>
</file>

<file path=ppt/tags/tag21.xml><?xml version="1.0" encoding="utf-8"?>
<p:tagLst xmlns:p="http://schemas.openxmlformats.org/presentationml/2006/main">
  <p:tag name="PA" val="v4.1.3"/>
</p:tagLst>
</file>

<file path=ppt/tags/tag22.xml><?xml version="1.0" encoding="utf-8"?>
<p:tagLst xmlns:p="http://schemas.openxmlformats.org/presentationml/2006/main">
  <p:tag name="KSO_WM_UNIT_TABLE_BEAUTIFY" val="smartTable{ab41c473-45b7-48b2-b9f0-75195b46ce51}"/>
</p:tagLst>
</file>

<file path=ppt/tags/tag23.xml><?xml version="1.0" encoding="utf-8"?>
<p:tagLst xmlns:p="http://schemas.openxmlformats.org/presentationml/2006/main">
  <p:tag name="PA" val="v4.1.3"/>
</p:tagLst>
</file>

<file path=ppt/theme/theme1.xml><?xml version="1.0" encoding="utf-8"?>
<a:theme xmlns:a="http://schemas.openxmlformats.org/drawingml/2006/main" name="第一PPT，www.1ppt.com">
  <a:themeElements>
    <a:clrScheme name="12舒服配色">
      <a:dk1>
        <a:sysClr val="windowText" lastClr="000000"/>
      </a:dk1>
      <a:lt1>
        <a:sysClr val="window" lastClr="FFFFFF"/>
      </a:lt1>
      <a:dk2>
        <a:srgbClr val="EEF2F5"/>
      </a:dk2>
      <a:lt2>
        <a:srgbClr val="E7E6E6"/>
      </a:lt2>
      <a:accent1>
        <a:srgbClr val="F7E9E0"/>
      </a:accent1>
      <a:accent2>
        <a:srgbClr val="F4D1CF"/>
      </a:accent2>
      <a:accent3>
        <a:srgbClr val="7787A0"/>
      </a:accent3>
      <a:accent4>
        <a:srgbClr val="A0B0BF"/>
      </a:accent4>
      <a:accent5>
        <a:srgbClr val="C9D2E1"/>
      </a:accent5>
      <a:accent6>
        <a:srgbClr val="70AD47"/>
      </a:accent6>
      <a:hlink>
        <a:srgbClr val="000000"/>
      </a:hlink>
      <a:folHlink>
        <a:srgbClr val="954F72"/>
      </a:folHlink>
    </a:clrScheme>
    <a:fontScheme name="dmo5hqlq">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0</TotalTime>
  <Words>14120</Words>
  <Application>WPS 演示</Application>
  <PresentationFormat>全屏显示(16:9)</PresentationFormat>
  <Paragraphs>764</Paragraphs>
  <Slides>84</Slides>
  <Notes>10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84</vt:i4>
      </vt:variant>
    </vt:vector>
  </HeadingPairs>
  <TitlesOfParts>
    <vt:vector size="97" baseType="lpstr">
      <vt:lpstr>Arial</vt:lpstr>
      <vt:lpstr>宋体</vt:lpstr>
      <vt:lpstr>Wingdings</vt:lpstr>
      <vt:lpstr>Calibri</vt:lpstr>
      <vt:lpstr>Times New Roman</vt:lpstr>
      <vt:lpstr>方正细谭黑简体</vt:lpstr>
      <vt:lpstr>微软雅黑 Light</vt:lpstr>
      <vt:lpstr>微软雅黑</vt:lpstr>
      <vt:lpstr>黑体</vt:lpstr>
      <vt:lpstr>Arial Unicode MS</vt:lpstr>
      <vt:lpstr>等线</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当前阶段成员打分</vt:lpstr>
      <vt:lpstr>PowerPoint 演示文稿</vt:lpstr>
    </vt:vector>
  </TitlesOfParts>
  <Company>第一PPT，www.1ppt.com</Company>
  <LinksUpToDate>false</LinksUpToDate>
  <SharedDoc>false</SharedDoc>
  <HyperlinksChanged>false</HyperlinksChanged>
  <AppVersion>14.0000</AppVersion>
  <Manager>第一PPT，www.1ppt.com</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淡雅蓝粉</dc:title>
  <dc:creator>第一PPT</dc:creator>
  <cp:keywords>www.1ppt.com</cp:keywords>
  <dc:description>www.1ppt.com</dc:description>
  <cp:lastModifiedBy>米娜拉</cp:lastModifiedBy>
  <cp:revision>857</cp:revision>
  <dcterms:created xsi:type="dcterms:W3CDTF">2019-06-21T02:16:00Z</dcterms:created>
  <dcterms:modified xsi:type="dcterms:W3CDTF">2020-12-20T13:20:46Z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