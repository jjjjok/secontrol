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572" r:id="rId3"/>
    <p:sldId id="606" r:id="rId4"/>
    <p:sldId id="647" r:id="rId5"/>
    <p:sldId id="899" r:id="rId6"/>
    <p:sldId id="922" r:id="rId8"/>
    <p:sldId id="923" r:id="rId9"/>
    <p:sldId id="951" r:id="rId10"/>
    <p:sldId id="936" r:id="rId11"/>
    <p:sldId id="937" r:id="rId12"/>
    <p:sldId id="901" r:id="rId13"/>
    <p:sldId id="910" r:id="rId14"/>
    <p:sldId id="911" r:id="rId15"/>
    <p:sldId id="912" r:id="rId16"/>
    <p:sldId id="895" r:id="rId17"/>
    <p:sldId id="896" r:id="rId18"/>
    <p:sldId id="897" r:id="rId19"/>
    <p:sldId id="898" r:id="rId20"/>
    <p:sldId id="900" r:id="rId21"/>
    <p:sldId id="884" r:id="rId22"/>
    <p:sldId id="862" r:id="rId23"/>
    <p:sldId id="620" r:id="rId2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yy" initials="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D1CF"/>
    <a:srgbClr val="7787A0"/>
    <a:srgbClr val="A0B0BF"/>
    <a:srgbClr val="C9D2E1"/>
    <a:srgbClr val="CACEC8"/>
    <a:srgbClr val="E7E9E6"/>
    <a:srgbClr val="E8CDC8"/>
    <a:srgbClr val="F7E9E0"/>
    <a:srgbClr val="FFFFFF"/>
    <a:srgbClr val="EFBA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12" autoAdjust="0"/>
    <p:restoredTop sz="93992" autoAdjust="0"/>
  </p:normalViewPr>
  <p:slideViewPr>
    <p:cSldViewPr snapToGrid="0" showGuides="1">
      <p:cViewPr>
        <p:scale>
          <a:sx n="66" d="100"/>
          <a:sy n="66" d="100"/>
        </p:scale>
        <p:origin x="-378" y="-1728"/>
      </p:cViewPr>
      <p:guideLst>
        <p:guide orient="horz" pos="3211"/>
        <p:guide pos="198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0DFCB8-7EF4-48C1-8984-7222E239D7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 userDrawn="1"/>
        </p:nvSpPr>
        <p:spPr>
          <a:xfrm>
            <a:off x="8304710" y="-357181"/>
            <a:ext cx="1678580" cy="1678580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7912656" y="4169092"/>
            <a:ext cx="1493964" cy="14939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/>
        </p:nvSpPr>
        <p:spPr>
          <a:xfrm>
            <a:off x="7447494" y="4482353"/>
            <a:ext cx="271986" cy="2719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 userDrawn="1"/>
        </p:nvSpPr>
        <p:spPr>
          <a:xfrm>
            <a:off x="8304710" y="-357181"/>
            <a:ext cx="1678580" cy="1678580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7912656" y="4169092"/>
            <a:ext cx="1493964" cy="14939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/>
        </p:nvSpPr>
        <p:spPr>
          <a:xfrm>
            <a:off x="7465500" y="4500359"/>
            <a:ext cx="253980" cy="253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009863" y="1344453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2831630" y="3106775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4656657" y="1344453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6475165" y="3106774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2" name="矩形 1"/>
          <p:cNvSpPr/>
          <p:nvPr userDrawn="1"/>
        </p:nvSpPr>
        <p:spPr>
          <a:xfrm>
            <a:off x="1009863" y="3107235"/>
            <a:ext cx="1678581" cy="1685051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2833260" y="1341448"/>
            <a:ext cx="1678581" cy="16850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4653397" y="3107235"/>
            <a:ext cx="1678581" cy="168505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6480055" y="1337983"/>
            <a:ext cx="1678581" cy="168505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7033456" y="4774682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Picture Placeholder 1"/>
          <p:cNvSpPr>
            <a:spLocks noGrp="1"/>
          </p:cNvSpPr>
          <p:nvPr>
            <p:ph type="pic" sz="quarter" idx="13" hasCustomPrompt="1"/>
          </p:nvPr>
        </p:nvSpPr>
        <p:spPr>
          <a:xfrm>
            <a:off x="108000" y="108000"/>
            <a:ext cx="8928900" cy="4545116"/>
          </a:xfrm>
          <a:solidFill>
            <a:schemeClr val="bg1">
              <a:lumMod val="95000"/>
            </a:schemeClr>
          </a:solidFill>
        </p:spPr>
        <p:txBody>
          <a:bodyPr lIns="0" tIns="180000" rIns="0" anchor="t"/>
          <a:lstStyle>
            <a:lvl1pPr marL="0" indent="0" algn="ctr">
              <a:buNone/>
              <a:defRPr sz="9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  <a:endParaRPr lang="en-US" noProof="0" dirty="0"/>
          </a:p>
        </p:txBody>
      </p:sp>
      <p:sp>
        <p:nvSpPr>
          <p:cNvPr id="1048619" name="Title 1"/>
          <p:cNvSpPr>
            <a:spLocks noGrp="1"/>
          </p:cNvSpPr>
          <p:nvPr>
            <p:ph type="ctrTitle" hasCustomPrompt="1"/>
          </p:nvPr>
        </p:nvSpPr>
        <p:spPr>
          <a:xfrm>
            <a:off x="4457700" y="1828799"/>
            <a:ext cx="4039200" cy="2283299"/>
          </a:xfrm>
          <a:gradFill>
            <a:gsLst>
              <a:gs pos="0">
                <a:schemeClr val="accent1">
                  <a:lumMod val="20000"/>
                  <a:lumOff val="80000"/>
                  <a:alpha val="50000"/>
                </a:schemeClr>
              </a:gs>
              <a:gs pos="46000">
                <a:schemeClr val="bg1">
                  <a:alpha val="90000"/>
                </a:schemeClr>
              </a:gs>
              <a:gs pos="83186">
                <a:schemeClr val="bg1"/>
              </a:gs>
            </a:gsLst>
            <a:lin ang="3600000" scaled="0"/>
          </a:gradFill>
        </p:spPr>
        <p:txBody>
          <a:bodyPr lIns="72000" tIns="180000" rIns="180000" bIns="0" anchor="t"/>
          <a:lstStyle>
            <a:lvl1pPr algn="r">
              <a:lnSpc>
                <a:spcPts val="4700"/>
              </a:lnSpc>
              <a:defRPr sz="3375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presentation title</a:t>
            </a:r>
            <a:endParaRPr lang="en-US" noProof="0"/>
          </a:p>
        </p:txBody>
      </p:sp>
      <p:sp>
        <p:nvSpPr>
          <p:cNvPr id="1048620" name="Subtitle 2"/>
          <p:cNvSpPr>
            <a:spLocks noGrp="1"/>
          </p:cNvSpPr>
          <p:nvPr>
            <p:ph type="subTitle" idx="1"/>
          </p:nvPr>
        </p:nvSpPr>
        <p:spPr>
          <a:xfrm>
            <a:off x="6186728" y="3359448"/>
            <a:ext cx="2138722" cy="562151"/>
          </a:xfrm>
          <a:solidFill>
            <a:schemeClr val="bg1">
              <a:alpha val="80000"/>
            </a:schemeClr>
          </a:solidFill>
          <a:ln w="3175"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</a:ln>
        </p:spPr>
        <p:txBody>
          <a:bodyPr tIns="144000" rIns="180000"/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0"/>
              <a:t>单击此处编辑母版副标题样式</a:t>
            </a:r>
            <a:endParaRPr lang="en-US" noProof="0"/>
          </a:p>
        </p:txBody>
      </p:sp>
      <p:sp>
        <p:nvSpPr>
          <p:cNvPr id="1048621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08000" y="4741799"/>
            <a:ext cx="3086100" cy="273844"/>
          </a:xfrm>
        </p:spPr>
        <p:txBody>
          <a:bodyPr/>
          <a:lstStyle/>
          <a:p>
            <a:r>
              <a:rPr lang="en-US" noProof="0" dirty="0"/>
              <a:t>Add a footer</a:t>
            </a:r>
            <a:endParaRPr lang="en-US" noProof="0" dirty="0"/>
          </a:p>
        </p:txBody>
      </p:sp>
      <p:sp>
        <p:nvSpPr>
          <p:cNvPr id="1048622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8758069" y="4741799"/>
            <a:ext cx="277931" cy="273844"/>
          </a:xfrm>
        </p:spPr>
        <p:txBody>
          <a:bodyPr/>
          <a:lstStyle/>
          <a:p>
            <a:fld id="{19B51A1E-902D-48AF-9020-955120F399B6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PA_矩形 7"/>
          <p:cNvSpPr/>
          <p:nvPr>
            <p:custDataLst>
              <p:tags r:id="rId1"/>
            </p:custDataLst>
          </p:nvPr>
        </p:nvSpPr>
        <p:spPr>
          <a:xfrm>
            <a:off x="1449070" y="829945"/>
            <a:ext cx="5961380" cy="1260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685800">
              <a:defRPr/>
            </a:pPr>
            <a:r>
              <a:rPr kumimoji="1" lang="en-US" sz="3600" b="1" kern="0">
                <a:solidFill>
                  <a:schemeClr val="accent3"/>
                </a:solidFill>
                <a:cs typeface="+mn-ea"/>
                <a:sym typeface="+mn-lt"/>
              </a:rPr>
              <a:t>SE2020-G19-</a:t>
            </a:r>
            <a:r>
              <a:rPr kumimoji="1" lang="zh-CN" altLang="en-US" sz="3600" b="1" kern="0">
                <a:solidFill>
                  <a:schemeClr val="accent3"/>
                </a:solidFill>
                <a:cs typeface="+mn-ea"/>
                <a:sym typeface="+mn-lt"/>
              </a:rPr>
              <a:t>实现</a:t>
            </a:r>
            <a:r>
              <a:rPr kumimoji="1" lang="en-US" altLang="zh-CN" sz="3600" b="1" kern="0">
                <a:solidFill>
                  <a:schemeClr val="accent3"/>
                </a:solidFill>
                <a:cs typeface="+mn-ea"/>
                <a:sym typeface="+mn-lt"/>
              </a:rPr>
              <a:t>+</a:t>
            </a:r>
            <a:r>
              <a:rPr kumimoji="1" lang="zh-CN" altLang="en-US" sz="3600" b="1" kern="0">
                <a:solidFill>
                  <a:schemeClr val="accent3"/>
                </a:solidFill>
                <a:cs typeface="+mn-ea"/>
                <a:sym typeface="+mn-lt"/>
              </a:rPr>
              <a:t>测试</a:t>
            </a: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     </a:t>
            </a:r>
            <a:endParaRPr lang="en-US" altLang="zh-CN" sz="200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lvl="0" algn="l" defTabSz="685800">
              <a:defRPr/>
            </a:pP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                  </a:t>
            </a:r>
            <a:endParaRPr lang="en-US" altLang="zh-CN" sz="200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lvl="0" algn="l" defTabSz="685800">
              <a:defRPr/>
            </a:pPr>
            <a:endParaRPr lang="zh-CN" altLang="en-US" sz="2000" kern="0" dirty="0">
              <a:solidFill>
                <a:schemeClr val="accent3"/>
              </a:solidFill>
              <a:latin typeface="方正细谭黑简体" panose="02000000000000000000" pitchFamily="2" charset="-122"/>
              <a:ea typeface="方正细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2624455" y="3194685"/>
            <a:ext cx="2385060" cy="11366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ym typeface="+mn-ea"/>
              </a:rPr>
              <a:t>SSE2020</a:t>
            </a:r>
            <a:r>
              <a:rPr lang="zh-CN" altLang="en-US" sz="1400" b="1" dirty="0" smtClean="0">
                <a:sym typeface="+mn-ea"/>
              </a:rPr>
              <a:t>秋</a:t>
            </a:r>
            <a:r>
              <a:rPr lang="en-US" altLang="zh-CN" sz="1400" b="1" dirty="0" smtClean="0">
                <a:sym typeface="+mn-ea"/>
              </a:rPr>
              <a:t>-G19</a:t>
            </a:r>
            <a:r>
              <a:rPr lang="zh-CN" altLang="en-US" sz="1400" b="1" dirty="0" smtClean="0">
                <a:sym typeface="+mn-ea"/>
              </a:rPr>
              <a:t>组</a:t>
            </a:r>
            <a:endParaRPr lang="zh-CN" altLang="en-US" sz="1400" b="1" dirty="0" smtClean="0">
              <a:sym typeface="+mn-ea"/>
            </a:endParaRPr>
          </a:p>
          <a:p>
            <a:pPr algn="ctr">
              <a:defRPr>
                <a:solidFill>
                  <a:srgbClr val="3F403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微软雅黑 Light" panose="020B0502040204020203" pitchFamily="34" charset="-122"/>
              </a:defRPr>
            </a:pPr>
            <a:r>
              <a:rPr lang="zh-CN" altLang="en-US" sz="1400" b="1" dirty="0" smtClean="0">
                <a:sym typeface="+mn-ea"/>
              </a:rPr>
              <a:t>组长：牛旷野</a:t>
            </a:r>
            <a:endParaRPr lang="en-US" altLang="zh-CN" sz="1400" b="1" dirty="0" smtClean="0"/>
          </a:p>
          <a:p>
            <a:pPr algn="ctr">
              <a:defRPr>
                <a:solidFill>
                  <a:srgbClr val="3F403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微软雅黑 Light" panose="020B0502040204020203" pitchFamily="34" charset="-122"/>
              </a:defRPr>
            </a:pPr>
            <a:r>
              <a:rPr lang="zh-CN" altLang="en-US" sz="1400" b="1" dirty="0" smtClean="0">
                <a:sym typeface="+mn-ea"/>
              </a:rPr>
              <a:t>组员：卢世逸、孟闻凯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5384087" y="1459209"/>
            <a:ext cx="1929877" cy="19298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933284" y="473990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620042" y="510019"/>
            <a:ext cx="1960880" cy="23069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实现阶段分工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初步完成的工作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会议纪要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甘特图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课程进度更新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评价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671327" y="1776232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lvl="0" defTabSz="685800">
              <a:defRPr sz="4400" b="1" kern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zh-CN" altLang="en-US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515836" y="2495913"/>
            <a:ext cx="1624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09600">
              <a:defRPr/>
            </a:pPr>
            <a:r>
              <a:rPr kumimoji="1" lang="en-US" altLang="zh-CN" sz="2000" b="1" kern="0">
                <a:solidFill>
                  <a:schemeClr val="bg1"/>
                </a:solidFill>
                <a:cs typeface="+mn-ea"/>
                <a:sym typeface="+mn-lt"/>
              </a:rPr>
              <a:t>CONTENTS</a:t>
            </a:r>
            <a:endParaRPr kumimoji="1" lang="zh-CN" altLang="en-US" sz="2000" b="1" kern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6169209" y="2990398"/>
            <a:ext cx="31741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3363179" y="2018999"/>
            <a:ext cx="35356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实现阶段分工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211705" y="2105660"/>
            <a:ext cx="7937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6100" y="2441575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实现阶段分工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869440" y="728980"/>
          <a:ext cx="5789930" cy="332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0595"/>
                <a:gridCol w="4839335"/>
              </a:tblGrid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Calibri" panose="020F0502020204030204" charset="0"/>
                          <a:cs typeface="Calibri" panose="020F0502020204030204" charset="0"/>
                        </a:rPr>
                        <a:t>姓名</a:t>
                      </a:r>
                      <a:endParaRPr lang="en-US" altLang="en-US" sz="16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任务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牛旷野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对前台商品板块进行实现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卢世逸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对用户主页板块进行实现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孟闻凯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后台管理</a:t>
                      </a: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板块进行实现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，并主要负责前端页面</a:t>
                      </a:r>
                      <a:endParaRPr lang="zh-CN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内部代码规范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428365" y="716280"/>
            <a:ext cx="4098925" cy="3711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内部代码规范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66060" y="414655"/>
            <a:ext cx="6157595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方法名、参数名、变量名统一使用驼峰命名法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2.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代码命名不能以下划线或者美元符号开头或者结尾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3.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不论是类名还是方法名，都需要让成员能够从名字能看出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是做什么的，而不至于看见名字而完全不知道其作用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4.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面向不同业务的方法应该放在对应的业务类中，不能随意在类中写方法。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5.Dao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层不应出现业务逻辑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6.Dao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层的方法在调用完毕后应主动关闭连接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7.Bean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中的类名应与表名保持一致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内部代码规范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73985" y="524510"/>
            <a:ext cx="6040755" cy="4030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8.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包名：全部使用小写，点分隔符之间有且仅有一个单词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9.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方法名获取单个对象使用get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10.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方法名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插入使用insert</a:t>
            </a:r>
            <a:endParaRPr lang="en-US" altLang="zh-CN" sz="1600">
              <a:solidFill>
                <a:schemeClr val="bg1">
                  <a:lumMod val="50000"/>
                </a:schemeClr>
              </a:solidFill>
            </a:endParaRPr>
          </a:p>
          <a:p>
            <a:endParaRPr lang="en-US" altLang="zh-CN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11.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方法名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删除使用delete</a:t>
            </a:r>
            <a:endParaRPr lang="en-US" altLang="zh-CN" sz="1600">
              <a:solidFill>
                <a:schemeClr val="bg1">
                  <a:lumMod val="50000"/>
                </a:schemeClr>
              </a:solidFill>
            </a:endParaRPr>
          </a:p>
          <a:p>
            <a:endParaRPr lang="en-US" altLang="zh-CN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12.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方法名修改使用update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13.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一行代码不能太长，控制在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30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个单词以内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14.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一个方法如果太长，需要在有明显区别的逻辑之间加上适当的空格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15.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每个方法前应加上适当的注释说明作用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代码清单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9980" y="422275"/>
            <a:ext cx="3794760" cy="4015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代码清单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7045" y="474980"/>
            <a:ext cx="3089275" cy="41014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6100" y="2441575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初步完成的工作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9755" y="270510"/>
            <a:ext cx="3730625" cy="26142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870" y="2861310"/>
            <a:ext cx="4823460" cy="1950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6100" y="2441575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初步完成的工作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6265" y="405130"/>
            <a:ext cx="3487420" cy="23691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265" y="2121535"/>
            <a:ext cx="7657465" cy="3423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6100" y="2441575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初步完成的工作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5810" y="770255"/>
            <a:ext cx="6794500" cy="35934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6100" y="2441575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初步完成的工作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1540" y="875030"/>
            <a:ext cx="5950585" cy="23037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978754" y="2187274"/>
            <a:ext cx="74472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会议记录，甘特图及进程更新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3107690" y="12071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cs typeface="+mn-ea"/>
                <a:sym typeface="+mn-lt"/>
              </a:rPr>
              <a:t>陆</a:t>
            </a:r>
            <a:endParaRPr lang="zh-CN" altLang="en-US" sz="20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2291080"/>
            <a:ext cx="1913890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会议记录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0035" y="1372870"/>
            <a:ext cx="3937000" cy="30676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70" y="327660"/>
            <a:ext cx="6797040" cy="9601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695" y="1413510"/>
            <a:ext cx="4090670" cy="28155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70" y="875030"/>
            <a:ext cx="6118860" cy="266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1720215"/>
            <a:ext cx="10280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甘特图</a:t>
            </a:r>
            <a:endParaRPr 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2525" y="500380"/>
            <a:ext cx="4153535" cy="4142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1720215"/>
            <a:ext cx="10280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甘特图</a:t>
            </a:r>
            <a:endParaRPr 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730" y="664845"/>
            <a:ext cx="7621270" cy="3361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2922270"/>
            <a:ext cx="22542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项目计划更新</a:t>
            </a:r>
            <a:endParaRPr lang="zh-CN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1140" y="495300"/>
            <a:ext cx="4885055" cy="4015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4485859" y="208567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绩效评价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045335" y="21723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cs typeface="+mn-ea"/>
                <a:sym typeface="+mn-lt"/>
              </a:rPr>
              <a:t>捌</a:t>
            </a:r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07100" y="108000"/>
            <a:ext cx="8518880" cy="4491629"/>
          </a:xfrm>
        </p:spPr>
        <p:txBody>
          <a:bodyPr/>
          <a:lstStyle/>
          <a:p>
            <a:pPr algn="l"/>
            <a:r>
              <a:rPr lang="zh-CN" altLang="en-US" sz="2700" dirty="0"/>
              <a:t>当前阶段成员打分</a:t>
            </a:r>
            <a:endParaRPr lang="zh-CN" altLang="en-US" sz="27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z="1350" noProof="0" smtClean="0"/>
            </a:fld>
            <a:endParaRPr lang="en-US" sz="1350" noProof="0" dirty="0"/>
          </a:p>
        </p:txBody>
      </p:sp>
      <p:graphicFrame>
        <p:nvGraphicFramePr>
          <p:cNvPr id="6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97180" y="881063"/>
          <a:ext cx="8332470" cy="3439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745"/>
                <a:gridCol w="3634740"/>
                <a:gridCol w="916940"/>
                <a:gridCol w="786765"/>
                <a:gridCol w="840740"/>
                <a:gridCol w="764540"/>
              </a:tblGrid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小组成员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分工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牛旷野打分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卢世逸打分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孟闻凯打分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得分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</a:tr>
              <a:tr h="13030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牛旷野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登录，注册，首页，分页模块初步编写，</a:t>
                      </a:r>
                      <a:r>
                        <a:rPr lang="en-US" altLang="zh-CN" sz="1015" dirty="0"/>
                        <a:t>ppt</a:t>
                      </a:r>
                      <a:r>
                        <a:rPr lang="zh-CN" altLang="en-US" sz="1015" dirty="0"/>
                        <a:t>制作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90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91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89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15" dirty="0"/>
                        <a:t>90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</a:tr>
              <a:tr h="99441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卢世逸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sz="1015" dirty="0"/>
                        <a:t>用户中心模块功能学习</a:t>
                      </a:r>
                      <a:endParaRPr lang="zh-CN" sz="1010" dirty="0">
                        <a:sym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85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84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86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15" dirty="0"/>
                        <a:t>85.1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孟闻凯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sz="1015" dirty="0"/>
                        <a:t>前端页面学习并编写</a:t>
                      </a:r>
                      <a:endParaRPr 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>
                          <a:ea typeface="宋体" panose="02010600030101010101" pitchFamily="2" charset="-122"/>
                        </a:rPr>
                        <a:t>86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87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85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15" dirty="0"/>
                        <a:t>86.1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286544" y="4599464"/>
            <a:ext cx="8160544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350"/>
              <a:t>打分规则：组长分数组成为：自评占0.4，组员评价占0.3，组员分数组成为：自评占0.2，组长评价占0.5，另一个组员评价占0.3.</a:t>
            </a:r>
            <a:endParaRPr lang="zh-CN" alt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PA_矩形 7"/>
          <p:cNvSpPr/>
          <p:nvPr>
            <p:custDataLst>
              <p:tags r:id="rId1"/>
            </p:custDataLst>
          </p:nvPr>
        </p:nvSpPr>
        <p:spPr>
          <a:xfrm>
            <a:off x="985104" y="1813170"/>
            <a:ext cx="503214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685800">
              <a:defRPr/>
            </a:pPr>
            <a:r>
              <a:rPr lang="zh-CN" altLang="en-US" sz="5400" kern="0" dirty="0">
                <a:solidFill>
                  <a:schemeClr val="accent3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感</a:t>
            </a:r>
            <a:r>
              <a:rPr lang="zh-CN" altLang="en-US" sz="5400" kern="0" dirty="0" smtClean="0">
                <a:solidFill>
                  <a:schemeClr val="accent3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谢各位观看！</a:t>
            </a:r>
            <a:endParaRPr lang="zh-CN" altLang="en-US" sz="5400" kern="0" dirty="0">
              <a:solidFill>
                <a:schemeClr val="accent3"/>
              </a:solidFill>
              <a:latin typeface="方正细谭黑简体" panose="02000000000000000000" pitchFamily="2" charset="-122"/>
              <a:ea typeface="方正细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PA" val="v4.1.3"/>
</p:tagLst>
</file>

<file path=ppt/tags/tag2.xml><?xml version="1.0" encoding="utf-8"?>
<p:tagLst xmlns:p="http://schemas.openxmlformats.org/presentationml/2006/main">
  <p:tag name="PA" val="v4.1.3"/>
</p:tagLst>
</file>

<file path=ppt/tags/tag3.xml><?xml version="1.0" encoding="utf-8"?>
<p:tagLst xmlns:p="http://schemas.openxmlformats.org/presentationml/2006/main">
  <p:tag name="KSO_WM_UNIT_TABLE_BEAUTIFY" val="smartTable{994fb577-a177-4e42-ab62-defd4d72ec3a}"/>
  <p:tag name="TABLE_ENDDRAG_ORIGIN_RECT" val="455*261"/>
  <p:tag name="TABLE_ENDDRAG_RECT" val="147*57*455*261"/>
</p:tagLst>
</file>

<file path=ppt/tags/tag4.xml><?xml version="1.0" encoding="utf-8"?>
<p:tagLst xmlns:p="http://schemas.openxmlformats.org/presentationml/2006/main">
  <p:tag name="KSO_WM_UNIT_PLACING_PICTURE_USER_VIEWPORT" val="{&quot;height&quot;:10956,&quot;width&quot;:8136}"/>
</p:tagLst>
</file>

<file path=ppt/tags/tag5.xml><?xml version="1.0" encoding="utf-8"?>
<p:tagLst xmlns:p="http://schemas.openxmlformats.org/presentationml/2006/main">
  <p:tag name="PA" val="v4.1.3"/>
</p:tagLst>
</file>

<file path=ppt/tags/tag6.xml><?xml version="1.0" encoding="utf-8"?>
<p:tagLst xmlns:p="http://schemas.openxmlformats.org/presentationml/2006/main">
  <p:tag name="PA" val="v4.1.3"/>
</p:tagLst>
</file>

<file path=ppt/tags/tag7.xml><?xml version="1.0" encoding="utf-8"?>
<p:tagLst xmlns:p="http://schemas.openxmlformats.org/presentationml/2006/main">
  <p:tag name="KSO_WM_UNIT_TABLE_BEAUTIFY" val="smartTable{ab41c473-45b7-48b2-b9f0-75195b46ce51}"/>
</p:tagLst>
</file>

<file path=ppt/tags/tag8.xml><?xml version="1.0" encoding="utf-8"?>
<p:tagLst xmlns:p="http://schemas.openxmlformats.org/presentationml/2006/main">
  <p:tag name="PA" val="v4.1.3"/>
</p:tagLst>
</file>

<file path=ppt/theme/theme1.xml><?xml version="1.0" encoding="utf-8"?>
<a:theme xmlns:a="http://schemas.openxmlformats.org/drawingml/2006/main" name="第一PPT，www.1ppt.com">
  <a:themeElements>
    <a:clrScheme name="12舒服配色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F7E9E0"/>
      </a:accent1>
      <a:accent2>
        <a:srgbClr val="F4D1CF"/>
      </a:accent2>
      <a:accent3>
        <a:srgbClr val="7787A0"/>
      </a:accent3>
      <a:accent4>
        <a:srgbClr val="A0B0BF"/>
      </a:accent4>
      <a:accent5>
        <a:srgbClr val="C9D2E1"/>
      </a:accent5>
      <a:accent6>
        <a:srgbClr val="70AD47"/>
      </a:accent6>
      <a:hlink>
        <a:srgbClr val="000000"/>
      </a:hlink>
      <a:folHlink>
        <a:srgbClr val="954F72"/>
      </a:folHlink>
    </a:clrScheme>
    <a:fontScheme name="dmo5hqlq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2314</Words>
  <Application>WPS 演示</Application>
  <PresentationFormat>全屏显示(16:9)</PresentationFormat>
  <Paragraphs>258</Paragraphs>
  <Slides>21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宋体</vt:lpstr>
      <vt:lpstr>Wingdings</vt:lpstr>
      <vt:lpstr>Calibri</vt:lpstr>
      <vt:lpstr>Times New Roman</vt:lpstr>
      <vt:lpstr>方正细谭黑简体</vt:lpstr>
      <vt:lpstr>微软雅黑 Light</vt:lpstr>
      <vt:lpstr>微软雅黑</vt:lpstr>
      <vt:lpstr>Calibri</vt:lpstr>
      <vt:lpstr>黑体</vt:lpstr>
      <vt:lpstr>Arial Unicode MS</vt:lpstr>
      <vt:lpstr>等线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当前阶段成员打分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第一PPT，www.1ppt.com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淡雅蓝粉</dc:title>
  <dc:creator>第一PPT</dc:creator>
  <cp:keywords>www.1ppt.com</cp:keywords>
  <dc:description>www.1ppt.com</dc:description>
  <cp:lastModifiedBy>米娜拉</cp:lastModifiedBy>
  <cp:revision>853</cp:revision>
  <dcterms:created xsi:type="dcterms:W3CDTF">2019-06-21T02:16:00Z</dcterms:created>
  <dcterms:modified xsi:type="dcterms:W3CDTF">2020-12-21T14:07:17Z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