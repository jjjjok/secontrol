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572" r:id="rId3"/>
    <p:sldId id="606" r:id="rId4"/>
    <p:sldId id="647" r:id="rId5"/>
    <p:sldId id="899" r:id="rId6"/>
    <p:sldId id="922" r:id="rId8"/>
    <p:sldId id="923" r:id="rId9"/>
    <p:sldId id="936" r:id="rId10"/>
    <p:sldId id="937" r:id="rId11"/>
    <p:sldId id="901" r:id="rId12"/>
    <p:sldId id="910" r:id="rId13"/>
    <p:sldId id="911" r:id="rId14"/>
    <p:sldId id="912" r:id="rId15"/>
    <p:sldId id="895" r:id="rId16"/>
    <p:sldId id="896" r:id="rId17"/>
    <p:sldId id="897" r:id="rId18"/>
    <p:sldId id="898" r:id="rId19"/>
    <p:sldId id="900" r:id="rId20"/>
    <p:sldId id="884" r:id="rId21"/>
    <p:sldId id="862" r:id="rId22"/>
    <p:sldId id="620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yy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1CF"/>
    <a:srgbClr val="7787A0"/>
    <a:srgbClr val="A0B0BF"/>
    <a:srgbClr val="C9D2E1"/>
    <a:srgbClr val="CACEC8"/>
    <a:srgbClr val="E7E9E6"/>
    <a:srgbClr val="E8CDC8"/>
    <a:srgbClr val="F7E9E0"/>
    <a:srgbClr val="FFFFFF"/>
    <a:srgbClr val="EF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3992" autoAdjust="0"/>
  </p:normalViewPr>
  <p:slideViewPr>
    <p:cSldViewPr snapToGrid="0" showGuides="1">
      <p:cViewPr>
        <p:scale>
          <a:sx n="66" d="100"/>
          <a:sy n="66" d="100"/>
        </p:scale>
        <p:origin x="-378" y="-1728"/>
      </p:cViewPr>
      <p:guideLst>
        <p:guide orient="horz" pos="3211"/>
        <p:guide pos="19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DFCB8-7EF4-48C1-8984-7222E239D7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47494" y="4482353"/>
            <a:ext cx="271986" cy="271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65500" y="4500359"/>
            <a:ext cx="253980" cy="253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09863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831630" y="3106775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56657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475165" y="3106774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1009863" y="3107235"/>
            <a:ext cx="1678581" cy="168505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2833260" y="1341448"/>
            <a:ext cx="1678581" cy="1685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4653397" y="3107235"/>
            <a:ext cx="1678581" cy="16850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480055" y="1337983"/>
            <a:ext cx="1678581" cy="16850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033456" y="477468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08000" y="108000"/>
            <a:ext cx="8928900" cy="4545116"/>
          </a:xfrm>
          <a:solidFill>
            <a:schemeClr val="bg1">
              <a:lumMod val="95000"/>
            </a:schemeClr>
          </a:solidFill>
        </p:spPr>
        <p:txBody>
          <a:bodyPr lIns="0" tIns="180000" rIns="0" anchor="t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  <a:endParaRPr lang="en-US" noProof="0" dirty="0"/>
          </a:p>
        </p:txBody>
      </p:sp>
      <p:sp>
        <p:nvSpPr>
          <p:cNvPr id="1048619" name="Title 1"/>
          <p:cNvSpPr>
            <a:spLocks noGrp="1"/>
          </p:cNvSpPr>
          <p:nvPr>
            <p:ph type="ctrTitle" hasCustomPrompt="1"/>
          </p:nvPr>
        </p:nvSpPr>
        <p:spPr>
          <a:xfrm>
            <a:off x="4457700" y="1828799"/>
            <a:ext cx="4039200" cy="2283299"/>
          </a:xfr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46000">
                <a:schemeClr val="bg1">
                  <a:alpha val="90000"/>
                </a:schemeClr>
              </a:gs>
              <a:gs pos="83186">
                <a:schemeClr val="bg1"/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3375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  <a:endParaRPr lang="en-US" noProof="0"/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6186728" y="3359448"/>
            <a:ext cx="2138722" cy="562151"/>
          </a:xfrm>
          <a:solidFill>
            <a:schemeClr val="bg1">
              <a:alpha val="80000"/>
            </a:schemeClr>
          </a:solidFill>
          <a:ln w="3175"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08000" y="4741799"/>
            <a:ext cx="3086100" cy="273844"/>
          </a:xfrm>
        </p:spPr>
        <p:txBody>
          <a:bodyPr/>
          <a:lstStyle/>
          <a:p>
            <a:r>
              <a:rPr lang="en-US" noProof="0" dirty="0"/>
              <a:t>Add a footer</a:t>
            </a:r>
            <a:endParaRPr lang="en-US" noProof="0" dirty="0"/>
          </a:p>
        </p:txBody>
      </p:sp>
      <p:sp>
        <p:nvSpPr>
          <p:cNvPr id="1048622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8758069" y="4741799"/>
            <a:ext cx="277931" cy="273844"/>
          </a:xfrm>
        </p:spPr>
        <p:txBody>
          <a:bodyPr/>
          <a:lstStyle/>
          <a:p>
            <a:fld id="{19B51A1E-902D-48AF-9020-955120F399B6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1449070" y="829945"/>
            <a:ext cx="5961380" cy="1260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kumimoji="1" lang="en-US" sz="3600" b="1" kern="0">
                <a:solidFill>
                  <a:schemeClr val="accent3"/>
                </a:solidFill>
                <a:cs typeface="+mn-ea"/>
                <a:sym typeface="+mn-lt"/>
              </a:rPr>
              <a:t>SE2020-G19-</a:t>
            </a: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实现</a:t>
            </a:r>
            <a:r>
              <a:rPr kumimoji="1" lang="en-US" altLang="zh-CN" sz="3600" b="1" kern="0">
                <a:solidFill>
                  <a:schemeClr val="accent3"/>
                </a:solidFill>
                <a:cs typeface="+mn-ea"/>
                <a:sym typeface="+mn-lt"/>
              </a:rPr>
              <a:t>+</a:t>
            </a: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测试</a:t>
            </a: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     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zh-CN" altLang="en-US" sz="20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624455" y="3194685"/>
            <a:ext cx="2385060" cy="11366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ym typeface="+mn-ea"/>
              </a:rPr>
              <a:t>SSE2020</a:t>
            </a:r>
            <a:r>
              <a:rPr lang="zh-CN" altLang="en-US" sz="1400" b="1" dirty="0" smtClean="0">
                <a:sym typeface="+mn-ea"/>
              </a:rPr>
              <a:t>秋</a:t>
            </a:r>
            <a:r>
              <a:rPr lang="en-US" altLang="zh-CN" sz="1400" b="1" dirty="0" smtClean="0">
                <a:sym typeface="+mn-ea"/>
              </a:rPr>
              <a:t>-G19</a:t>
            </a:r>
            <a:r>
              <a:rPr lang="zh-CN" altLang="en-US" sz="1400" b="1" dirty="0" smtClean="0">
                <a:sym typeface="+mn-ea"/>
              </a:rPr>
              <a:t>组</a:t>
            </a:r>
            <a:endParaRPr lang="zh-CN" altLang="en-US" sz="1400" b="1" dirty="0" smtClean="0">
              <a:sym typeface="+mn-ea"/>
            </a:endParaRPr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组长：牛旷野</a:t>
            </a:r>
            <a:endParaRPr lang="en-US" altLang="zh-CN" sz="1400" b="1" dirty="0" smtClean="0"/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组员：卢世逸、孟闻凯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384087" y="1459209"/>
            <a:ext cx="1929877" cy="19298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933284" y="473990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20042" y="510019"/>
            <a:ext cx="196088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初步完成的工作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会议纪要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甘特图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课程进度更新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评价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71327" y="1776232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lvl="0" defTabSz="685800">
              <a:defRPr sz="4400" b="1" ker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15836" y="2495913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09600">
              <a:defRPr/>
            </a:pPr>
            <a:r>
              <a:rPr kumimoji="1" lang="en-US" altLang="zh-CN" sz="2000" b="1" kern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kumimoji="1" lang="zh-CN" altLang="en-US" sz="2000" b="1" kern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69209" y="2990398"/>
            <a:ext cx="3174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实现阶段分工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69440" y="728980"/>
          <a:ext cx="5789930" cy="332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4839335"/>
              </a:tblGrid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Calibri" panose="020F0502020204030204" charset="0"/>
                          <a:cs typeface="Calibri" panose="020F0502020204030204" charset="0"/>
                        </a:rPr>
                        <a:t>姓名</a:t>
                      </a:r>
                      <a:endParaRPr lang="en-US" altLang="en-US" sz="16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牛旷野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对前台商品板块进行实现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卢世逸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对用户主页板块进行实现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孟闻凯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后台管理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板块进行实现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，并主要负责前端页面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28365" y="716280"/>
            <a:ext cx="4098925" cy="371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15185" y="488950"/>
            <a:ext cx="615759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方法名、参数名、变量名统一使用驼峰命名法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代码命名不能以下划线或者美元符号开头或者结尾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不论是类名还是方法名，都需要让成员能够从名字能看出</a:t>
            </a:r>
            <a:endParaRPr lang="zh-CN" altLang="en-US"/>
          </a:p>
          <a:p>
            <a:r>
              <a:rPr lang="zh-CN" altLang="en-US"/>
              <a:t>是做什么的，而不至于看见名字而完全不知道其作用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面向不同业务的方法应该放在对应的业务类中，不能随意在类中写方法。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5.Dao</a:t>
            </a:r>
            <a:r>
              <a:rPr lang="zh-CN" altLang="en-US"/>
              <a:t>层不应出现业务逻辑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6.Dao</a:t>
            </a:r>
            <a:r>
              <a:rPr lang="zh-CN" altLang="en-US"/>
              <a:t>层的方法在调用完毕后应主动关闭连接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7.Bean</a:t>
            </a:r>
            <a:r>
              <a:rPr lang="zh-CN" altLang="en-US"/>
              <a:t>中的类名应与表名保持一致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代码清单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980" y="422275"/>
            <a:ext cx="3794760" cy="4015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代码清单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7045" y="474980"/>
            <a:ext cx="3089275" cy="4101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初步完成的工作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755" y="270510"/>
            <a:ext cx="3730625" cy="26142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70" y="2861310"/>
            <a:ext cx="4823460" cy="195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初步完成的工作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265" y="405130"/>
            <a:ext cx="3487420" cy="23691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265" y="2121535"/>
            <a:ext cx="7657465" cy="3423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初步完成的工作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810" y="770255"/>
            <a:ext cx="6794500" cy="3593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初步完成的工作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540" y="875030"/>
            <a:ext cx="5950585" cy="2303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978754" y="2187274"/>
            <a:ext cx="7447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会议记录，甘特图及进程更新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0769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陆</a:t>
            </a:r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2291080"/>
            <a:ext cx="19138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会议记录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035" y="1372870"/>
            <a:ext cx="3937000" cy="3067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70" y="327660"/>
            <a:ext cx="6797040" cy="960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695" y="1413510"/>
            <a:ext cx="4090670" cy="28155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70" y="875030"/>
            <a:ext cx="6118860" cy="26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525" y="500380"/>
            <a:ext cx="4153535" cy="4142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664845"/>
            <a:ext cx="7621270" cy="3361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项目计划更新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140" y="495300"/>
            <a:ext cx="4885055" cy="4015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捌</a:t>
            </a:r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07100" y="108000"/>
            <a:ext cx="8518880" cy="4491629"/>
          </a:xfrm>
        </p:spPr>
        <p:txBody>
          <a:bodyPr/>
          <a:lstStyle/>
          <a:p>
            <a:pPr algn="l"/>
            <a:r>
              <a:rPr lang="zh-CN" altLang="en-US" sz="2700" dirty="0"/>
              <a:t>当前阶段成员打分</a:t>
            </a:r>
            <a:endParaRPr lang="zh-CN" altLang="en-US" sz="27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z="1350" noProof="0" smtClean="0"/>
            </a:fld>
            <a:endParaRPr lang="en-US" sz="1350" noProof="0" dirty="0"/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7180" y="881063"/>
          <a:ext cx="8332470" cy="3439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745"/>
                <a:gridCol w="3634740"/>
                <a:gridCol w="916940"/>
                <a:gridCol w="786765"/>
                <a:gridCol w="840740"/>
                <a:gridCol w="764540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小组成员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分工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牛旷野打分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卢世逸打分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孟闻凯打分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得分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  <a:tr h="13030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牛旷野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登录，注册，首页，分页模块初步编写，</a:t>
                      </a:r>
                      <a:r>
                        <a:rPr lang="en-US" altLang="zh-CN" sz="1015" dirty="0"/>
                        <a:t>ppt</a:t>
                      </a:r>
                      <a:r>
                        <a:rPr lang="zh-CN" altLang="en-US" sz="1015" dirty="0"/>
                        <a:t>制作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89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90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9944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卢世逸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用户中心模块功能学习</a:t>
                      </a:r>
                      <a:endParaRPr lang="zh-CN" sz="1010" dirty="0"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85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84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85.1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孟闻凯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前端页面学习并编写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>
                          <a:ea typeface="宋体" panose="02010600030101010101" pitchFamily="2" charset="-122"/>
                        </a:rPr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87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85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86.1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6544" y="4599464"/>
            <a:ext cx="816054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50"/>
              <a:t>打分规则：组长分数组成为：自评占0.4，组员评价占0.3，组员分数组成为：自评占0.2，组长评价占0.5，另一个组员评价占0.3.</a:t>
            </a:r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985104" y="1813170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defRPr/>
            </a:pPr>
            <a:r>
              <a:rPr lang="zh-CN" altLang="en-US" sz="5400" kern="0" dirty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感</a:t>
            </a:r>
            <a:r>
              <a:rPr lang="zh-CN" altLang="en-US" sz="5400" kern="0" dirty="0" smtClean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谢各位观看！</a:t>
            </a:r>
            <a:endParaRPr lang="zh-CN" altLang="en-US" sz="54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KSO_WM_UNIT_TABLE_BEAUTIFY" val="smartTable{994fb577-a177-4e42-ab62-defd4d72ec3a}"/>
  <p:tag name="TABLE_ENDDRAG_ORIGIN_RECT" val="455*261"/>
  <p:tag name="TABLE_ENDDRAG_RECT" val="147*57*455*261"/>
</p:tagLst>
</file>

<file path=ppt/tags/tag4.xml><?xml version="1.0" encoding="utf-8"?>
<p:tagLst xmlns:p="http://schemas.openxmlformats.org/presentationml/2006/main">
  <p:tag name="KSO_WM_UNIT_PLACING_PICTURE_USER_VIEWPORT" val="{&quot;height&quot;:10956,&quot;width&quot;:8136}"/>
</p:tagLst>
</file>

<file path=ppt/tags/tag5.xml><?xml version="1.0" encoding="utf-8"?>
<p:tagLst xmlns:p="http://schemas.openxmlformats.org/presentationml/2006/main">
  <p:tag name="PA" val="v4.1.3"/>
</p:tagLst>
</file>

<file path=ppt/tags/tag6.xml><?xml version="1.0" encoding="utf-8"?>
<p:tagLst xmlns:p="http://schemas.openxmlformats.org/presentationml/2006/main">
  <p:tag name="PA" val="v4.1.3"/>
</p:tagLst>
</file>

<file path=ppt/tags/tag7.xml><?xml version="1.0" encoding="utf-8"?>
<p:tagLst xmlns:p="http://schemas.openxmlformats.org/presentationml/2006/main">
  <p:tag name="KSO_WM_UNIT_TABLE_BEAUTIFY" val="smartTable{ab41c473-45b7-48b2-b9f0-75195b46ce51}"/>
</p:tagLst>
</file>

<file path=ppt/tags/tag8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12舒服配色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F7E9E0"/>
      </a:accent1>
      <a:accent2>
        <a:srgbClr val="F4D1CF"/>
      </a:accent2>
      <a:accent3>
        <a:srgbClr val="7787A0"/>
      </a:accent3>
      <a:accent4>
        <a:srgbClr val="A0B0BF"/>
      </a:accent4>
      <a:accent5>
        <a:srgbClr val="C9D2E1"/>
      </a:accent5>
      <a:accent6>
        <a:srgbClr val="70AD47"/>
      </a:accent6>
      <a:hlink>
        <a:srgbClr val="000000"/>
      </a:hlink>
      <a:folHlink>
        <a:srgbClr val="954F72"/>
      </a:folHlink>
    </a:clrScheme>
    <a:fontScheme name="dmo5hqlq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2042</Words>
  <Application>WPS 演示</Application>
  <PresentationFormat>全屏显示(16:9)</PresentationFormat>
  <Paragraphs>234</Paragraphs>
  <Slides>20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Times New Roman</vt:lpstr>
      <vt:lpstr>方正细谭黑简体</vt:lpstr>
      <vt:lpstr>微软雅黑 Light</vt:lpstr>
      <vt:lpstr>微软雅黑</vt:lpstr>
      <vt:lpstr>Calibri</vt:lpstr>
      <vt:lpstr>黑体</vt:lpstr>
      <vt:lpstr>Arial Unicode MS</vt:lpstr>
      <vt:lpstr>等线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当前阶段成员打分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第一PPT，www.1ppt.com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淡雅蓝粉</dc:title>
  <dc:creator>第一PPT</dc:creator>
  <cp:keywords>www.1ppt.com</cp:keywords>
  <dc:description>www.1ppt.com</dc:description>
  <cp:lastModifiedBy>米娜拉</cp:lastModifiedBy>
  <cp:revision>852</cp:revision>
  <dcterms:created xsi:type="dcterms:W3CDTF">2019-06-21T02:16:00Z</dcterms:created>
  <dcterms:modified xsi:type="dcterms:W3CDTF">2020-12-20T07:48:06Z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